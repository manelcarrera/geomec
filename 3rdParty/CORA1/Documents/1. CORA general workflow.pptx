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366" r:id="rId3"/>
    <p:sldId id="369" r:id="rId4"/>
    <p:sldId id="376" r:id="rId5"/>
    <p:sldId id="370" r:id="rId6"/>
    <p:sldId id="372" r:id="rId7"/>
    <p:sldId id="355" r:id="rId8"/>
    <p:sldId id="360" r:id="rId9"/>
    <p:sldId id="363" r:id="rId10"/>
    <p:sldId id="383" r:id="rId11"/>
    <p:sldId id="381" r:id="rId12"/>
    <p:sldId id="368" r:id="rId13"/>
    <p:sldId id="364" r:id="rId14"/>
    <p:sldId id="367" r:id="rId15"/>
    <p:sldId id="382" r:id="rId16"/>
    <p:sldId id="380" r:id="rId17"/>
    <p:sldId id="379" r:id="rId18"/>
    <p:sldId id="378" r:id="rId19"/>
    <p:sldId id="375" r:id="rId20"/>
    <p:sldId id="373" r:id="rId21"/>
    <p:sldId id="374" r:id="rId22"/>
    <p:sldId id="354" r:id="rId23"/>
  </p:sldIdLst>
  <p:sldSz cx="9144000" cy="6858000" type="screen4x3"/>
  <p:notesSz cx="6797675" cy="9926638"/>
  <p:embeddedFontLst>
    <p:embeddedFont>
      <p:font typeface="Futura Medium" panose="00000400000000000000" pitchFamily="2" charset="0"/>
      <p:regular r:id="rId26"/>
      <p:bold r:id="rId27"/>
      <p:italic r:id="rId28"/>
      <p:boldItalic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Futura Light" panose="00000400000000000000" pitchFamily="2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9DB"/>
    <a:srgbClr val="99CDB7"/>
    <a:srgbClr val="66B492"/>
    <a:srgbClr val="339B6E"/>
    <a:srgbClr val="DFD1DE"/>
    <a:srgbClr val="C0A2BD"/>
    <a:srgbClr val="A0749B"/>
    <a:srgbClr val="81457A"/>
    <a:srgbClr val="CCD7E6"/>
    <a:srgbClr val="99A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262" autoAdjust="0"/>
    <p:restoredTop sz="95994" autoAdjust="0"/>
  </p:normalViewPr>
  <p:slideViewPr>
    <p:cSldViewPr snapToGrid="0" showGuides="1">
      <p:cViewPr>
        <p:scale>
          <a:sx n="100" d="100"/>
          <a:sy n="100" d="100"/>
        </p:scale>
        <p:origin x="-2676" y="-468"/>
      </p:cViewPr>
      <p:guideLst>
        <p:guide orient="horz" pos="4144"/>
        <p:guide orient="horz" pos="149"/>
        <p:guide orient="horz" pos="831"/>
        <p:guide orient="horz" pos="465"/>
        <p:guide orient="horz" pos="4021"/>
        <p:guide orient="horz" pos="2095"/>
        <p:guide orient="horz" pos="1787"/>
        <p:guide pos="574"/>
        <p:guide pos="5466"/>
        <p:guide pos="2930"/>
        <p:guide pos="300"/>
        <p:guide pos="31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3" d="100"/>
        <a:sy n="53" d="100"/>
      </p:scale>
      <p:origin x="0" y="0"/>
    </p:cViewPr>
  </p:sorterViewPr>
  <p:notesViewPr>
    <p:cSldViewPr snapToGrid="0" showGuides="1">
      <p:cViewPr varScale="1">
        <p:scale>
          <a:sx n="52" d="100"/>
          <a:sy n="52" d="100"/>
        </p:scale>
        <p:origin x="-2640" y="-11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7D24E7-E3AA-4B11-9E74-A7BCB846A003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0BB958C-4607-4A69-B26D-DFC0A51CA62E}">
      <dgm:prSet phldrT="[Text]"/>
      <dgm:spPr/>
      <dgm:t>
        <a:bodyPr/>
        <a:lstStyle/>
        <a:p>
          <a:r>
            <a:rPr lang="en-US" dirty="0" smtClean="0">
              <a:solidFill>
                <a:schemeClr val="accent3">
                  <a:lumMod val="75000"/>
                </a:schemeClr>
              </a:solidFill>
            </a:rPr>
            <a:t>Model &amp; Case definition</a:t>
          </a:r>
          <a:endParaRPr lang="en-GB" dirty="0">
            <a:solidFill>
              <a:schemeClr val="accent3">
                <a:lumMod val="75000"/>
              </a:schemeClr>
            </a:solidFill>
          </a:endParaRPr>
        </a:p>
      </dgm:t>
    </dgm:pt>
    <dgm:pt modelId="{4594170E-0D18-48B8-AAD6-FCBF7EE8B039}" type="parTrans" cxnId="{42D8572C-7863-4ECD-B8F5-5D30A3EDA755}">
      <dgm:prSet/>
      <dgm:spPr/>
      <dgm:t>
        <a:bodyPr/>
        <a:lstStyle/>
        <a:p>
          <a:endParaRPr lang="en-GB"/>
        </a:p>
      </dgm:t>
    </dgm:pt>
    <dgm:pt modelId="{D7025637-59C9-4C1E-BF1C-9D4621B2FE25}" type="sibTrans" cxnId="{42D8572C-7863-4ECD-B8F5-5D30A3EDA755}">
      <dgm:prSet/>
      <dgm:spPr/>
      <dgm:t>
        <a:bodyPr/>
        <a:lstStyle/>
        <a:p>
          <a:endParaRPr lang="en-GB"/>
        </a:p>
      </dgm:t>
    </dgm:pt>
    <dgm:pt modelId="{14BAF107-0392-4842-B4CB-0C85D6876159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 smtClean="0">
              <a:solidFill>
                <a:schemeClr val="accent3">
                  <a:lumMod val="75000"/>
                </a:schemeClr>
              </a:solidFill>
            </a:rPr>
            <a:t>Build &amp; Run Proxy</a:t>
          </a:r>
          <a:endParaRPr lang="en-GB" dirty="0">
            <a:solidFill>
              <a:schemeClr val="accent3">
                <a:lumMod val="75000"/>
              </a:schemeClr>
            </a:solidFill>
          </a:endParaRPr>
        </a:p>
      </dgm:t>
    </dgm:pt>
    <dgm:pt modelId="{6BF620E2-B727-4272-8C97-25E6E14D914A}" type="parTrans" cxnId="{145640A0-758E-4019-B292-15C719DD9E5B}">
      <dgm:prSet/>
      <dgm:spPr/>
      <dgm:t>
        <a:bodyPr/>
        <a:lstStyle/>
        <a:p>
          <a:endParaRPr lang="en-GB"/>
        </a:p>
      </dgm:t>
    </dgm:pt>
    <dgm:pt modelId="{D288FA23-9170-4A38-B7FC-9CB3FFAF7E20}" type="sibTrans" cxnId="{145640A0-758E-4019-B292-15C719DD9E5B}">
      <dgm:prSet/>
      <dgm:spPr/>
      <dgm:t>
        <a:bodyPr/>
        <a:lstStyle/>
        <a:p>
          <a:endParaRPr lang="en-GB"/>
        </a:p>
      </dgm:t>
    </dgm:pt>
    <dgm:pt modelId="{500A0D5D-ED80-42C2-95DA-858F0A301A27}">
      <dgm:prSet phldrT="[Text]"/>
      <dgm:spPr/>
      <dgm:t>
        <a:bodyPr/>
        <a:lstStyle/>
        <a:p>
          <a:r>
            <a:rPr lang="en-US" dirty="0" smtClean="0">
              <a:solidFill>
                <a:schemeClr val="accent3">
                  <a:lumMod val="75000"/>
                </a:schemeClr>
              </a:solidFill>
            </a:rPr>
            <a:t>Quick screening</a:t>
          </a:r>
          <a:endParaRPr lang="en-GB" dirty="0">
            <a:solidFill>
              <a:schemeClr val="accent3">
                <a:lumMod val="75000"/>
              </a:schemeClr>
            </a:solidFill>
          </a:endParaRPr>
        </a:p>
      </dgm:t>
    </dgm:pt>
    <dgm:pt modelId="{974C8A4C-E9A3-4831-8986-B2001CC1932B}" type="parTrans" cxnId="{70D3D6E5-C18A-41BD-87F3-87807398C19E}">
      <dgm:prSet/>
      <dgm:spPr/>
      <dgm:t>
        <a:bodyPr/>
        <a:lstStyle/>
        <a:p>
          <a:endParaRPr lang="en-GB"/>
        </a:p>
      </dgm:t>
    </dgm:pt>
    <dgm:pt modelId="{544A31B0-F812-4EB3-839C-64A2E5083F18}" type="sibTrans" cxnId="{70D3D6E5-C18A-41BD-87F3-87807398C19E}">
      <dgm:prSet/>
      <dgm:spPr/>
      <dgm:t>
        <a:bodyPr/>
        <a:lstStyle/>
        <a:p>
          <a:endParaRPr lang="en-GB"/>
        </a:p>
      </dgm:t>
    </dgm:pt>
    <dgm:pt modelId="{5ACFBDC9-6FFD-4414-BDF1-893AA67D40A9}">
      <dgm:prSet phldrT="[Text]"/>
      <dgm:spPr/>
      <dgm:t>
        <a:bodyPr/>
        <a:lstStyle/>
        <a:p>
          <a:r>
            <a:rPr lang="en-US" dirty="0" smtClean="0">
              <a:solidFill>
                <a:schemeClr val="accent3">
                  <a:lumMod val="75000"/>
                </a:schemeClr>
              </a:solidFill>
            </a:rPr>
            <a:t>Reliability calculation</a:t>
          </a:r>
          <a:endParaRPr lang="en-GB" dirty="0">
            <a:solidFill>
              <a:schemeClr val="accent3">
                <a:lumMod val="75000"/>
              </a:schemeClr>
            </a:solidFill>
          </a:endParaRPr>
        </a:p>
      </dgm:t>
    </dgm:pt>
    <dgm:pt modelId="{F8599A58-BD3D-406A-A384-48EF024F13E9}" type="parTrans" cxnId="{F0F2BAE8-EDE4-40B4-AE33-0A0610107D52}">
      <dgm:prSet/>
      <dgm:spPr/>
      <dgm:t>
        <a:bodyPr/>
        <a:lstStyle/>
        <a:p>
          <a:endParaRPr lang="en-GB"/>
        </a:p>
      </dgm:t>
    </dgm:pt>
    <dgm:pt modelId="{53EC5AD8-2758-4998-8B35-AC6251CE37D8}" type="sibTrans" cxnId="{F0F2BAE8-EDE4-40B4-AE33-0A0610107D52}">
      <dgm:prSet/>
      <dgm:spPr/>
      <dgm:t>
        <a:bodyPr/>
        <a:lstStyle/>
        <a:p>
          <a:endParaRPr lang="en-GB"/>
        </a:p>
      </dgm:t>
    </dgm:pt>
    <dgm:pt modelId="{9BC8145D-074F-4093-B7CE-D490CE3604DA}">
      <dgm:prSet phldrT="[Text]"/>
      <dgm:spPr/>
      <dgm:t>
        <a:bodyPr/>
        <a:lstStyle/>
        <a:p>
          <a:r>
            <a:rPr lang="en-US" dirty="0" smtClean="0">
              <a:solidFill>
                <a:schemeClr val="accent3">
                  <a:lumMod val="75000"/>
                </a:schemeClr>
              </a:solidFill>
            </a:rPr>
            <a:t>Reliability evaluation</a:t>
          </a:r>
          <a:endParaRPr lang="en-GB" dirty="0">
            <a:solidFill>
              <a:schemeClr val="accent3">
                <a:lumMod val="75000"/>
              </a:schemeClr>
            </a:solidFill>
          </a:endParaRPr>
        </a:p>
      </dgm:t>
    </dgm:pt>
    <dgm:pt modelId="{1F8CCAAD-306B-4145-972D-30C2DDD07A53}" type="parTrans" cxnId="{7FDBB2B0-F613-40EF-A3CD-44A29014179F}">
      <dgm:prSet/>
      <dgm:spPr/>
      <dgm:t>
        <a:bodyPr/>
        <a:lstStyle/>
        <a:p>
          <a:endParaRPr lang="en-US"/>
        </a:p>
      </dgm:t>
    </dgm:pt>
    <dgm:pt modelId="{65CBE72B-E232-4E73-A7E3-59B3E8F5AB4E}" type="sibTrans" cxnId="{7FDBB2B0-F613-40EF-A3CD-44A29014179F}">
      <dgm:prSet/>
      <dgm:spPr/>
      <dgm:t>
        <a:bodyPr/>
        <a:lstStyle/>
        <a:p>
          <a:endParaRPr lang="en-US"/>
        </a:p>
      </dgm:t>
    </dgm:pt>
    <dgm:pt modelId="{33B98D18-5672-4012-89A8-0203D97C169A}" type="pres">
      <dgm:prSet presAssocID="{F47D24E7-E3AA-4B11-9E74-A7BCB846A00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D361DFE8-50B7-4A56-B42F-1B9D5429E128}" type="pres">
      <dgm:prSet presAssocID="{A0BB958C-4607-4A69-B26D-DFC0A51CA62E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18A9707-B2DB-4B9A-B1F4-43A2396C6FD3}" type="pres">
      <dgm:prSet presAssocID="{D7025637-59C9-4C1E-BF1C-9D4621B2FE25}" presName="parTxOnlySpace" presStyleCnt="0"/>
      <dgm:spPr/>
    </dgm:pt>
    <dgm:pt modelId="{BCAFFD28-2415-4E92-94F3-830225453872}" type="pres">
      <dgm:prSet presAssocID="{14BAF107-0392-4842-B4CB-0C85D6876159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CD1565E-9F4E-4E25-B354-D1FEDD625C2D}" type="pres">
      <dgm:prSet presAssocID="{D288FA23-9170-4A38-B7FC-9CB3FFAF7E20}" presName="parTxOnlySpace" presStyleCnt="0"/>
      <dgm:spPr/>
    </dgm:pt>
    <dgm:pt modelId="{D79F14C1-7842-4D91-A63F-1E3DA9DF8508}" type="pres">
      <dgm:prSet presAssocID="{500A0D5D-ED80-42C2-95DA-858F0A301A27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D5A531B-2B0F-49A8-B800-E387A87921F3}" type="pres">
      <dgm:prSet presAssocID="{544A31B0-F812-4EB3-839C-64A2E5083F18}" presName="parTxOnlySpace" presStyleCnt="0"/>
      <dgm:spPr/>
    </dgm:pt>
    <dgm:pt modelId="{B68B1973-4071-4FAC-98A2-6787C1DA03DF}" type="pres">
      <dgm:prSet presAssocID="{5ACFBDC9-6FFD-4414-BDF1-893AA67D40A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6D88603-BFF4-4B9C-A599-FFE2E4033F63}" type="pres">
      <dgm:prSet presAssocID="{53EC5AD8-2758-4998-8B35-AC6251CE37D8}" presName="parTxOnlySpace" presStyleCnt="0"/>
      <dgm:spPr/>
    </dgm:pt>
    <dgm:pt modelId="{53DDF5FA-CB03-4925-B90C-C93EE2D2E5EC}" type="pres">
      <dgm:prSet presAssocID="{9BC8145D-074F-4093-B7CE-D490CE3604DA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0F2BAE8-EDE4-40B4-AE33-0A0610107D52}" srcId="{F47D24E7-E3AA-4B11-9E74-A7BCB846A003}" destId="{5ACFBDC9-6FFD-4414-BDF1-893AA67D40A9}" srcOrd="3" destOrd="0" parTransId="{F8599A58-BD3D-406A-A384-48EF024F13E9}" sibTransId="{53EC5AD8-2758-4998-8B35-AC6251CE37D8}"/>
    <dgm:cxn modelId="{BE0F9E9B-0009-4E5F-811A-1C2256539E05}" type="presOf" srcId="{A0BB958C-4607-4A69-B26D-DFC0A51CA62E}" destId="{D361DFE8-50B7-4A56-B42F-1B9D5429E128}" srcOrd="0" destOrd="0" presId="urn:microsoft.com/office/officeart/2005/8/layout/chevron1"/>
    <dgm:cxn modelId="{8B2A8E83-B186-43E8-AD6D-53A5EFFF0665}" type="presOf" srcId="{14BAF107-0392-4842-B4CB-0C85D6876159}" destId="{BCAFFD28-2415-4E92-94F3-830225453872}" srcOrd="0" destOrd="0" presId="urn:microsoft.com/office/officeart/2005/8/layout/chevron1"/>
    <dgm:cxn modelId="{4D24061D-B3CC-491A-83B8-E4D1EED5217A}" type="presOf" srcId="{9BC8145D-074F-4093-B7CE-D490CE3604DA}" destId="{53DDF5FA-CB03-4925-B90C-C93EE2D2E5EC}" srcOrd="0" destOrd="0" presId="urn:microsoft.com/office/officeart/2005/8/layout/chevron1"/>
    <dgm:cxn modelId="{70D3D6E5-C18A-41BD-87F3-87807398C19E}" srcId="{F47D24E7-E3AA-4B11-9E74-A7BCB846A003}" destId="{500A0D5D-ED80-42C2-95DA-858F0A301A27}" srcOrd="2" destOrd="0" parTransId="{974C8A4C-E9A3-4831-8986-B2001CC1932B}" sibTransId="{544A31B0-F812-4EB3-839C-64A2E5083F18}"/>
    <dgm:cxn modelId="{42D8572C-7863-4ECD-B8F5-5D30A3EDA755}" srcId="{F47D24E7-E3AA-4B11-9E74-A7BCB846A003}" destId="{A0BB958C-4607-4A69-B26D-DFC0A51CA62E}" srcOrd="0" destOrd="0" parTransId="{4594170E-0D18-48B8-AAD6-FCBF7EE8B039}" sibTransId="{D7025637-59C9-4C1E-BF1C-9D4621B2FE25}"/>
    <dgm:cxn modelId="{145640A0-758E-4019-B292-15C719DD9E5B}" srcId="{F47D24E7-E3AA-4B11-9E74-A7BCB846A003}" destId="{14BAF107-0392-4842-B4CB-0C85D6876159}" srcOrd="1" destOrd="0" parTransId="{6BF620E2-B727-4272-8C97-25E6E14D914A}" sibTransId="{D288FA23-9170-4A38-B7FC-9CB3FFAF7E20}"/>
    <dgm:cxn modelId="{44DABF70-0F57-4C23-9127-AB2D598AE617}" type="presOf" srcId="{5ACFBDC9-6FFD-4414-BDF1-893AA67D40A9}" destId="{B68B1973-4071-4FAC-98A2-6787C1DA03DF}" srcOrd="0" destOrd="0" presId="urn:microsoft.com/office/officeart/2005/8/layout/chevron1"/>
    <dgm:cxn modelId="{7FDBB2B0-F613-40EF-A3CD-44A29014179F}" srcId="{F47D24E7-E3AA-4B11-9E74-A7BCB846A003}" destId="{9BC8145D-074F-4093-B7CE-D490CE3604DA}" srcOrd="4" destOrd="0" parTransId="{1F8CCAAD-306B-4145-972D-30C2DDD07A53}" sibTransId="{65CBE72B-E232-4E73-A7E3-59B3E8F5AB4E}"/>
    <dgm:cxn modelId="{765B8ED8-49F6-4123-94B1-D18CC116C003}" type="presOf" srcId="{500A0D5D-ED80-42C2-95DA-858F0A301A27}" destId="{D79F14C1-7842-4D91-A63F-1E3DA9DF8508}" srcOrd="0" destOrd="0" presId="urn:microsoft.com/office/officeart/2005/8/layout/chevron1"/>
    <dgm:cxn modelId="{A59C28BF-9EDE-4425-819E-62A1B5FB2020}" type="presOf" srcId="{F47D24E7-E3AA-4B11-9E74-A7BCB846A003}" destId="{33B98D18-5672-4012-89A8-0203D97C169A}" srcOrd="0" destOrd="0" presId="urn:microsoft.com/office/officeart/2005/8/layout/chevron1"/>
    <dgm:cxn modelId="{05B083D5-F027-4E1B-A434-C5693FAC0190}" type="presParOf" srcId="{33B98D18-5672-4012-89A8-0203D97C169A}" destId="{D361DFE8-50B7-4A56-B42F-1B9D5429E128}" srcOrd="0" destOrd="0" presId="urn:microsoft.com/office/officeart/2005/8/layout/chevron1"/>
    <dgm:cxn modelId="{6833891A-3AE9-46D9-A7E7-C332B5F38E93}" type="presParOf" srcId="{33B98D18-5672-4012-89A8-0203D97C169A}" destId="{718A9707-B2DB-4B9A-B1F4-43A2396C6FD3}" srcOrd="1" destOrd="0" presId="urn:microsoft.com/office/officeart/2005/8/layout/chevron1"/>
    <dgm:cxn modelId="{947AD48A-E279-4B42-BB55-B29D97A918F9}" type="presParOf" srcId="{33B98D18-5672-4012-89A8-0203D97C169A}" destId="{BCAFFD28-2415-4E92-94F3-830225453872}" srcOrd="2" destOrd="0" presId="urn:microsoft.com/office/officeart/2005/8/layout/chevron1"/>
    <dgm:cxn modelId="{BBFEC2DF-F1E5-4853-BEDE-4AC159E9215E}" type="presParOf" srcId="{33B98D18-5672-4012-89A8-0203D97C169A}" destId="{9CD1565E-9F4E-4E25-B354-D1FEDD625C2D}" srcOrd="3" destOrd="0" presId="urn:microsoft.com/office/officeart/2005/8/layout/chevron1"/>
    <dgm:cxn modelId="{B25F6D67-4888-4CE0-A497-13A3A7DAC58A}" type="presParOf" srcId="{33B98D18-5672-4012-89A8-0203D97C169A}" destId="{D79F14C1-7842-4D91-A63F-1E3DA9DF8508}" srcOrd="4" destOrd="0" presId="urn:microsoft.com/office/officeart/2005/8/layout/chevron1"/>
    <dgm:cxn modelId="{6FA22E2F-94D3-4430-B5F2-41A54083CECE}" type="presParOf" srcId="{33B98D18-5672-4012-89A8-0203D97C169A}" destId="{8D5A531B-2B0F-49A8-B800-E387A87921F3}" srcOrd="5" destOrd="0" presId="urn:microsoft.com/office/officeart/2005/8/layout/chevron1"/>
    <dgm:cxn modelId="{3CC90CED-F8CF-47C3-A740-A96D25096739}" type="presParOf" srcId="{33B98D18-5672-4012-89A8-0203D97C169A}" destId="{B68B1973-4071-4FAC-98A2-6787C1DA03DF}" srcOrd="6" destOrd="0" presId="urn:microsoft.com/office/officeart/2005/8/layout/chevron1"/>
    <dgm:cxn modelId="{7D89FBA5-A106-4262-AB89-8C3849167C9B}" type="presParOf" srcId="{33B98D18-5672-4012-89A8-0203D97C169A}" destId="{C6D88603-BFF4-4B9C-A599-FFE2E4033F63}" srcOrd="7" destOrd="0" presId="urn:microsoft.com/office/officeart/2005/8/layout/chevron1"/>
    <dgm:cxn modelId="{74075040-29AE-412D-A4D8-4CCB35AA4691}" type="presParOf" srcId="{33B98D18-5672-4012-89A8-0203D97C169A}" destId="{53DDF5FA-CB03-4925-B90C-C93EE2D2E5E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61DFE8-50B7-4A56-B42F-1B9D5429E128}">
      <dsp:nvSpPr>
        <dsp:cNvPr id="0" name=""/>
        <dsp:cNvSpPr/>
      </dsp:nvSpPr>
      <dsp:spPr>
        <a:xfrm>
          <a:off x="2041" y="554932"/>
          <a:ext cx="1816693" cy="7266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solidFill>
                <a:schemeClr val="accent3">
                  <a:lumMod val="75000"/>
                </a:schemeClr>
              </a:solidFill>
            </a:rPr>
            <a:t>Model &amp; Case definition</a:t>
          </a:r>
          <a:endParaRPr lang="en-GB" sz="1500" kern="1200" dirty="0">
            <a:solidFill>
              <a:schemeClr val="accent3">
                <a:lumMod val="75000"/>
              </a:schemeClr>
            </a:solidFill>
          </a:endParaRPr>
        </a:p>
      </dsp:txBody>
      <dsp:txXfrm>
        <a:off x="365380" y="554932"/>
        <a:ext cx="1090016" cy="726677"/>
      </dsp:txXfrm>
    </dsp:sp>
    <dsp:sp modelId="{BCAFFD28-2415-4E92-94F3-830225453872}">
      <dsp:nvSpPr>
        <dsp:cNvPr id="0" name=""/>
        <dsp:cNvSpPr/>
      </dsp:nvSpPr>
      <dsp:spPr>
        <a:xfrm>
          <a:off x="1637065" y="554932"/>
          <a:ext cx="1816693" cy="726677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solidFill>
                <a:schemeClr val="accent3">
                  <a:lumMod val="75000"/>
                </a:schemeClr>
              </a:solidFill>
            </a:rPr>
            <a:t>Build &amp; Run Proxy</a:t>
          </a:r>
          <a:endParaRPr lang="en-GB" sz="1500" kern="1200" dirty="0">
            <a:solidFill>
              <a:schemeClr val="accent3">
                <a:lumMod val="75000"/>
              </a:schemeClr>
            </a:solidFill>
          </a:endParaRPr>
        </a:p>
      </dsp:txBody>
      <dsp:txXfrm>
        <a:off x="2000404" y="554932"/>
        <a:ext cx="1090016" cy="726677"/>
      </dsp:txXfrm>
    </dsp:sp>
    <dsp:sp modelId="{D79F14C1-7842-4D91-A63F-1E3DA9DF8508}">
      <dsp:nvSpPr>
        <dsp:cNvPr id="0" name=""/>
        <dsp:cNvSpPr/>
      </dsp:nvSpPr>
      <dsp:spPr>
        <a:xfrm>
          <a:off x="3272090" y="554932"/>
          <a:ext cx="1816693" cy="7266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solidFill>
                <a:schemeClr val="accent3">
                  <a:lumMod val="75000"/>
                </a:schemeClr>
              </a:solidFill>
            </a:rPr>
            <a:t>Quick screening</a:t>
          </a:r>
          <a:endParaRPr lang="en-GB" sz="1500" kern="1200" dirty="0">
            <a:solidFill>
              <a:schemeClr val="accent3">
                <a:lumMod val="75000"/>
              </a:schemeClr>
            </a:solidFill>
          </a:endParaRPr>
        </a:p>
      </dsp:txBody>
      <dsp:txXfrm>
        <a:off x="3635429" y="554932"/>
        <a:ext cx="1090016" cy="726677"/>
      </dsp:txXfrm>
    </dsp:sp>
    <dsp:sp modelId="{B68B1973-4071-4FAC-98A2-6787C1DA03DF}">
      <dsp:nvSpPr>
        <dsp:cNvPr id="0" name=""/>
        <dsp:cNvSpPr/>
      </dsp:nvSpPr>
      <dsp:spPr>
        <a:xfrm>
          <a:off x="4907114" y="554932"/>
          <a:ext cx="1816693" cy="7266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solidFill>
                <a:schemeClr val="accent3">
                  <a:lumMod val="75000"/>
                </a:schemeClr>
              </a:solidFill>
            </a:rPr>
            <a:t>Reliability calculation</a:t>
          </a:r>
          <a:endParaRPr lang="en-GB" sz="1500" kern="1200" dirty="0">
            <a:solidFill>
              <a:schemeClr val="accent3">
                <a:lumMod val="75000"/>
              </a:schemeClr>
            </a:solidFill>
          </a:endParaRPr>
        </a:p>
      </dsp:txBody>
      <dsp:txXfrm>
        <a:off x="5270453" y="554932"/>
        <a:ext cx="1090016" cy="726677"/>
      </dsp:txXfrm>
    </dsp:sp>
    <dsp:sp modelId="{53DDF5FA-CB03-4925-B90C-C93EE2D2E5EC}">
      <dsp:nvSpPr>
        <dsp:cNvPr id="0" name=""/>
        <dsp:cNvSpPr/>
      </dsp:nvSpPr>
      <dsp:spPr>
        <a:xfrm>
          <a:off x="6542138" y="554932"/>
          <a:ext cx="1816693" cy="7266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solidFill>
                <a:schemeClr val="accent3">
                  <a:lumMod val="75000"/>
                </a:schemeClr>
              </a:solidFill>
            </a:rPr>
            <a:t>Reliability evaluation</a:t>
          </a:r>
          <a:endParaRPr lang="en-GB" sz="1500" kern="1200" dirty="0">
            <a:solidFill>
              <a:schemeClr val="accent3">
                <a:lumMod val="75000"/>
              </a:schemeClr>
            </a:solidFill>
          </a:endParaRPr>
        </a:p>
      </dsp:txBody>
      <dsp:txXfrm>
        <a:off x="6905477" y="554932"/>
        <a:ext cx="1090016" cy="7266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08/03/2016</a:t>
            </a:fld>
            <a:endParaRPr lang="en-GB" dirty="0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 dirty="0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/>
              <a:pPr/>
              <a:t>08/03/2016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289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utura Medium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>
                <a:latin typeface="Futura Medium" pitchFamily="2" charset="0"/>
              </a:rPr>
              <a:pPr/>
              <a:t>1</a:t>
            </a:fld>
            <a:endParaRPr lang="en-GB">
              <a:latin typeface="Futura Medium" pitchFamily="2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NL" dirty="0" smtClean="0"/>
              <a:t>The course will touch upon the different methods implemented and the workflow of CORA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9072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/>
              <a:pPr/>
              <a:t>22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468313" y="226142"/>
            <a:ext cx="8208961" cy="6167226"/>
            <a:chOff x="468313" y="226142"/>
            <a:chExt cx="8208961" cy="6167226"/>
          </a:xfrm>
        </p:grpSpPr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 flipH="1">
              <a:off x="468313" y="1307018"/>
              <a:ext cx="7020000" cy="50863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GB" smtClean="0"/>
                <a:t> </a:t>
              </a:r>
              <a:endParaRPr lang="en-GB" dirty="0"/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 flipH="1">
              <a:off x="1548071" y="226142"/>
              <a:ext cx="7129203" cy="504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 flipH="1">
              <a:off x="1548072" y="1307018"/>
              <a:ext cx="5942197" cy="3960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pic>
          <p:nvPicPr>
            <p:cNvPr id="23" name="Picture 22" descr="Shell-2010-Pecten-RGBpc.wmf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flipH="1">
              <a:off x="468313" y="290934"/>
              <a:ext cx="720000" cy="667868"/>
            </a:xfrm>
            <a:prstGeom prst="rect">
              <a:avLst/>
            </a:prstGeom>
            <a:noFill/>
          </p:spPr>
        </p:pic>
      </p:grpSp>
      <p:sp>
        <p:nvSpPr>
          <p:cNvPr id="28" name="Rectangle 2"/>
          <p:cNvSpPr>
            <a:spLocks noGrp="1" noChangeArrowheads="1"/>
          </p:cNvSpPr>
          <p:nvPr userDrawn="1">
            <p:ph type="ctrTitle"/>
          </p:nvPr>
        </p:nvSpPr>
        <p:spPr>
          <a:xfrm>
            <a:off x="1697782" y="1400847"/>
            <a:ext cx="5694536" cy="1206000"/>
          </a:xfrm>
          <a:noFill/>
        </p:spPr>
        <p:txBody>
          <a:bodyPr lIns="0" tIns="0" rIns="0"/>
          <a:lstStyle>
            <a:lvl1pPr>
              <a:defRPr kern="1200" cap="all" spc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 dirty="0"/>
              <a:t>Click to edit Master title </a:t>
            </a:r>
            <a:r>
              <a:rPr lang="en-GB" dirty="0" smtClean="0"/>
              <a:t>style</a:t>
            </a:r>
            <a:endParaRPr lang="en-GB" dirty="0"/>
          </a:p>
        </p:txBody>
      </p:sp>
      <p:sp>
        <p:nvSpPr>
          <p:cNvPr id="29" name="Rectangle 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1697782" y="2851200"/>
            <a:ext cx="2700000" cy="1620000"/>
          </a:xfrm>
        </p:spPr>
        <p:txBody>
          <a:bodyPr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16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32" name="Text Placeholder 3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578064" y="5402511"/>
            <a:ext cx="5857896" cy="196455"/>
          </a:xfrm>
        </p:spPr>
        <p:txBody>
          <a:bodyPr anchor="t" anchorCtr="0"/>
          <a:lstStyle>
            <a:lvl1pPr>
              <a:buNone/>
              <a:defRPr sz="1200">
                <a:latin typeface="+mn-lt"/>
              </a:defRPr>
            </a:lvl1pPr>
          </a:lstStyle>
          <a:p>
            <a:pPr lvl="0"/>
            <a:r>
              <a:rPr lang="en-GB" smtClean="0"/>
              <a:t>Click to insert Author’s Name</a:t>
            </a:r>
            <a:endParaRPr lang="en-GB" dirty="0"/>
          </a:p>
        </p:txBody>
      </p:sp>
      <p:sp>
        <p:nvSpPr>
          <p:cNvPr id="33" name="Text Placeholder 31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578064" y="5627540"/>
            <a:ext cx="5857896" cy="196455"/>
          </a:xfrm>
        </p:spPr>
        <p:txBody>
          <a:bodyPr anchor="t" anchorCtr="0"/>
          <a:lstStyle>
            <a:lvl1pPr>
              <a:buNone/>
              <a:defRPr sz="1200">
                <a:latin typeface="+mn-lt"/>
              </a:defRPr>
            </a:lvl1pPr>
          </a:lstStyle>
          <a:p>
            <a:pPr lvl="0"/>
            <a:r>
              <a:rPr lang="en-GB" smtClean="0"/>
              <a:t>Click to insert Role in Organisation</a:t>
            </a:r>
            <a:endParaRPr lang="en-GB" dirty="0"/>
          </a:p>
        </p:txBody>
      </p:sp>
      <p:sp>
        <p:nvSpPr>
          <p:cNvPr id="24" name="Text Box 11" descr="Text Box 11"/>
          <p:cNvSpPr txBox="1">
            <a:spLocks noChangeArrowheads="1"/>
          </p:cNvSpPr>
          <p:nvPr userDrawn="1"/>
        </p:nvSpPr>
        <p:spPr bwMode="auto">
          <a:xfrm>
            <a:off x="468000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25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6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20799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2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64400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8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5862638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906511" y="1312201"/>
            <a:ext cx="7770763" cy="5071137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20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1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2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906512" y="1312202"/>
            <a:ext cx="7766050" cy="5071136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20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5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ig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906512" y="1312202"/>
            <a:ext cx="7766050" cy="5071136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 sz="1600"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 sz="1600"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4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69875" indent="-26987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54025" indent="-1841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2000"/>
            </a:lvl3pPr>
            <a:lvl4pPr marL="635000" indent="-17462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76225" indent="-27622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47675" indent="-171450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2000"/>
            </a:lvl3pPr>
            <a:lvl4pPr marL="635000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3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69875" indent="-269875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54025" indent="-1841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2000"/>
            </a:lvl3pPr>
            <a:lvl4pPr marL="635000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5pPr>
            <a:lvl6pPr marL="996950" indent="-185738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tabLst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76225" indent="-27622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49263" indent="-173038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2000"/>
            </a:lvl3pPr>
            <a:lvl4pPr marL="635000" indent="-180975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Hig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600"/>
            </a:lvl1pPr>
            <a:lvl2pPr marL="269875" indent="-2698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1600"/>
            </a:lvl2pPr>
            <a:lvl3pPr marL="454025" indent="-1841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3pPr>
            <a:lvl4pPr marL="635000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4pPr>
            <a:lvl5pPr marL="811213" indent="-16986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5pPr>
            <a:lvl6pPr marL="992188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Xx</a:t>
            </a:r>
          </a:p>
          <a:p>
            <a:pPr lvl="5"/>
            <a:r>
              <a:rPr lang="en-GB" smtClean="0"/>
              <a:t>xx</a:t>
            </a:r>
            <a:endParaRPr lang="en-GB" dirty="0" smtClean="0"/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600"/>
            </a:lvl1pPr>
            <a:lvl2pPr marL="276225" indent="-276225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1600"/>
            </a:lvl2pPr>
            <a:lvl3pPr marL="447675" indent="-171450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3pPr>
            <a:lvl4pPr marL="635000" indent="-174625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4pPr>
            <a:lvl5pPr marL="811213" indent="-16986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5pPr>
            <a:lvl6pPr marL="992188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 dirty="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ontent Placeholder 51"/>
          <p:cNvSpPr>
            <a:spLocks noGrp="1"/>
          </p:cNvSpPr>
          <p:nvPr>
            <p:ph sz="quarter" idx="29" hasCustomPrompt="1"/>
          </p:nvPr>
        </p:nvSpPr>
        <p:spPr>
          <a:xfrm>
            <a:off x="904072" y="6267688"/>
            <a:ext cx="3747304" cy="99509"/>
          </a:xfrm>
        </p:spPr>
        <p:txBody>
          <a:bodyPr wrap="square">
            <a:noAutofit/>
          </a:bodyPr>
          <a:lstStyle>
            <a:lvl1pPr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smtClean="0"/>
              <a:t>CLICK TO EDIT SOURCE</a:t>
            </a:r>
            <a:endParaRPr lang="en-GB" dirty="0"/>
          </a:p>
        </p:txBody>
      </p:sp>
      <p:sp>
        <p:nvSpPr>
          <p:cNvPr id="31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39" name="Content Placeholder 51"/>
          <p:cNvSpPr>
            <a:spLocks noGrp="1"/>
          </p:cNvSpPr>
          <p:nvPr>
            <p:ph sz="quarter" idx="45" hasCustomPrompt="1"/>
          </p:nvPr>
        </p:nvSpPr>
        <p:spPr>
          <a:xfrm>
            <a:off x="911225" y="4179607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Click to edit Unit of measure</a:t>
            </a:r>
            <a:endParaRPr lang="en-GB" dirty="0"/>
          </a:p>
        </p:txBody>
      </p:sp>
      <p:sp>
        <p:nvSpPr>
          <p:cNvPr id="40" name="Content Placeholder 51"/>
          <p:cNvSpPr>
            <a:spLocks noGrp="1"/>
          </p:cNvSpPr>
          <p:nvPr>
            <p:ph sz="quarter" idx="46" hasCustomPrompt="1"/>
          </p:nvPr>
        </p:nvSpPr>
        <p:spPr>
          <a:xfrm>
            <a:off x="911225" y="3844644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CHART TITLE APPEARS HERE</a:t>
            </a:r>
            <a:endParaRPr lang="en-GB" dirty="0"/>
          </a:p>
        </p:txBody>
      </p:sp>
      <p:cxnSp>
        <p:nvCxnSpPr>
          <p:cNvPr id="41" name="Straight Connector 40"/>
          <p:cNvCxnSpPr/>
          <p:nvPr userDrawn="1"/>
        </p:nvCxnSpPr>
        <p:spPr>
          <a:xfrm flipV="1">
            <a:off x="911225" y="4122457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hart Placeholder 16"/>
          <p:cNvSpPr>
            <a:spLocks noGrp="1"/>
          </p:cNvSpPr>
          <p:nvPr>
            <p:ph type="chart" sz="quarter" idx="47"/>
          </p:nvPr>
        </p:nvSpPr>
        <p:spPr>
          <a:xfrm>
            <a:off x="911225" y="4436262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43" name="Straight Connector 42"/>
          <p:cNvCxnSpPr/>
          <p:nvPr userDrawn="1"/>
        </p:nvCxnSpPr>
        <p:spPr>
          <a:xfrm>
            <a:off x="904071" y="5944860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ontent Placeholder 51"/>
          <p:cNvSpPr>
            <a:spLocks noGrp="1"/>
          </p:cNvSpPr>
          <p:nvPr>
            <p:ph sz="quarter" idx="54" hasCustomPrompt="1"/>
          </p:nvPr>
        </p:nvSpPr>
        <p:spPr>
          <a:xfrm>
            <a:off x="911225" y="1654176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Click to edit Unit of measure</a:t>
            </a:r>
            <a:endParaRPr lang="en-GB" dirty="0"/>
          </a:p>
        </p:txBody>
      </p:sp>
      <p:sp>
        <p:nvSpPr>
          <p:cNvPr id="100" name="Content Placeholder 51"/>
          <p:cNvSpPr>
            <a:spLocks noGrp="1"/>
          </p:cNvSpPr>
          <p:nvPr>
            <p:ph sz="quarter" idx="55" hasCustomPrompt="1"/>
          </p:nvPr>
        </p:nvSpPr>
        <p:spPr>
          <a:xfrm>
            <a:off x="911225" y="1319213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CHART TITLE APPEARS HERE</a:t>
            </a:r>
            <a:endParaRPr lang="en-GB" dirty="0"/>
          </a:p>
        </p:txBody>
      </p:sp>
      <p:cxnSp>
        <p:nvCxnSpPr>
          <p:cNvPr id="101" name="Straight Connector 100"/>
          <p:cNvCxnSpPr/>
          <p:nvPr userDrawn="1"/>
        </p:nvCxnSpPr>
        <p:spPr>
          <a:xfrm flipV="1">
            <a:off x="911225" y="1597026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hart Placeholder 16"/>
          <p:cNvSpPr>
            <a:spLocks noGrp="1"/>
          </p:cNvSpPr>
          <p:nvPr>
            <p:ph type="chart" sz="quarter" idx="56"/>
          </p:nvPr>
        </p:nvSpPr>
        <p:spPr>
          <a:xfrm>
            <a:off x="911225" y="1910831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03" name="Straight Connector 102"/>
          <p:cNvCxnSpPr/>
          <p:nvPr userDrawn="1"/>
        </p:nvCxnSpPr>
        <p:spPr>
          <a:xfrm>
            <a:off x="904071" y="3419429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Content Placeholder 51"/>
          <p:cNvSpPr>
            <a:spLocks noGrp="1"/>
          </p:cNvSpPr>
          <p:nvPr>
            <p:ph sz="quarter" idx="57" hasCustomPrompt="1"/>
          </p:nvPr>
        </p:nvSpPr>
        <p:spPr>
          <a:xfrm>
            <a:off x="4965700" y="4179607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Click to edit Unit of measure</a:t>
            </a:r>
            <a:endParaRPr lang="en-GB" dirty="0"/>
          </a:p>
        </p:txBody>
      </p:sp>
      <p:sp>
        <p:nvSpPr>
          <p:cNvPr id="105" name="Content Placeholder 51"/>
          <p:cNvSpPr>
            <a:spLocks noGrp="1"/>
          </p:cNvSpPr>
          <p:nvPr>
            <p:ph sz="quarter" idx="58" hasCustomPrompt="1"/>
          </p:nvPr>
        </p:nvSpPr>
        <p:spPr>
          <a:xfrm>
            <a:off x="4965700" y="3844644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CHART TITLE APPEARS HERE</a:t>
            </a:r>
            <a:endParaRPr lang="en-GB" dirty="0"/>
          </a:p>
        </p:txBody>
      </p:sp>
      <p:cxnSp>
        <p:nvCxnSpPr>
          <p:cNvPr id="106" name="Straight Connector 105"/>
          <p:cNvCxnSpPr/>
          <p:nvPr userDrawn="1"/>
        </p:nvCxnSpPr>
        <p:spPr>
          <a:xfrm flipV="1">
            <a:off x="4965700" y="4122457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hart Placeholder 16"/>
          <p:cNvSpPr>
            <a:spLocks noGrp="1"/>
          </p:cNvSpPr>
          <p:nvPr>
            <p:ph type="chart" sz="quarter" idx="59"/>
          </p:nvPr>
        </p:nvSpPr>
        <p:spPr>
          <a:xfrm>
            <a:off x="4965700" y="4436262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08" name="Straight Connector 107"/>
          <p:cNvCxnSpPr/>
          <p:nvPr userDrawn="1"/>
        </p:nvCxnSpPr>
        <p:spPr>
          <a:xfrm>
            <a:off x="4958546" y="5944860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Content Placeholder 51"/>
          <p:cNvSpPr>
            <a:spLocks noGrp="1"/>
          </p:cNvSpPr>
          <p:nvPr>
            <p:ph sz="quarter" idx="60" hasCustomPrompt="1"/>
          </p:nvPr>
        </p:nvSpPr>
        <p:spPr>
          <a:xfrm>
            <a:off x="4965700" y="1654176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Click to edit Unit of measure</a:t>
            </a:r>
            <a:endParaRPr lang="en-GB" dirty="0"/>
          </a:p>
        </p:txBody>
      </p:sp>
      <p:sp>
        <p:nvSpPr>
          <p:cNvPr id="110" name="Content Placeholder 51"/>
          <p:cNvSpPr>
            <a:spLocks noGrp="1"/>
          </p:cNvSpPr>
          <p:nvPr>
            <p:ph sz="quarter" idx="61" hasCustomPrompt="1"/>
          </p:nvPr>
        </p:nvSpPr>
        <p:spPr>
          <a:xfrm>
            <a:off x="4965700" y="1319213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CHART TITLE APPEARS HERE</a:t>
            </a:r>
            <a:endParaRPr lang="en-GB" dirty="0"/>
          </a:p>
        </p:txBody>
      </p:sp>
      <p:cxnSp>
        <p:nvCxnSpPr>
          <p:cNvPr id="111" name="Straight Connector 110"/>
          <p:cNvCxnSpPr/>
          <p:nvPr userDrawn="1"/>
        </p:nvCxnSpPr>
        <p:spPr>
          <a:xfrm flipV="1">
            <a:off x="4965700" y="1597026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Chart Placeholder 16"/>
          <p:cNvSpPr>
            <a:spLocks noGrp="1"/>
          </p:cNvSpPr>
          <p:nvPr>
            <p:ph type="chart" sz="quarter" idx="62"/>
          </p:nvPr>
        </p:nvSpPr>
        <p:spPr>
          <a:xfrm>
            <a:off x="4965700" y="1910831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13" name="Straight Connector 112"/>
          <p:cNvCxnSpPr/>
          <p:nvPr userDrawn="1"/>
        </p:nvCxnSpPr>
        <p:spPr>
          <a:xfrm>
            <a:off x="4958546" y="3419429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3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29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 dirty="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00000" y="648000"/>
            <a:ext cx="7380000" cy="5633999"/>
            <a:chOff x="900000" y="648000"/>
            <a:chExt cx="7380000" cy="5633999"/>
          </a:xfrm>
        </p:grpSpPr>
        <p:sp>
          <p:nvSpPr>
            <p:cNvPr id="15" name="Rectangle 4"/>
            <p:cNvSpPr>
              <a:spLocks noChangeArrowheads="1"/>
            </p:cNvSpPr>
            <p:nvPr userDrawn="1"/>
          </p:nvSpPr>
          <p:spPr bwMode="auto">
            <a:xfrm flipH="1">
              <a:off x="900000" y="1367999"/>
              <a:ext cx="6661152" cy="4914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  <p:sp>
          <p:nvSpPr>
            <p:cNvPr id="21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648000"/>
              <a:ext cx="6660000" cy="4914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  <p:sp>
          <p:nvSpPr>
            <p:cNvPr id="22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1367999"/>
              <a:ext cx="5940000" cy="4194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782070" y="3198783"/>
            <a:ext cx="5603468" cy="13620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mtClean="0"/>
              <a:t>Click to edit Master title style</a:t>
            </a:r>
            <a:endParaRPr lang="en-GB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1782070" y="2379407"/>
            <a:ext cx="5603468" cy="7416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4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smtClean="0"/>
              <a:t>Click to edit Master text styles</a:t>
            </a:r>
            <a:endParaRPr lang="en-GB" dirty="0" smtClean="0"/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82070" y="1415008"/>
            <a:ext cx="2243127" cy="96462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6000">
                <a:solidFill>
                  <a:schemeClr val="accent2"/>
                </a:solidFill>
                <a:latin typeface="Futura Light" pitchFamily="2" charset="0"/>
              </a:defRPr>
            </a:lvl1pPr>
          </a:lstStyle>
          <a:p>
            <a:pPr lvl="0"/>
            <a:r>
              <a:rPr lang="en-GB" dirty="0" smtClean="0"/>
              <a:t>0.0</a:t>
            </a:r>
            <a:endParaRPr lang="en-GB" dirty="0"/>
          </a:p>
        </p:txBody>
      </p:sp>
      <p:sp>
        <p:nvSpPr>
          <p:cNvPr id="12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6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3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  <p:sp>
        <p:nvSpPr>
          <p:cNvPr id="8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0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8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900000" y="648000"/>
            <a:ext cx="7380000" cy="5633999"/>
            <a:chOff x="900000" y="648000"/>
            <a:chExt cx="7380000" cy="5633999"/>
          </a:xfrm>
        </p:grpSpPr>
        <p:sp>
          <p:nvSpPr>
            <p:cNvPr id="12" name="Rectangle 4"/>
            <p:cNvSpPr>
              <a:spLocks noChangeArrowheads="1"/>
            </p:cNvSpPr>
            <p:nvPr userDrawn="1"/>
          </p:nvSpPr>
          <p:spPr bwMode="auto">
            <a:xfrm flipH="1">
              <a:off x="900000" y="1367999"/>
              <a:ext cx="6661152" cy="4914000"/>
            </a:xfrm>
            <a:prstGeom prst="rect">
              <a:avLst/>
            </a:prstGeom>
            <a:solidFill>
              <a:srgbClr val="FCEC8B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648000"/>
              <a:ext cx="6660000" cy="4914000"/>
            </a:xfrm>
            <a:prstGeom prst="rect">
              <a:avLst/>
            </a:prstGeom>
            <a:solidFill>
              <a:srgbClr val="FAE37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1367999"/>
              <a:ext cx="5940000" cy="4194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82070" y="1415008"/>
            <a:ext cx="2243127" cy="96462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6000">
                <a:solidFill>
                  <a:schemeClr val="accent2"/>
                </a:solidFill>
                <a:latin typeface="Futura Light" pitchFamily="2" charset="0"/>
              </a:defRPr>
            </a:lvl1pPr>
          </a:lstStyle>
          <a:p>
            <a:pPr lvl="0"/>
            <a:r>
              <a:rPr lang="en-GB" dirty="0" smtClean="0"/>
              <a:t>Q &amp; A</a:t>
            </a:r>
            <a:endParaRPr lang="en-GB" dirty="0"/>
          </a:p>
        </p:txBody>
      </p:sp>
      <p:sp>
        <p:nvSpPr>
          <p:cNvPr id="10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3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(Mandator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" name="Picture 2" descr="Shell-2010-Pecten-RGBpc.wmf"/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3418626" y="2285524"/>
              <a:ext cx="2340000" cy="217057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9704" y="1310400"/>
            <a:ext cx="7747176" cy="507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53"/>
            <a:ext cx="7700963" cy="419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3" r:id="rId2"/>
    <p:sldLayoutId id="2147483689" r:id="rId3"/>
    <p:sldLayoutId id="2147483691" r:id="rId4"/>
    <p:sldLayoutId id="2147483667" r:id="rId5"/>
    <p:sldLayoutId id="2147483690" r:id="rId6"/>
    <p:sldLayoutId id="2147483692" r:id="rId7"/>
    <p:sldLayoutId id="2147483694" r:id="rId8"/>
    <p:sldLayoutId id="2147483680" r:id="rId9"/>
    <p:sldLayoutId id="2147483678" r:id="rId10"/>
    <p:sldLayoutId id="2147483679" r:id="rId11"/>
    <p:sldLayoutId id="2147483681" r:id="rId12"/>
    <p:sldLayoutId id="2147483682" r:id="rId13"/>
    <p:sldLayoutId id="2147483683" r:id="rId14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CORA%20methodologies.pptx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 descr="&lt;TITLE&gt;{94.96063,448.3887,110.3029,133.6836}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CORA Workflow</a:t>
            </a:r>
            <a:endParaRPr lang="en-GB" dirty="0"/>
          </a:p>
        </p:txBody>
      </p:sp>
      <p:sp>
        <p:nvSpPr>
          <p:cNvPr id="24" name="Text Placeholder 23" descr="&lt;NAME&gt;{15.4689,461.2516,425.3946,124.257}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Famke Kraaijeveld</a:t>
            </a:r>
            <a:r>
              <a:rPr lang="en-GB" smtClean="0"/>
              <a:t>, PTI/RC</a:t>
            </a:r>
            <a:endParaRPr lang="en-GB" dirty="0" smtClean="0"/>
          </a:p>
        </p:txBody>
      </p:sp>
      <p:sp>
        <p:nvSpPr>
          <p:cNvPr id="25" name="Text Placeholder 24" descr="&lt;ROLE&gt;{15.4689,461.2516,443.1134,124.257}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Some Statistical definitions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712519" y="1021279"/>
            <a:ext cx="7964755" cy="5362060"/>
          </a:xfrm>
        </p:spPr>
        <p:txBody>
          <a:bodyPr/>
          <a:lstStyle/>
          <a:p>
            <a:r>
              <a:rPr lang="en-GB" sz="1800" b="1" dirty="0"/>
              <a:t>Risk</a:t>
            </a:r>
            <a:r>
              <a:rPr lang="en-GB" sz="1800" dirty="0"/>
              <a:t> </a:t>
            </a:r>
            <a:r>
              <a:rPr lang="en-GB" sz="1800" dirty="0" smtClean="0"/>
              <a:t>= </a:t>
            </a:r>
            <a:r>
              <a:rPr lang="en-GB" sz="1800" dirty="0"/>
              <a:t>probability of failure * consequence</a:t>
            </a:r>
          </a:p>
          <a:p>
            <a:r>
              <a:rPr lang="en-GB" sz="1800" b="1" dirty="0" smtClean="0"/>
              <a:t>Opportunity</a:t>
            </a:r>
            <a:r>
              <a:rPr lang="en-GB" sz="1800" dirty="0" smtClean="0"/>
              <a:t> = probability of success * consequence</a:t>
            </a:r>
          </a:p>
          <a:p>
            <a:r>
              <a:rPr lang="en-GB" sz="1800" b="1" dirty="0" smtClean="0"/>
              <a:t>Reliability</a:t>
            </a:r>
            <a:r>
              <a:rPr lang="en-GB" sz="1800" dirty="0" smtClean="0"/>
              <a:t> = probability of non failure</a:t>
            </a:r>
          </a:p>
          <a:p>
            <a:r>
              <a:rPr lang="en-GB" sz="1800" b="1" dirty="0" smtClean="0"/>
              <a:t>Reliability Index </a:t>
            </a:r>
            <a:r>
              <a:rPr lang="en-GB" sz="1800" dirty="0" smtClean="0"/>
              <a:t>= Number of standards deviations away from failure plane</a:t>
            </a:r>
          </a:p>
          <a:p>
            <a:r>
              <a:rPr lang="en-GB" sz="1800" b="1" dirty="0" err="1"/>
              <a:t>Stochast</a:t>
            </a:r>
            <a:r>
              <a:rPr lang="en-GB" sz="1800" dirty="0"/>
              <a:t> </a:t>
            </a:r>
            <a:r>
              <a:rPr lang="en-GB" sz="1800" dirty="0" smtClean="0"/>
              <a:t>= </a:t>
            </a:r>
            <a:r>
              <a:rPr lang="en-GB" sz="1800" dirty="0"/>
              <a:t>random variable</a:t>
            </a:r>
          </a:p>
          <a:p>
            <a:r>
              <a:rPr lang="en-GB" sz="1800" b="1" dirty="0"/>
              <a:t>Probability Distribution Function </a:t>
            </a:r>
            <a:r>
              <a:rPr lang="en-GB" sz="1800" dirty="0"/>
              <a:t>(PDF) = function that describes the likelihood of </a:t>
            </a:r>
            <a:r>
              <a:rPr lang="en-GB" sz="1800" dirty="0" err="1"/>
              <a:t>stochast</a:t>
            </a:r>
            <a:r>
              <a:rPr lang="en-GB" sz="1800" dirty="0"/>
              <a:t> falling into a particular range. Integral over the function is 1.</a:t>
            </a:r>
          </a:p>
          <a:p>
            <a:r>
              <a:rPr lang="en-GB" sz="1800" b="1" dirty="0"/>
              <a:t>Cumulative distribution function </a:t>
            </a:r>
            <a:r>
              <a:rPr lang="en-GB" sz="1800" dirty="0" smtClean="0"/>
              <a:t>(CDF) = </a:t>
            </a:r>
            <a:r>
              <a:rPr lang="en-GB" sz="1800" dirty="0"/>
              <a:t>function for </a:t>
            </a:r>
            <a:r>
              <a:rPr lang="en-GB" sz="1800" dirty="0" err="1"/>
              <a:t>stochast</a:t>
            </a:r>
            <a:r>
              <a:rPr lang="en-GB" sz="1800" dirty="0"/>
              <a:t> that describes likelihood of values  &lt;= X</a:t>
            </a:r>
            <a:r>
              <a:rPr lang="en-GB" sz="1800" dirty="0" smtClean="0"/>
              <a:t>)</a:t>
            </a:r>
          </a:p>
          <a:p>
            <a:r>
              <a:rPr lang="en-GB" sz="1800" b="1" dirty="0"/>
              <a:t>u</a:t>
            </a:r>
            <a:r>
              <a:rPr lang="en-GB" sz="1800" b="1" dirty="0" smtClean="0"/>
              <a:t>-space</a:t>
            </a:r>
            <a:r>
              <a:rPr lang="en-GB" sz="1800" dirty="0" smtClean="0"/>
              <a:t>: Normal standard distribution space, sampling occurs in this space.</a:t>
            </a:r>
            <a:endParaRPr lang="en-GB" sz="1800" dirty="0"/>
          </a:p>
          <a:p>
            <a:r>
              <a:rPr lang="en-GB" sz="1800" b="1" dirty="0"/>
              <a:t>Correlation</a:t>
            </a:r>
            <a:r>
              <a:rPr lang="en-GB" sz="1800" dirty="0"/>
              <a:t> = statistical relationship involving </a:t>
            </a:r>
            <a:r>
              <a:rPr lang="en-GB" sz="1800" dirty="0" smtClean="0"/>
              <a:t>dependence (in CORA this is for the u-space)</a:t>
            </a:r>
          </a:p>
          <a:p>
            <a:r>
              <a:rPr lang="en-GB" sz="1800" b="1" dirty="0" smtClean="0"/>
              <a:t>Fragility</a:t>
            </a:r>
            <a:r>
              <a:rPr lang="en-GB" sz="1800" dirty="0" smtClean="0"/>
              <a:t> =  degree of dependence of reliability on a </a:t>
            </a:r>
            <a:r>
              <a:rPr lang="en-GB" sz="1800" dirty="0" err="1" smtClean="0"/>
              <a:t>stochast</a:t>
            </a:r>
            <a:endParaRPr lang="en-GB" sz="1800" dirty="0" smtClean="0"/>
          </a:p>
          <a:p>
            <a:endParaRPr lang="en-GB" sz="1800" dirty="0" smtClean="0"/>
          </a:p>
          <a:p>
            <a:endParaRPr lang="en-GB" sz="1800" dirty="0" smtClean="0"/>
          </a:p>
          <a:p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Some mechanical definitions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546265" y="1021279"/>
            <a:ext cx="8131009" cy="5362060"/>
          </a:xfrm>
        </p:spPr>
        <p:txBody>
          <a:bodyPr/>
          <a:lstStyle/>
          <a:p>
            <a:r>
              <a:rPr lang="en-GB" sz="1800" b="1" dirty="0"/>
              <a:t>Object</a:t>
            </a:r>
            <a:r>
              <a:rPr lang="en-GB" sz="1800" dirty="0"/>
              <a:t> = Volume or area of interest, e.g. specific well or formation</a:t>
            </a:r>
          </a:p>
          <a:p>
            <a:r>
              <a:rPr lang="en-GB" sz="1800" b="1" dirty="0"/>
              <a:t>Component</a:t>
            </a:r>
            <a:r>
              <a:rPr lang="en-GB" sz="1800" dirty="0"/>
              <a:t> = Object with associated failure mechanism</a:t>
            </a:r>
          </a:p>
          <a:p>
            <a:r>
              <a:rPr lang="en-GB" sz="1800" b="1" dirty="0"/>
              <a:t>Failure mechanism </a:t>
            </a:r>
            <a:r>
              <a:rPr lang="en-GB" sz="1800" dirty="0"/>
              <a:t>= Type of failure, e.g. shear failure, tensile failure</a:t>
            </a:r>
          </a:p>
          <a:p>
            <a:r>
              <a:rPr lang="en-GB" sz="1800" b="1" dirty="0"/>
              <a:t>LSF</a:t>
            </a:r>
            <a:r>
              <a:rPr lang="en-GB" sz="1800" dirty="0"/>
              <a:t> = Limit State Function, mathematical definition of failure, LSF &lt;=0 is </a:t>
            </a:r>
            <a:r>
              <a:rPr lang="en-GB" sz="1800" dirty="0" smtClean="0"/>
              <a:t>failure</a:t>
            </a:r>
            <a:endParaRPr lang="en-GB" sz="1800" dirty="0"/>
          </a:p>
          <a:p>
            <a:r>
              <a:rPr lang="en-GB" sz="1800" b="1" dirty="0" smtClean="0"/>
              <a:t>Formation</a:t>
            </a:r>
            <a:r>
              <a:rPr lang="en-GB" sz="1800" dirty="0" smtClean="0"/>
              <a:t> = volume associated with single rock or source</a:t>
            </a:r>
          </a:p>
          <a:p>
            <a:r>
              <a:rPr lang="en-GB" sz="1800" b="1" dirty="0"/>
              <a:t>Fault</a:t>
            </a:r>
            <a:r>
              <a:rPr lang="en-GB" sz="1800" dirty="0"/>
              <a:t> = </a:t>
            </a:r>
            <a:r>
              <a:rPr lang="en-GB" sz="1800" dirty="0" smtClean="0"/>
              <a:t>3-D plane </a:t>
            </a:r>
            <a:r>
              <a:rPr lang="en-GB" sz="1800" dirty="0"/>
              <a:t>of weakness</a:t>
            </a:r>
          </a:p>
          <a:p>
            <a:r>
              <a:rPr lang="en-GB" sz="1800" b="1" dirty="0" smtClean="0"/>
              <a:t>Well </a:t>
            </a:r>
            <a:r>
              <a:rPr lang="en-GB" sz="1800" dirty="0" smtClean="0"/>
              <a:t>= 3-D line graph</a:t>
            </a:r>
            <a:endParaRPr lang="en-GB" sz="1800" dirty="0"/>
          </a:p>
          <a:p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76550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Default settings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534391" y="1009403"/>
            <a:ext cx="8142884" cy="5373935"/>
          </a:xfrm>
        </p:spPr>
        <p:txBody>
          <a:bodyPr/>
          <a:lstStyle/>
          <a:p>
            <a:r>
              <a:rPr lang="en-GB" sz="1800" dirty="0" smtClean="0"/>
              <a:t>In the settings sheet the default systems settings are loaded upon first install. You can change these and save them. </a:t>
            </a:r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400" dirty="0" smtClean="0"/>
          </a:p>
          <a:p>
            <a:endParaRPr lang="en-GB" sz="1400" dirty="0"/>
          </a:p>
          <a:p>
            <a:r>
              <a:rPr lang="en-GB" sz="1400" dirty="0" smtClean="0"/>
              <a:t>Note </a:t>
            </a:r>
            <a:r>
              <a:rPr lang="en-GB" sz="1400" dirty="0" smtClean="0"/>
              <a:t>1: QuickBlocks comes with a python installation. A separate python distribution is not required for executing user models in python.</a:t>
            </a:r>
          </a:p>
          <a:p>
            <a:r>
              <a:rPr lang="en-GB" sz="1400" dirty="0" smtClean="0"/>
              <a:t>Note 2: Use the Verbose setting to minimize logging (0), to use medium logging (1) or maximize logging (2)</a:t>
            </a:r>
            <a:endParaRPr lang="en-GB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144925"/>
              </p:ext>
            </p:extLst>
          </p:nvPr>
        </p:nvGraphicFramePr>
        <p:xfrm>
          <a:off x="752475" y="1819284"/>
          <a:ext cx="7904163" cy="3147300"/>
        </p:xfrm>
        <a:graphic>
          <a:graphicData uri="http://schemas.openxmlformats.org/drawingml/2006/table">
            <a:tbl>
              <a:tblPr/>
              <a:tblGrid>
                <a:gridCol w="1285875"/>
                <a:gridCol w="2085975"/>
                <a:gridCol w="4532313"/>
              </a:tblGrid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Sheet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D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D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Value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D117"/>
                    </a:solidFill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Cora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Path cora application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C:\Program Files\GEOMEC 5.3 - SVS\CORA\Binaries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QuickBlocks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Python path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C:\Program Files\QuickBlocks 2.2\python.exe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QuickBlocks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QuickBlocks path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C:\Program Files\QuickBlocks 2.2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QuickBlocks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QBpythonCore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C:\Program Files\QuickBlocks 2.2\python.exe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Cora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Verbose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GeoMec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GEOMEC path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C:\Program Files\GEOMEC 5.3 - SVS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UserModel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UserModel path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C:\Program Files\QuickBlocks 2.2\python.exe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GEOMEC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SaveAllCoraInput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TRUE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GEOMEC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SaveAllModelResults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FALSE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GEOMEC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SaveModelResultsFailedCases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FALSE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GEOMEC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SaveInputFilesFailedCases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TRUE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Cora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NumberOfCores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FIST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SaveAllCoraInput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FALSE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FIST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SaveAllModelResults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FALSE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FIST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SaveModelResultsFailedCases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FALSE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FIST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SaveInputFilesFailedCases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TRUE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FIST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FIST path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C:\Program Files\FIST-6.6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33610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The actual workflow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589926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 workflow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6</a:t>
            </a:fld>
            <a:endParaRPr lang="en-GB" dirty="0"/>
          </a:p>
        </p:txBody>
      </p:sp>
      <p:graphicFrame>
        <p:nvGraphicFramePr>
          <p:cNvPr id="19" name="Content Placeholder 6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843754626"/>
              </p:ext>
            </p:extLst>
          </p:nvPr>
        </p:nvGraphicFramePr>
        <p:xfrm>
          <a:off x="407814" y="1365446"/>
          <a:ext cx="8360874" cy="1836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21" name="Elbow Connector 20"/>
          <p:cNvCxnSpPr/>
          <p:nvPr/>
        </p:nvCxnSpPr>
        <p:spPr>
          <a:xfrm rot="16200000" flipH="1">
            <a:off x="3448282" y="-173975"/>
            <a:ext cx="2" cy="4068000"/>
          </a:xfrm>
          <a:prstGeom prst="bentConnector3">
            <a:avLst>
              <a:gd name="adj1" fmla="val -11430000000"/>
            </a:avLst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/>
          <p:nvPr/>
        </p:nvCxnSpPr>
        <p:spPr>
          <a:xfrm rot="5400000" flipH="1">
            <a:off x="4456282" y="1691005"/>
            <a:ext cx="2" cy="2052000"/>
          </a:xfrm>
          <a:prstGeom prst="bentConnector3">
            <a:avLst>
              <a:gd name="adj1" fmla="val -11430000000"/>
            </a:avLst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17"/>
          <p:cNvGrpSpPr/>
          <p:nvPr/>
        </p:nvGrpSpPr>
        <p:grpSpPr>
          <a:xfrm>
            <a:off x="407815" y="3547135"/>
            <a:ext cx="8281547" cy="2101847"/>
            <a:chOff x="407815" y="3547135"/>
            <a:chExt cx="8281547" cy="2101847"/>
          </a:xfrm>
        </p:grpSpPr>
        <p:sp>
          <p:nvSpPr>
            <p:cNvPr id="22" name="Rectangle 21"/>
            <p:cNvSpPr/>
            <p:nvPr/>
          </p:nvSpPr>
          <p:spPr>
            <a:xfrm>
              <a:off x="407815" y="3556101"/>
              <a:ext cx="1613086" cy="209288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t">
              <a:spAutoFit/>
            </a:bodyPr>
            <a:lstStyle/>
            <a:p>
              <a:pPr marL="108000" indent="-108000"/>
              <a:r>
                <a:rPr lang="nl-NL" sz="1300" u="sng" dirty="0" smtClean="0">
                  <a:solidFill>
                    <a:schemeClr val="accent3">
                      <a:lumMod val="75000"/>
                    </a:schemeClr>
                  </a:solidFill>
                </a:rPr>
                <a:t>Engines</a:t>
              </a:r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:</a:t>
              </a:r>
              <a:endParaRPr lang="en-US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pPr marL="108000" indent="-108000">
                <a:buFont typeface="Arial" pitchFamily="34" charset="0"/>
                <a:buChar char="•"/>
              </a:pPr>
              <a:r>
                <a:rPr lang="en-US" sz="1300" dirty="0" smtClean="0">
                  <a:solidFill>
                    <a:schemeClr val="accent3">
                      <a:lumMod val="75000"/>
                    </a:schemeClr>
                  </a:solidFill>
                </a:rPr>
                <a:t>Geomec</a:t>
              </a:r>
            </a:p>
            <a:p>
              <a:pPr marL="108000" indent="-108000">
                <a:buFont typeface="Arial" pitchFamily="34" charset="0"/>
                <a:buChar char="•"/>
              </a:pPr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QuickBlocks</a:t>
              </a:r>
            </a:p>
            <a:p>
              <a:pPr marL="108000" indent="-108000">
                <a:buFont typeface="Arial" pitchFamily="34" charset="0"/>
                <a:buChar char="•"/>
              </a:pPr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Geertsma</a:t>
              </a:r>
            </a:p>
            <a:p>
              <a:pPr marL="108000" indent="-108000">
                <a:buFont typeface="Arial" pitchFamily="34" charset="0"/>
                <a:buChar char="•"/>
              </a:pPr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User defined</a:t>
              </a:r>
            </a:p>
            <a:p>
              <a:pPr marL="108000" indent="-108000"/>
              <a:endParaRPr lang="nl-NL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pPr marL="108000" indent="-108000"/>
              <a:r>
                <a:rPr lang="nl-NL" sz="1300" u="sng" dirty="0" smtClean="0">
                  <a:solidFill>
                    <a:schemeClr val="accent3">
                      <a:lumMod val="75000"/>
                    </a:schemeClr>
                  </a:solidFill>
                </a:rPr>
                <a:t>Distributions</a:t>
              </a:r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:</a:t>
              </a:r>
            </a:p>
            <a:p>
              <a:pPr marL="108000" indent="-108000">
                <a:buFont typeface="Arial" pitchFamily="34" charset="0"/>
                <a:buChar char="•"/>
              </a:pPr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(Truncated) Normal</a:t>
              </a:r>
            </a:p>
            <a:p>
              <a:pPr marL="108000" indent="-108000">
                <a:buFont typeface="Arial" pitchFamily="34" charset="0"/>
                <a:buChar char="•"/>
              </a:pPr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Lognormal</a:t>
              </a:r>
            </a:p>
            <a:p>
              <a:pPr marL="108000" indent="-108000">
                <a:buFont typeface="Arial" pitchFamily="34" charset="0"/>
                <a:buChar char="•"/>
              </a:pPr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Uniform</a:t>
              </a:r>
              <a:endParaRPr lang="en-GB" sz="1300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24" name="Rectangle 23"/>
            <p:cNvSpPr>
              <a:spLocks/>
            </p:cNvSpPr>
            <p:nvPr/>
          </p:nvSpPr>
          <p:spPr>
            <a:xfrm>
              <a:off x="2100848" y="3556101"/>
              <a:ext cx="1633592" cy="209288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t">
              <a:spAutoFit/>
            </a:bodyPr>
            <a:lstStyle/>
            <a:p>
              <a:r>
                <a:rPr lang="nl-NL" sz="1300" u="sng" dirty="0" smtClean="0">
                  <a:solidFill>
                    <a:schemeClr val="accent3">
                      <a:lumMod val="75000"/>
                    </a:schemeClr>
                  </a:solidFill>
                </a:rPr>
                <a:t>Proxy functions</a:t>
              </a:r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:</a:t>
              </a:r>
              <a:endParaRPr lang="en-US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pPr>
                <a:buFont typeface="Arial" pitchFamily="34" charset="0"/>
                <a:buChar char="•"/>
              </a:pPr>
              <a:r>
                <a:rPr lang="en-US" sz="1300" dirty="0" smtClean="0">
                  <a:solidFill>
                    <a:schemeClr val="accent3">
                      <a:lumMod val="75000"/>
                    </a:schemeClr>
                  </a:solidFill>
                </a:rPr>
                <a:t> First order P10-P50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300" dirty="0" smtClean="0">
                  <a:solidFill>
                    <a:schemeClr val="accent3">
                      <a:lumMod val="75000"/>
                    </a:schemeClr>
                  </a:solidFill>
                </a:rPr>
                <a:t> First order P50-P90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300" dirty="0" smtClean="0">
                  <a:solidFill>
                    <a:schemeClr val="accent3">
                      <a:lumMod val="75000"/>
                    </a:schemeClr>
                  </a:solidFill>
                </a:rPr>
                <a:t> First order double</a:t>
              </a:r>
            </a:p>
            <a:p>
              <a:pPr>
                <a:buFont typeface="Arial" pitchFamily="34" charset="0"/>
                <a:buChar char="•"/>
              </a:pPr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 Second order</a:t>
              </a:r>
            </a:p>
            <a:p>
              <a:pPr>
                <a:buFont typeface="Arial" pitchFamily="34" charset="0"/>
                <a:buChar char="•"/>
              </a:pPr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 Experimental design</a:t>
              </a:r>
            </a:p>
            <a:p>
              <a:endParaRPr lang="nl-NL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endParaRPr lang="nl-NL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endParaRPr lang="en-US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endParaRPr lang="en-US" sz="1300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25" name="Rectangle 24"/>
            <p:cNvSpPr>
              <a:spLocks/>
            </p:cNvSpPr>
            <p:nvPr/>
          </p:nvSpPr>
          <p:spPr>
            <a:xfrm>
              <a:off x="3788230" y="3548415"/>
              <a:ext cx="1582910" cy="209288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t">
              <a:spAutoFit/>
            </a:bodyPr>
            <a:lstStyle/>
            <a:p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Scenario table</a:t>
              </a:r>
              <a:endParaRPr lang="en-US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r>
                <a:rPr lang="en-US" sz="1300" dirty="0" smtClean="0">
                  <a:solidFill>
                    <a:schemeClr val="accent3">
                      <a:lumMod val="75000"/>
                    </a:schemeClr>
                  </a:solidFill>
                </a:rPr>
                <a:t>Tornado plot</a:t>
              </a:r>
            </a:p>
            <a:p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Coefficients plot</a:t>
              </a:r>
            </a:p>
            <a:p>
              <a:endParaRPr lang="nl-NL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endParaRPr lang="nl-NL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endParaRPr lang="nl-NL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endParaRPr lang="nl-NL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endParaRPr lang="nl-NL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endParaRPr lang="nl-NL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endParaRPr lang="en-US" sz="1300" dirty="0" smtClean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5432612" y="3556100"/>
              <a:ext cx="1621331" cy="209288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t">
              <a:spAutoFit/>
            </a:bodyPr>
            <a:lstStyle/>
            <a:p>
              <a:pPr marL="108000" indent="-108000"/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On engine, proxy or mixed mode</a:t>
              </a:r>
            </a:p>
            <a:p>
              <a:pPr marL="108000" indent="-108000"/>
              <a:endParaRPr lang="en-US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en-US" sz="1300" dirty="0" smtClean="0">
                  <a:solidFill>
                    <a:schemeClr val="accent3">
                      <a:lumMod val="75000"/>
                    </a:schemeClr>
                  </a:solidFill>
                </a:rPr>
                <a:t>Crude Monte Carlo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MC Importance sampling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MC Directional sampling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FORM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endParaRPr lang="nl-NL" sz="1300" dirty="0" smtClean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7115416" y="3547135"/>
              <a:ext cx="1573946" cy="209288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t">
              <a:spAutoFit/>
            </a:bodyPr>
            <a:lstStyle/>
            <a:p>
              <a:pPr marL="108000" indent="-108000"/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Component reliability</a:t>
              </a:r>
            </a:p>
            <a:p>
              <a:pPr marL="108000" indent="-108000"/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System reliability</a:t>
              </a:r>
            </a:p>
            <a:p>
              <a:pPr marL="108000" indent="-108000"/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Design point</a:t>
              </a:r>
            </a:p>
            <a:p>
              <a:pPr marL="108000" indent="-108000"/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Fragility curve</a:t>
              </a:r>
            </a:p>
            <a:p>
              <a:pPr marL="108000" indent="-108000"/>
              <a:r>
                <a:rPr lang="nl-NL" sz="1300" dirty="0" smtClean="0">
                  <a:solidFill>
                    <a:schemeClr val="accent3">
                      <a:lumMod val="75000"/>
                    </a:schemeClr>
                  </a:solidFill>
                </a:rPr>
                <a:t>Sampling data</a:t>
              </a:r>
            </a:p>
            <a:p>
              <a:pPr marL="108000" indent="-108000"/>
              <a:endParaRPr lang="nl-NL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pPr marL="108000" indent="-108000"/>
              <a:endParaRPr lang="nl-NL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pPr marL="108000" indent="-108000"/>
              <a:endParaRPr lang="nl-NL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pPr marL="108000" indent="-108000"/>
              <a:endParaRPr lang="nl-NL" sz="1300" dirty="0" smtClean="0">
                <a:solidFill>
                  <a:schemeClr val="accent3">
                    <a:lumMod val="75000"/>
                  </a:schemeClr>
                </a:solidFill>
              </a:endParaRPr>
            </a:p>
            <a:p>
              <a:pPr marL="108000" indent="-108000"/>
              <a:endParaRPr lang="en-US" sz="1300" dirty="0" smtClean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p:sp>
        <p:nvSpPr>
          <p:cNvPr id="14" name="Content Placeholder 8"/>
          <p:cNvSpPr txBox="1">
            <a:spLocks/>
          </p:cNvSpPr>
          <p:nvPr/>
        </p:nvSpPr>
        <p:spPr bwMode="auto">
          <a:xfrm>
            <a:off x="699247" y="998925"/>
            <a:ext cx="7978027" cy="53844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6828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Approach:</a:t>
            </a:r>
          </a:p>
        </p:txBody>
      </p:sp>
    </p:spTree>
    <p:extLst>
      <p:ext uri="{BB962C8B-B14F-4D97-AF65-F5344CB8AC3E}">
        <p14:creationId xmlns:p14="http://schemas.microsoft.com/office/powerpoint/2010/main" val="39137358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General workflow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sz="1800" dirty="0" smtClean="0"/>
              <a:t>The suggested workflow is indicated by the sequence of sheets.</a:t>
            </a:r>
          </a:p>
          <a:p>
            <a:endParaRPr lang="en-GB" sz="1800" dirty="0" smtClean="0"/>
          </a:p>
          <a:p>
            <a:endParaRPr lang="en-GB" sz="1800" dirty="0" smtClean="0"/>
          </a:p>
          <a:p>
            <a:pPr marL="457200" indent="-457200">
              <a:buFont typeface="+mj-lt"/>
              <a:buAutoNum type="arabicPeriod"/>
            </a:pPr>
            <a:r>
              <a:rPr lang="en-GB" sz="1800" dirty="0" smtClean="0"/>
              <a:t>Define your model according to specifications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 smtClean="0"/>
              <a:t>Open CORA project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 smtClean="0"/>
              <a:t>Define uncertainties &amp; failure model; check input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 smtClean="0"/>
              <a:t>Use </a:t>
            </a:r>
            <a:r>
              <a:rPr lang="en-GB" sz="1800" dirty="0" err="1" smtClean="0"/>
              <a:t>quickscreening</a:t>
            </a:r>
            <a:r>
              <a:rPr lang="en-GB" sz="1800" dirty="0" smtClean="0"/>
              <a:t> to select key uncertainties and failure mechanisms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 smtClean="0"/>
              <a:t>Do reliability analysis with </a:t>
            </a:r>
            <a:r>
              <a:rPr lang="en-GB" sz="1800" dirty="0"/>
              <a:t>o</a:t>
            </a:r>
            <a:r>
              <a:rPr lang="en-GB" sz="1800" dirty="0" smtClean="0"/>
              <a:t>r without </a:t>
            </a:r>
            <a:r>
              <a:rPr lang="en-GB" sz="1800" dirty="0" err="1" smtClean="0"/>
              <a:t>proxys</a:t>
            </a:r>
            <a:endParaRPr lang="en-GB" sz="1800" dirty="0" smtClean="0"/>
          </a:p>
          <a:p>
            <a:pPr marL="457200" indent="-457200">
              <a:buFont typeface="+mj-lt"/>
              <a:buAutoNum type="arabicPeriod"/>
            </a:pPr>
            <a:endParaRPr lang="en-GB" sz="1800" dirty="0"/>
          </a:p>
          <a:p>
            <a:r>
              <a:rPr lang="en-GB" sz="1800" dirty="0" smtClean="0"/>
              <a:t>Methodologies in CORA such as PDFs and reliability methodology, including input description, can be found in </a:t>
            </a:r>
            <a:r>
              <a:rPr lang="en-GB" sz="1800" dirty="0" smtClean="0">
                <a:hlinkClick r:id="rId2" action="ppaction://hlinkpres?slideindex=1&amp;slidetitle="/>
              </a:rPr>
              <a:t>CORA methodologies.pptx</a:t>
            </a:r>
            <a:endParaRPr lang="en-GB" sz="1800" dirty="0" smtClean="0"/>
          </a:p>
          <a:p>
            <a:pPr marL="0" lvl="1" indent="0">
              <a:buNone/>
            </a:pPr>
            <a:r>
              <a:rPr lang="en-GB" sz="1800" dirty="0" smtClean="0"/>
              <a:t>Note: general name convention: </a:t>
            </a:r>
            <a:r>
              <a:rPr lang="en-GB" sz="1800" dirty="0"/>
              <a:t>avoid characters like </a:t>
            </a:r>
            <a:r>
              <a:rPr lang="en-GB" sz="1800" dirty="0" smtClean="0"/>
              <a:t>.,(). This may lead to unexpected results</a:t>
            </a:r>
            <a:endParaRPr lang="en-GB" sz="1800" dirty="0"/>
          </a:p>
          <a:p>
            <a:endParaRPr lang="en-GB" sz="1800" dirty="0" smtClean="0"/>
          </a:p>
          <a:p>
            <a:pPr marL="457200" indent="-457200">
              <a:buFont typeface="+mj-lt"/>
              <a:buAutoNum type="arabicPeriod"/>
            </a:pPr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96" y="1842034"/>
            <a:ext cx="7350826" cy="34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Define CORA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380008" y="1062826"/>
            <a:ext cx="5506442" cy="3956849"/>
          </a:xfrm>
        </p:spPr>
        <p:txBody>
          <a:bodyPr/>
          <a:lstStyle/>
          <a:p>
            <a:r>
              <a:rPr lang="en-GB" sz="1800" dirty="0" smtClean="0"/>
              <a:t>The CORA model including base case file, objects of failure and failure mechanism are defined here.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1</a:t>
            </a:r>
            <a:r>
              <a:rPr lang="en-GB" sz="1800" dirty="0" smtClean="0"/>
              <a:t>: Choose your engine</a:t>
            </a:r>
          </a:p>
          <a:p>
            <a:r>
              <a:rPr lang="en-GB" sz="1800" i="1" dirty="0" smtClean="0">
                <a:solidFill>
                  <a:srgbClr val="FF0000"/>
                </a:solidFill>
              </a:rPr>
              <a:t>Step 2</a:t>
            </a:r>
            <a:r>
              <a:rPr lang="en-GB" sz="1800" i="1" dirty="0" smtClean="0"/>
              <a:t>: </a:t>
            </a:r>
            <a:r>
              <a:rPr lang="en-GB" sz="1800" i="1" dirty="0" err="1" smtClean="0"/>
              <a:t>UserModel</a:t>
            </a:r>
            <a:r>
              <a:rPr lang="en-GB" sz="1800" i="1" dirty="0" smtClean="0"/>
              <a:t> &amp; Geomec: Browse and select model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3</a:t>
            </a:r>
            <a:r>
              <a:rPr lang="en-GB" sz="1800" dirty="0" smtClean="0"/>
              <a:t>: Select </a:t>
            </a:r>
            <a:r>
              <a:rPr lang="en-GB" sz="1800" dirty="0" smtClean="0"/>
              <a:t>component </a:t>
            </a:r>
            <a:r>
              <a:rPr lang="en-GB" sz="1800" dirty="0" smtClean="0"/>
              <a:t>type and </a:t>
            </a:r>
            <a:r>
              <a:rPr lang="en-GB" sz="1800" dirty="0" smtClean="0"/>
              <a:t>failure mechanism</a:t>
            </a:r>
            <a:endParaRPr lang="en-GB" sz="1800" dirty="0" smtClean="0"/>
          </a:p>
          <a:p>
            <a:r>
              <a:rPr lang="en-GB" sz="1800" dirty="0" smtClean="0">
                <a:solidFill>
                  <a:srgbClr val="FF0000"/>
                </a:solidFill>
              </a:rPr>
              <a:t>Step 4</a:t>
            </a:r>
            <a:r>
              <a:rPr lang="en-GB" sz="1800" dirty="0" smtClean="0"/>
              <a:t>: Give a </a:t>
            </a:r>
            <a:r>
              <a:rPr lang="en-GB" sz="1800" dirty="0" smtClean="0"/>
              <a:t>&lt;Component </a:t>
            </a:r>
            <a:r>
              <a:rPr lang="en-GB" sz="1800" dirty="0" smtClean="0"/>
              <a:t>name&gt; (name will be used as indicator throughout analysis)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5</a:t>
            </a:r>
            <a:r>
              <a:rPr lang="en-GB" sz="1800" dirty="0" smtClean="0"/>
              <a:t>: </a:t>
            </a:r>
            <a:r>
              <a:rPr lang="en-GB" sz="1800" b="1" dirty="0" smtClean="0"/>
              <a:t>Press &lt;Add&gt;. </a:t>
            </a:r>
            <a:r>
              <a:rPr lang="en-GB" sz="1800" dirty="0" smtClean="0"/>
              <a:t>Repeat </a:t>
            </a:r>
            <a:r>
              <a:rPr lang="en-GB" sz="1800" dirty="0" smtClean="0"/>
              <a:t>3-5 </a:t>
            </a:r>
            <a:r>
              <a:rPr lang="en-GB" sz="1800" dirty="0" smtClean="0"/>
              <a:t>until ready</a:t>
            </a:r>
          </a:p>
          <a:p>
            <a:r>
              <a:rPr lang="en-GB" sz="1800" dirty="0">
                <a:solidFill>
                  <a:srgbClr val="FF0000"/>
                </a:solidFill>
              </a:rPr>
              <a:t>Step </a:t>
            </a:r>
            <a:r>
              <a:rPr lang="en-GB" sz="1800" dirty="0" smtClean="0">
                <a:solidFill>
                  <a:srgbClr val="FF0000"/>
                </a:solidFill>
              </a:rPr>
              <a:t>6</a:t>
            </a:r>
            <a:r>
              <a:rPr lang="en-GB" sz="1800" dirty="0" smtClean="0"/>
              <a:t>: </a:t>
            </a:r>
            <a:r>
              <a:rPr lang="en-GB" sz="1800" dirty="0"/>
              <a:t>Press </a:t>
            </a:r>
            <a:r>
              <a:rPr lang="en-GB" sz="1800" dirty="0" smtClean="0"/>
              <a:t>&lt;Done&gt;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80008" y="5303817"/>
            <a:ext cx="8438511" cy="9780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268288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1463" indent="-271463" algn="l" defTabSz="268288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0850" indent="-180975" algn="l" defTabSz="268288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itchFamily="2" charset="2"/>
              <a:buChar char="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1825" indent="-177800" algn="l" defTabSz="268288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itchFamily="2" charset="2"/>
              <a:buChar char="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1213" indent="-173038" algn="l" defTabSz="268288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itchFamily="2" charset="2"/>
              <a:buChar char="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89013" indent="-177800" algn="l" defTabSz="268288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itchFamily="2" charset="2"/>
              <a:buChar char="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 smtClean="0"/>
              <a:t>Note 1: failure mechanisms can also be added in the table directly after loading one mechanism. </a:t>
            </a:r>
          </a:p>
          <a:p>
            <a:r>
              <a:rPr lang="en-GB" sz="1600" dirty="0" smtClean="0"/>
              <a:t>Note 2: Add all mechanisms you want to include as you cannot add them later without cleaning subsequent sheets.</a:t>
            </a:r>
            <a:endParaRPr lang="en-GB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717" y="1209675"/>
            <a:ext cx="2643802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Define </a:t>
            </a:r>
            <a:r>
              <a:rPr lang="en-GB" dirty="0" err="1" smtClean="0"/>
              <a:t>basecase</a:t>
            </a:r>
            <a:r>
              <a:rPr lang="en-GB" dirty="0" smtClean="0"/>
              <a:t> and uncertainties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526502" y="944067"/>
            <a:ext cx="7750599" cy="3176672"/>
          </a:xfrm>
        </p:spPr>
        <p:txBody>
          <a:bodyPr/>
          <a:lstStyle/>
          <a:p>
            <a:r>
              <a:rPr lang="en-GB" sz="1800" dirty="0" smtClean="0">
                <a:solidFill>
                  <a:srgbClr val="FF0000"/>
                </a:solidFill>
              </a:rPr>
              <a:t>Step 1</a:t>
            </a:r>
            <a:r>
              <a:rPr lang="en-GB" sz="1800" dirty="0" smtClean="0"/>
              <a:t>: Fill in calculation path and number of parallel threads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2</a:t>
            </a:r>
            <a:r>
              <a:rPr lang="en-GB" sz="1800" dirty="0" smtClean="0"/>
              <a:t>: Fill in the base case values (default deterministic)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3</a:t>
            </a:r>
            <a:r>
              <a:rPr lang="en-GB" sz="1800" dirty="0" smtClean="0"/>
              <a:t>: Define the uncertainty distributions and </a:t>
            </a:r>
            <a:r>
              <a:rPr lang="en-GB" sz="1800" dirty="0" smtClean="0"/>
              <a:t>correlations</a:t>
            </a:r>
            <a:endParaRPr lang="en-GB" sz="1800" dirty="0" smtClean="0"/>
          </a:p>
          <a:p>
            <a:r>
              <a:rPr lang="en-GB" sz="1800" dirty="0" smtClean="0">
                <a:solidFill>
                  <a:srgbClr val="FF0000"/>
                </a:solidFill>
              </a:rPr>
              <a:t>Step 4</a:t>
            </a:r>
            <a:r>
              <a:rPr lang="en-GB" sz="1800" dirty="0" smtClean="0"/>
              <a:t>: Define min, max and step size for the control parameters (reliability analysis) when wanted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5</a:t>
            </a:r>
            <a:r>
              <a:rPr lang="en-GB" sz="1800" dirty="0" smtClean="0"/>
              <a:t>: When satisfied press &lt;Validate and continue&gt;</a:t>
            </a:r>
          </a:p>
          <a:p>
            <a:r>
              <a:rPr lang="en-GB" sz="1600" dirty="0" smtClean="0"/>
              <a:t>Note: Upon validation the calculation folder is made and settings are saved.</a:t>
            </a:r>
          </a:p>
          <a:p>
            <a:endParaRPr lang="en-GB" sz="1400" dirty="0" smtClean="0"/>
          </a:p>
          <a:p>
            <a:endParaRPr lang="en-GB" sz="1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23" y="3752849"/>
            <a:ext cx="6684452" cy="259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New Correlations input screen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37" y="1057275"/>
            <a:ext cx="8229600" cy="1990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7"/>
          <p:cNvSpPr/>
          <p:nvPr/>
        </p:nvSpPr>
        <p:spPr>
          <a:xfrm>
            <a:off x="3490850" y="937038"/>
            <a:ext cx="1728849" cy="665018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38" y="3571875"/>
            <a:ext cx="8350597" cy="186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own Arrow 6"/>
          <p:cNvSpPr/>
          <p:nvPr/>
        </p:nvSpPr>
        <p:spPr>
          <a:xfrm>
            <a:off x="4016086" y="3152774"/>
            <a:ext cx="1028699" cy="35242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259796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Add correlations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403761" y="1045029"/>
            <a:ext cx="8273513" cy="5338309"/>
          </a:xfrm>
        </p:spPr>
        <p:txBody>
          <a:bodyPr/>
          <a:lstStyle/>
          <a:p>
            <a:pPr lvl="1"/>
            <a:r>
              <a:rPr lang="en-GB" sz="1800" dirty="0" smtClean="0"/>
              <a:t>Correlations are added by pressing &lt;Correlation matrix&gt;. </a:t>
            </a:r>
            <a:endParaRPr lang="en-GB" sz="1800" dirty="0" smtClean="0"/>
          </a:p>
          <a:p>
            <a:pPr lvl="1"/>
            <a:r>
              <a:rPr lang="en-GB" sz="1800" dirty="0" smtClean="0"/>
              <a:t>You </a:t>
            </a:r>
            <a:r>
              <a:rPr lang="en-GB" sz="1800" dirty="0" smtClean="0"/>
              <a:t>can move columns to fit to view. </a:t>
            </a:r>
            <a:endParaRPr lang="en-GB" sz="1800" dirty="0" smtClean="0"/>
          </a:p>
          <a:p>
            <a:pPr lvl="1"/>
            <a:r>
              <a:rPr lang="en-GB" sz="1800" dirty="0" smtClean="0"/>
              <a:t>Numbers </a:t>
            </a:r>
            <a:r>
              <a:rPr lang="en-GB" sz="1800" dirty="0" smtClean="0"/>
              <a:t>are entered </a:t>
            </a:r>
            <a:r>
              <a:rPr lang="en-GB" sz="1800" dirty="0" smtClean="0"/>
              <a:t>in the green areas.</a:t>
            </a:r>
          </a:p>
          <a:p>
            <a:pPr lvl="1"/>
            <a:r>
              <a:rPr lang="en-GB" sz="1800" dirty="0" smtClean="0"/>
              <a:t>Numbers are stored after pressing &lt;Save Correlation&gt;.</a:t>
            </a:r>
          </a:p>
          <a:p>
            <a:pPr lvl="1"/>
            <a:endParaRPr lang="en-GB" sz="1800" dirty="0"/>
          </a:p>
          <a:p>
            <a:pPr lvl="1"/>
            <a:endParaRPr lang="en-GB" sz="1800" dirty="0" smtClean="0"/>
          </a:p>
          <a:p>
            <a:pPr lvl="1"/>
            <a:endParaRPr lang="en-GB" sz="1800" dirty="0"/>
          </a:p>
          <a:p>
            <a:pPr lvl="1"/>
            <a:endParaRPr lang="en-GB" sz="1800" dirty="0" smtClean="0"/>
          </a:p>
          <a:p>
            <a:pPr lvl="1"/>
            <a:endParaRPr lang="en-GB" sz="1800" dirty="0"/>
          </a:p>
          <a:p>
            <a:pPr lvl="1"/>
            <a:endParaRPr lang="en-GB" sz="1800" dirty="0" smtClean="0"/>
          </a:p>
          <a:p>
            <a:pPr marL="0" lvl="1" indent="0">
              <a:buNone/>
            </a:pPr>
            <a:r>
              <a:rPr lang="en-GB" sz="1600" dirty="0" smtClean="0"/>
              <a:t>Note: </a:t>
            </a:r>
          </a:p>
          <a:p>
            <a:pPr lvl="1"/>
            <a:r>
              <a:rPr lang="en-GB" sz="1600" dirty="0" smtClean="0"/>
              <a:t>The upper right side of the matrix is automatically filled by CORA kernel.</a:t>
            </a:r>
          </a:p>
          <a:p>
            <a:pPr lvl="1"/>
            <a:r>
              <a:rPr lang="en-GB" sz="1600" dirty="0" smtClean="0"/>
              <a:t>The correlation matrix is required to be positive definite. This can be challenging when having multiple (&gt; 2) </a:t>
            </a:r>
            <a:r>
              <a:rPr lang="en-GB" sz="1600" dirty="0" err="1" smtClean="0"/>
              <a:t>stochasts</a:t>
            </a:r>
            <a:r>
              <a:rPr lang="en-GB" sz="1600" dirty="0" smtClean="0"/>
              <a:t> correlated</a:t>
            </a:r>
            <a:endParaRPr lang="en-GB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2938464"/>
            <a:ext cx="8344056" cy="179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921451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en-GB" dirty="0" smtClean="0"/>
              <a:t>On model sheet:</a:t>
            </a:r>
          </a:p>
          <a:p>
            <a:pPr lvl="1"/>
            <a:r>
              <a:rPr lang="en-GB" dirty="0" smtClean="0"/>
              <a:t>Export single distributions to csv and view in tab &lt;csv viewer&gt;</a:t>
            </a:r>
          </a:p>
          <a:p>
            <a:pPr lvl="1"/>
            <a:r>
              <a:rPr lang="en-GB" dirty="0" smtClean="0"/>
              <a:t>&lt;Not yet available&gt; Export correlations to csv </a:t>
            </a:r>
          </a:p>
          <a:p>
            <a:pPr marL="0" lvl="1" indent="0">
              <a:buNone/>
            </a:pPr>
            <a:endParaRPr lang="en-GB" dirty="0" smtClean="0"/>
          </a:p>
          <a:p>
            <a:pPr marL="0" lvl="1" indent="0">
              <a:buNone/>
            </a:pPr>
            <a:endParaRPr lang="en-GB" dirty="0"/>
          </a:p>
          <a:p>
            <a:pPr marL="0" lvl="1" indent="0">
              <a:buNone/>
            </a:pPr>
            <a:endParaRPr lang="en-GB" dirty="0" smtClean="0"/>
          </a:p>
          <a:p>
            <a:pPr marL="0" lvl="1" indent="0">
              <a:buNone/>
            </a:pPr>
            <a:endParaRPr lang="en-GB" dirty="0" smtClean="0"/>
          </a:p>
          <a:p>
            <a:pPr marL="0" lvl="1" indent="0">
              <a:buNone/>
            </a:pPr>
            <a:r>
              <a:rPr lang="en-GB" dirty="0" smtClean="0"/>
              <a:t>On Scenario sheet</a:t>
            </a:r>
          </a:p>
          <a:p>
            <a:pPr lvl="1"/>
            <a:r>
              <a:rPr lang="en-GB" dirty="0" smtClean="0"/>
              <a:t>Do a double order proxy &lt;Scenario Table&gt; to check ranges of values used</a:t>
            </a:r>
          </a:p>
          <a:p>
            <a:pPr lvl="1"/>
            <a:endParaRPr lang="en-GB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2842040"/>
            <a:ext cx="6191250" cy="1375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Check distributions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9" name="Oval 8"/>
          <p:cNvSpPr/>
          <p:nvPr/>
        </p:nvSpPr>
        <p:spPr>
          <a:xfrm>
            <a:off x="1162050" y="2718213"/>
            <a:ext cx="1695450" cy="615537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806" y="2461040"/>
            <a:ext cx="2402019" cy="1348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ight Arrow 9"/>
          <p:cNvSpPr/>
          <p:nvPr/>
        </p:nvSpPr>
        <p:spPr>
          <a:xfrm>
            <a:off x="6638925" y="3596206"/>
            <a:ext cx="361950" cy="16296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403921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Quick Screening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605642" y="1021279"/>
            <a:ext cx="8063345" cy="5362060"/>
          </a:xfrm>
        </p:spPr>
        <p:txBody>
          <a:bodyPr/>
          <a:lstStyle/>
          <a:p>
            <a:r>
              <a:rPr lang="en-GB" sz="1800" dirty="0" smtClean="0"/>
              <a:t>Now the iterative process of quick screening starts. Here different proxy functions can be chosen to have a feeling of impact of uncertainties on different failure mechanisms. </a:t>
            </a:r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 smtClean="0"/>
          </a:p>
          <a:p>
            <a:endParaRPr lang="en-GB" sz="1800" dirty="0" smtClean="0"/>
          </a:p>
          <a:p>
            <a:pPr lvl="1"/>
            <a:r>
              <a:rPr lang="en-GB" sz="1800" dirty="0" smtClean="0">
                <a:solidFill>
                  <a:srgbClr val="FF0000"/>
                </a:solidFill>
              </a:rPr>
              <a:t>Step 1: </a:t>
            </a:r>
            <a:r>
              <a:rPr lang="en-GB" sz="1800" dirty="0" smtClean="0"/>
              <a:t>Calculate appropriate proxy</a:t>
            </a:r>
          </a:p>
          <a:p>
            <a:pPr lvl="1"/>
            <a:r>
              <a:rPr lang="en-GB" sz="1800" dirty="0" smtClean="0">
                <a:solidFill>
                  <a:srgbClr val="FF0000"/>
                </a:solidFill>
              </a:rPr>
              <a:t>Step 2:</a:t>
            </a:r>
            <a:r>
              <a:rPr lang="en-GB" sz="1800" dirty="0" smtClean="0"/>
              <a:t> Explore the results in values </a:t>
            </a:r>
          </a:p>
          <a:p>
            <a:pPr marL="0" lvl="1" indent="0">
              <a:buNone/>
            </a:pPr>
            <a:r>
              <a:rPr lang="en-GB" sz="1800" dirty="0"/>
              <a:t>	</a:t>
            </a:r>
            <a:r>
              <a:rPr lang="en-GB" sz="1800" dirty="0" smtClean="0"/>
              <a:t>and plots on </a:t>
            </a:r>
            <a:r>
              <a:rPr lang="en-GB" sz="1800" dirty="0"/>
              <a:t>the </a:t>
            </a:r>
            <a:r>
              <a:rPr lang="en-GB" sz="1800" dirty="0" smtClean="0"/>
              <a:t>&lt;Scenario Results&gt;</a:t>
            </a:r>
          </a:p>
          <a:p>
            <a:pPr marL="0" lvl="1" indent="0">
              <a:buNone/>
            </a:pPr>
            <a:endParaRPr lang="en-GB" sz="1800" dirty="0"/>
          </a:p>
          <a:p>
            <a:pPr marL="0" lvl="1" indent="0">
              <a:buNone/>
            </a:pPr>
            <a:r>
              <a:rPr lang="en-GB" sz="1600" dirty="0" smtClean="0"/>
              <a:t>Note 1: Use a norm to include/ exclude parameters</a:t>
            </a:r>
          </a:p>
          <a:p>
            <a:pPr marL="0" lvl="1" indent="0">
              <a:buNone/>
            </a:pPr>
            <a:r>
              <a:rPr lang="en-GB" sz="1600" dirty="0" smtClean="0"/>
              <a:t>Note 2</a:t>
            </a:r>
            <a:r>
              <a:rPr lang="en-GB" sz="1600" dirty="0"/>
              <a:t>: You can rerun the cases to save them to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526" y="3562413"/>
            <a:ext cx="3140836" cy="3095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34" y="2063525"/>
            <a:ext cx="8615362" cy="130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Reliability Analysis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457200" y="952501"/>
            <a:ext cx="8220075" cy="5430838"/>
          </a:xfrm>
        </p:spPr>
        <p:txBody>
          <a:bodyPr/>
          <a:lstStyle/>
          <a:p>
            <a:r>
              <a:rPr lang="en-GB" sz="1800" dirty="0" smtClean="0"/>
              <a:t>Reliability analysis can be performed with the engine or proxy with possibly engine runs near failure. </a:t>
            </a:r>
          </a:p>
          <a:p>
            <a:r>
              <a:rPr lang="en-GB" sz="1600" dirty="0" smtClean="0">
                <a:solidFill>
                  <a:srgbClr val="FF0000"/>
                </a:solidFill>
              </a:rPr>
              <a:t>Step 1:</a:t>
            </a:r>
            <a:r>
              <a:rPr lang="en-GB" sz="1600" dirty="0" smtClean="0"/>
              <a:t> </a:t>
            </a:r>
            <a:r>
              <a:rPr lang="en-GB" sz="1600" dirty="0"/>
              <a:t>Select &lt;Run engine&gt; or &lt;Run proxy</a:t>
            </a:r>
            <a:r>
              <a:rPr lang="en-GB" sz="1600" dirty="0" smtClean="0"/>
              <a:t>&gt;.</a:t>
            </a:r>
          </a:p>
          <a:p>
            <a:r>
              <a:rPr lang="en-GB" sz="1600" dirty="0" smtClean="0">
                <a:solidFill>
                  <a:srgbClr val="FF0000"/>
                </a:solidFill>
              </a:rPr>
              <a:t>Step </a:t>
            </a:r>
            <a:r>
              <a:rPr lang="en-GB" sz="1600" dirty="0">
                <a:solidFill>
                  <a:srgbClr val="FF0000"/>
                </a:solidFill>
              </a:rPr>
              <a:t>2: </a:t>
            </a:r>
            <a:r>
              <a:rPr lang="en-GB" sz="1600" dirty="0"/>
              <a:t>Select components of interest and give limit value (range</a:t>
            </a:r>
            <a:r>
              <a:rPr lang="en-GB" sz="1600" dirty="0" smtClean="0"/>
              <a:t>). In case of &lt; Run proxy&gt; the threshold should be given at which the engine is called. Threshold of 0 means no engine runs</a:t>
            </a:r>
          </a:p>
          <a:p>
            <a:r>
              <a:rPr lang="en-GB" sz="1600" dirty="0" smtClean="0">
                <a:solidFill>
                  <a:srgbClr val="FF0000"/>
                </a:solidFill>
              </a:rPr>
              <a:t>Step 3: </a:t>
            </a:r>
            <a:r>
              <a:rPr lang="en-GB" sz="1600" dirty="0" smtClean="0"/>
              <a:t>Choose the probabilistic methodology and set parameters.</a:t>
            </a:r>
          </a:p>
          <a:p>
            <a:r>
              <a:rPr lang="en-GB" sz="1600" dirty="0" smtClean="0">
                <a:solidFill>
                  <a:srgbClr val="FF0000"/>
                </a:solidFill>
              </a:rPr>
              <a:t>Step 4:</a:t>
            </a:r>
            <a:r>
              <a:rPr lang="en-GB" sz="1600" dirty="0" smtClean="0"/>
              <a:t> Check if &lt;Reliability results&gt; is empty. Run the analysis</a:t>
            </a:r>
          </a:p>
          <a:p>
            <a:r>
              <a:rPr lang="en-GB" sz="1600" dirty="0" smtClean="0">
                <a:solidFill>
                  <a:srgbClr val="FF0000"/>
                </a:solidFill>
              </a:rPr>
              <a:t>Step 5: </a:t>
            </a:r>
            <a:r>
              <a:rPr lang="en-GB" sz="1600" dirty="0" smtClean="0"/>
              <a:t>Check the results 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3886199"/>
            <a:ext cx="8727694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091587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Rerun option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906511" y="1312201"/>
            <a:ext cx="7453718" cy="5071137"/>
          </a:xfrm>
        </p:spPr>
        <p:txBody>
          <a:bodyPr/>
          <a:lstStyle/>
          <a:p>
            <a:r>
              <a:rPr lang="en-GB" sz="1800" dirty="0" smtClean="0"/>
              <a:t>The re-run option allows you to rerun cases of interest from the quick screening or reliability analysis in parallel mode.</a:t>
            </a:r>
          </a:p>
          <a:p>
            <a:endParaRPr lang="en-GB" sz="1800" dirty="0"/>
          </a:p>
          <a:p>
            <a:r>
              <a:rPr lang="en-GB" sz="1800" dirty="0" smtClean="0">
                <a:solidFill>
                  <a:srgbClr val="FF0000"/>
                </a:solidFill>
              </a:rPr>
              <a:t>Step 1: </a:t>
            </a:r>
            <a:r>
              <a:rPr lang="en-GB" sz="1800" dirty="0" smtClean="0"/>
              <a:t>Click the re-run button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2: </a:t>
            </a:r>
            <a:r>
              <a:rPr lang="en-GB" sz="1800" dirty="0" smtClean="0"/>
              <a:t>Select the csv file of the analysis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3: </a:t>
            </a:r>
            <a:r>
              <a:rPr lang="en-GB" sz="1800" dirty="0" smtClean="0"/>
              <a:t>Select the cases of interest and </a:t>
            </a:r>
          </a:p>
          <a:p>
            <a:r>
              <a:rPr lang="en-GB" sz="1800" dirty="0"/>
              <a:t>	</a:t>
            </a:r>
            <a:r>
              <a:rPr lang="en-GB" sz="1800" dirty="0" smtClean="0"/>
              <a:t>press &lt;Start Re-Run&gt;</a:t>
            </a:r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860" y="2271403"/>
            <a:ext cx="3584740" cy="3549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919936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Reliability Results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558141" y="878775"/>
            <a:ext cx="8119134" cy="5504564"/>
          </a:xfrm>
        </p:spPr>
        <p:txBody>
          <a:bodyPr/>
          <a:lstStyle/>
          <a:p>
            <a:pPr lvl="1"/>
            <a:r>
              <a:rPr lang="en-GB" dirty="0" smtClean="0"/>
              <a:t>During calculation:</a:t>
            </a:r>
          </a:p>
          <a:p>
            <a:pPr marL="269875" lvl="2" indent="0">
              <a:buNone/>
            </a:pPr>
            <a:r>
              <a:rPr lang="en-GB" dirty="0" smtClean="0"/>
              <a:t>The analysis can be traced via the log file and csv file. They are both regularly updated</a:t>
            </a:r>
          </a:p>
          <a:p>
            <a:pPr lvl="1"/>
            <a:r>
              <a:rPr lang="en-GB" dirty="0" smtClean="0"/>
              <a:t>After calculation the result will be loaded in the &lt;Reliability results&gt; sheet, namely:</a:t>
            </a:r>
          </a:p>
          <a:p>
            <a:pPr marL="636587" lvl="2" indent="-457200">
              <a:buFont typeface="+mj-lt"/>
              <a:buAutoNum type="arabicPeriod"/>
            </a:pPr>
            <a:r>
              <a:rPr lang="en-GB" dirty="0" smtClean="0"/>
              <a:t>Probability of failure per component and system failure</a:t>
            </a:r>
          </a:p>
          <a:p>
            <a:pPr marL="636587" lvl="2" indent="-457200">
              <a:buFont typeface="+mj-lt"/>
              <a:buAutoNum type="arabicPeriod"/>
            </a:pPr>
            <a:r>
              <a:rPr lang="en-GB" dirty="0" smtClean="0"/>
              <a:t>Design point and vector per component</a:t>
            </a:r>
          </a:p>
          <a:p>
            <a:pPr marL="636587" lvl="2" indent="-457200">
              <a:buFont typeface="+mj-lt"/>
              <a:buAutoNum type="arabicPeriod"/>
            </a:pPr>
            <a:endParaRPr lang="en-GB" dirty="0"/>
          </a:p>
          <a:p>
            <a:pPr marL="636587" lvl="2" indent="-457200">
              <a:buFont typeface="+mj-lt"/>
              <a:buAutoNum type="arabicPeriod"/>
            </a:pPr>
            <a:endParaRPr lang="en-GB" dirty="0" smtClean="0"/>
          </a:p>
          <a:p>
            <a:pPr marL="0" lvl="1" indent="0">
              <a:buNone/>
            </a:pPr>
            <a:endParaRPr lang="en-GB" dirty="0" smtClean="0"/>
          </a:p>
          <a:p>
            <a:pPr marL="0" lvl="1" indent="0">
              <a:buNone/>
            </a:pPr>
            <a:r>
              <a:rPr lang="en-GB" sz="1800" dirty="0" smtClean="0"/>
              <a:t>Note 1: The reliability results will indicate method used and settings</a:t>
            </a:r>
          </a:p>
          <a:p>
            <a:pPr marL="0" lvl="1" indent="0">
              <a:buNone/>
            </a:pPr>
            <a:r>
              <a:rPr lang="en-GB" sz="1800" dirty="0" smtClean="0"/>
              <a:t>Note 2: All samples and results are stored in the csv file and rerun of samples is possible.</a:t>
            </a:r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21" y="3909461"/>
            <a:ext cx="8676496" cy="960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158630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Fragility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514625" y="1039068"/>
            <a:ext cx="7809977" cy="4447331"/>
          </a:xfrm>
        </p:spPr>
        <p:txBody>
          <a:bodyPr/>
          <a:lstStyle/>
          <a:p>
            <a:r>
              <a:rPr lang="en-GB" sz="1800" dirty="0" smtClean="0"/>
              <a:t>Fragility describes how the outcome (probability of failure or allowable limit) changes with change of the design parameters. This can be calculated by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 smtClean="0"/>
              <a:t>Input an array for the allowable limit on the reliability sheet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 smtClean="0"/>
              <a:t>Input an array for model parameters on the model sheet</a:t>
            </a:r>
          </a:p>
          <a:p>
            <a:endParaRPr lang="en-GB" sz="1800" dirty="0" smtClean="0"/>
          </a:p>
          <a:p>
            <a:r>
              <a:rPr lang="en-GB" sz="1800" dirty="0" smtClean="0"/>
              <a:t>The result is a table which relates </a:t>
            </a:r>
          </a:p>
          <a:p>
            <a:r>
              <a:rPr lang="en-GB" sz="1800" dirty="0" smtClean="0"/>
              <a:t>change in parameters to </a:t>
            </a:r>
          </a:p>
          <a:p>
            <a:r>
              <a:rPr lang="en-GB" sz="1800" dirty="0" smtClean="0"/>
              <a:t>change in probability of failure:</a:t>
            </a:r>
          </a:p>
          <a:p>
            <a:pPr marL="457200" indent="-457200">
              <a:buFont typeface="+mj-lt"/>
              <a:buAutoNum type="arabicPeriod"/>
            </a:pPr>
            <a:endParaRPr lang="en-GB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106" y="2523666"/>
            <a:ext cx="4846863" cy="399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258878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CSV viewer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629391" y="1140031"/>
            <a:ext cx="8047883" cy="5243307"/>
          </a:xfrm>
        </p:spPr>
        <p:txBody>
          <a:bodyPr/>
          <a:lstStyle/>
          <a:p>
            <a:r>
              <a:rPr lang="en-GB" sz="1800" dirty="0" smtClean="0"/>
              <a:t>Some standard plots can be viewed in CORA by: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1: </a:t>
            </a:r>
            <a:r>
              <a:rPr lang="en-GB" sz="1800" dirty="0" smtClean="0"/>
              <a:t>Load csv file of interest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2: </a:t>
            </a:r>
            <a:r>
              <a:rPr lang="en-GB" sz="1800" dirty="0" smtClean="0"/>
              <a:t>Change row and columns to liking</a:t>
            </a:r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-1033153" y="1959429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7800" indent="-177800">
              <a:lnSpc>
                <a:spcPct val="113000"/>
              </a:lnSpc>
              <a:spcAft>
                <a:spcPts val="60"/>
              </a:spcAft>
              <a:buFont typeface="Wingdings"/>
              <a:buChar char="n"/>
            </a:pPr>
            <a:endParaRPr lang="en-GB" sz="1600" dirty="0" smtClean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81" y="2352352"/>
            <a:ext cx="7350578" cy="4038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397361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Best practices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466560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General CORA best practice (1)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1"/>
            <a:r>
              <a:rPr lang="en-GB" sz="1800" dirty="0" smtClean="0"/>
              <a:t>&lt;Home&gt;</a:t>
            </a:r>
          </a:p>
          <a:p>
            <a:pPr lvl="2"/>
            <a:r>
              <a:rPr lang="en-GB" sz="1800" dirty="0" smtClean="0"/>
              <a:t>Create a CORA project for different scenarios</a:t>
            </a:r>
          </a:p>
          <a:p>
            <a:pPr lvl="2"/>
            <a:r>
              <a:rPr lang="en-GB" sz="1800" dirty="0" smtClean="0"/>
              <a:t>Define all objects of failure upfront</a:t>
            </a:r>
          </a:p>
          <a:p>
            <a:pPr lvl="2"/>
            <a:r>
              <a:rPr lang="en-GB" sz="1800" dirty="0" smtClean="0"/>
              <a:t>You can copy and paste failure mechanisms after loading your model</a:t>
            </a:r>
          </a:p>
          <a:p>
            <a:pPr lvl="1"/>
            <a:r>
              <a:rPr lang="en-GB" sz="1800" dirty="0" smtClean="0"/>
              <a:t>&lt;Model sheet&gt;</a:t>
            </a:r>
          </a:p>
          <a:p>
            <a:pPr lvl="2"/>
            <a:r>
              <a:rPr lang="en-GB" sz="1800" dirty="0" smtClean="0"/>
              <a:t>Calculate and store on local disc (C:/Apps)</a:t>
            </a:r>
          </a:p>
          <a:p>
            <a:pPr lvl="2"/>
            <a:r>
              <a:rPr lang="en-GB" sz="1800" dirty="0" smtClean="0"/>
              <a:t>New screening in new folder (old will be wiped otherwise)</a:t>
            </a:r>
          </a:p>
          <a:p>
            <a:pPr lvl="2"/>
            <a:r>
              <a:rPr lang="en-GB" sz="1800" dirty="0" smtClean="0"/>
              <a:t>You can use browse pictogram to go to the created project folder</a:t>
            </a:r>
          </a:p>
          <a:p>
            <a:pPr lvl="2"/>
            <a:r>
              <a:rPr lang="en-GB" sz="1800" dirty="0" smtClean="0"/>
              <a:t>Note that the base case values are only equal to the p50 when assuming symmetric distributions around base case values.</a:t>
            </a:r>
          </a:p>
          <a:p>
            <a:pPr lvl="2"/>
            <a:r>
              <a:rPr lang="en-GB" sz="1800" dirty="0" smtClean="0"/>
              <a:t>Correlated </a:t>
            </a:r>
            <a:r>
              <a:rPr lang="en-GB" sz="1800" dirty="0" err="1" smtClean="0"/>
              <a:t>stochasts</a:t>
            </a:r>
            <a:r>
              <a:rPr lang="en-GB" sz="1800" dirty="0" smtClean="0"/>
              <a:t> preferably have similar distributions</a:t>
            </a:r>
          </a:p>
          <a:p>
            <a:pPr lvl="2"/>
            <a:r>
              <a:rPr lang="en-GB" sz="1800" dirty="0" smtClean="0"/>
              <a:t>Deselecting or adding </a:t>
            </a:r>
            <a:r>
              <a:rPr lang="en-GB" sz="1800" dirty="0" err="1" smtClean="0"/>
              <a:t>stochasts</a:t>
            </a:r>
            <a:r>
              <a:rPr lang="en-GB" sz="1800" dirty="0" smtClean="0"/>
              <a:t> requires updating of the correlation table</a:t>
            </a:r>
          </a:p>
          <a:p>
            <a:pPr lvl="1"/>
            <a:endParaRPr lang="en-GB" sz="1800" dirty="0" smtClean="0"/>
          </a:p>
          <a:p>
            <a:pPr lvl="1"/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876382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 CORA best practice </a:t>
            </a:r>
            <a:r>
              <a:rPr lang="en-GB" dirty="0" smtClean="0"/>
              <a:t>(2)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1"/>
            <a:r>
              <a:rPr lang="en-GB" dirty="0" smtClean="0"/>
              <a:t>&lt; Scenario sheet&gt;</a:t>
            </a:r>
          </a:p>
          <a:p>
            <a:pPr lvl="2"/>
            <a:r>
              <a:rPr lang="en-GB" dirty="0" smtClean="0"/>
              <a:t>Note that the choice of proxy can result to dependencies between objects and </a:t>
            </a:r>
            <a:r>
              <a:rPr lang="en-GB" dirty="0" err="1" smtClean="0"/>
              <a:t>stochasts</a:t>
            </a:r>
            <a:r>
              <a:rPr lang="en-GB" dirty="0" smtClean="0"/>
              <a:t> which are physically not related or that sequence change results in different outcomes. This is the result of the fitting procedure. This should resolve in automatic procedure for reliability calculations </a:t>
            </a:r>
          </a:p>
          <a:p>
            <a:pPr lvl="2"/>
            <a:r>
              <a:rPr lang="en-GB" dirty="0" smtClean="0"/>
              <a:t>When your results have disappeared, try &lt;Validate and continue&gt; in the previous sheet after calculations </a:t>
            </a:r>
            <a:r>
              <a:rPr lang="en-GB" smtClean="0"/>
              <a:t>have ended.</a:t>
            </a:r>
            <a:endParaRPr lang="en-GB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2445735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hell layouts with footer">
  <a:themeElements>
    <a:clrScheme name="Shell - Colours">
      <a:dk1>
        <a:srgbClr val="595959"/>
      </a:dk1>
      <a:lt1>
        <a:srgbClr val="FFFFFF"/>
      </a:lt1>
      <a:dk2>
        <a:srgbClr val="999999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2761</TotalTime>
  <Words>1536</Words>
  <Application>Microsoft Office PowerPoint</Application>
  <PresentationFormat>On-screen Show (4:3)</PresentationFormat>
  <Paragraphs>322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Futura Medium</vt:lpstr>
      <vt:lpstr>Wingdings</vt:lpstr>
      <vt:lpstr>Calibri</vt:lpstr>
      <vt:lpstr>Futura Light</vt:lpstr>
      <vt:lpstr>Shell layouts with footer</vt:lpstr>
      <vt:lpstr>CORA Workflow</vt:lpstr>
      <vt:lpstr>Some Statistical definitions</vt:lpstr>
      <vt:lpstr>Some mechanical definitions</vt:lpstr>
      <vt:lpstr>Default settings</vt:lpstr>
      <vt:lpstr>PowerPoint Presentation</vt:lpstr>
      <vt:lpstr>General workflow</vt:lpstr>
      <vt:lpstr>General workflow</vt:lpstr>
      <vt:lpstr>Define CORA model</vt:lpstr>
      <vt:lpstr>Define basecase and uncertainties</vt:lpstr>
      <vt:lpstr>New Correlations input screen</vt:lpstr>
      <vt:lpstr>Add correlations</vt:lpstr>
      <vt:lpstr>Check distributions</vt:lpstr>
      <vt:lpstr>Quick Screening</vt:lpstr>
      <vt:lpstr>Reliability Analysis</vt:lpstr>
      <vt:lpstr>Rerun option</vt:lpstr>
      <vt:lpstr>Reliability Results</vt:lpstr>
      <vt:lpstr>Fragility</vt:lpstr>
      <vt:lpstr>CSV viewer</vt:lpstr>
      <vt:lpstr>PowerPoint Presentation</vt:lpstr>
      <vt:lpstr>General CORA best practice (1)</vt:lpstr>
      <vt:lpstr>General CORA best practice (2)</vt:lpstr>
      <vt:lpstr>PowerPoint Presentation</vt:lpstr>
    </vt:vector>
  </TitlesOfParts>
  <Company>Shell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Shell</dc:creator>
  <cp:lastModifiedBy>Kraaijeveld, Famke GSNL-PTI/RC</cp:lastModifiedBy>
  <cp:revision>510</cp:revision>
  <dcterms:created xsi:type="dcterms:W3CDTF">2009-11-25T14:32:06Z</dcterms:created>
  <dcterms:modified xsi:type="dcterms:W3CDTF">2016-03-08T13:03:23Z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Onscreen</vt:lpwstr>
  </property>
  <property fmtid="{D5CDD505-2E9C-101B-9397-08002B2CF9AE}" pid="3" name="WizKit Template Version">
    <vt:i4>4</vt:i4>
  </property>
</Properties>
</file>