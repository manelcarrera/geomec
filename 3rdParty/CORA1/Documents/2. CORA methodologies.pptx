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414" r:id="rId3"/>
    <p:sldId id="380" r:id="rId4"/>
    <p:sldId id="399" r:id="rId5"/>
    <p:sldId id="400" r:id="rId6"/>
    <p:sldId id="412" r:id="rId7"/>
    <p:sldId id="379" r:id="rId8"/>
    <p:sldId id="409" r:id="rId9"/>
    <p:sldId id="401" r:id="rId10"/>
    <p:sldId id="413" r:id="rId11"/>
    <p:sldId id="407" r:id="rId12"/>
    <p:sldId id="404" r:id="rId13"/>
    <p:sldId id="405" r:id="rId14"/>
    <p:sldId id="406" r:id="rId15"/>
    <p:sldId id="411" r:id="rId16"/>
    <p:sldId id="408" r:id="rId17"/>
    <p:sldId id="402" r:id="rId18"/>
    <p:sldId id="415" r:id="rId19"/>
    <p:sldId id="410" r:id="rId20"/>
    <p:sldId id="354" r:id="rId21"/>
  </p:sldIdLst>
  <p:sldSz cx="9144000" cy="6858000" type="screen4x3"/>
  <p:notesSz cx="6797675" cy="9926638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Futura Medium" panose="00000400000000000000" pitchFamily="2" charset="0"/>
      <p:regular r:id="rId28"/>
      <p:bold r:id="rId29"/>
      <p:italic r:id="rId30"/>
      <p:boldItalic r:id="rId31"/>
    </p:embeddedFont>
    <p:embeddedFont>
      <p:font typeface="Futura Light" panose="00000400000000000000" pitchFamily="2" charset="0"/>
      <p:regular r:id="rId32"/>
    </p:embeddedFont>
    <p:embeddedFont>
      <p:font typeface="MS Gothic" panose="020B0609070205080204" pitchFamily="49" charset="-128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9DB"/>
    <a:srgbClr val="99CDB7"/>
    <a:srgbClr val="66B492"/>
    <a:srgbClr val="339B6E"/>
    <a:srgbClr val="DFD1DE"/>
    <a:srgbClr val="C0A2BD"/>
    <a:srgbClr val="A0749B"/>
    <a:srgbClr val="81457A"/>
    <a:srgbClr val="CCD7E6"/>
    <a:srgbClr val="99A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5994" autoAdjust="0"/>
  </p:normalViewPr>
  <p:slideViewPr>
    <p:cSldViewPr snapToGrid="0" showGuides="1">
      <p:cViewPr>
        <p:scale>
          <a:sx n="130" d="100"/>
          <a:sy n="130" d="100"/>
        </p:scale>
        <p:origin x="-72" y="1878"/>
      </p:cViewPr>
      <p:guideLst>
        <p:guide orient="horz" pos="4144"/>
        <p:guide orient="horz" pos="149"/>
        <p:guide orient="horz" pos="831"/>
        <p:guide orient="horz" pos="465"/>
        <p:guide orient="horz" pos="4021"/>
        <p:guide orient="horz" pos="2095"/>
        <p:guide orient="horz" pos="1787"/>
        <p:guide pos="574"/>
        <p:guide pos="5466"/>
        <p:guide pos="2930"/>
        <p:guide pos="300"/>
        <p:guide pos="3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 showGuides="1">
      <p:cViewPr varScale="1">
        <p:scale>
          <a:sx n="52" d="100"/>
          <a:sy n="52" d="100"/>
        </p:scale>
        <p:origin x="-2640" y="-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08/02/2016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282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08/02/2016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4789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Futura Medium" pitchFamily="2" charset="0"/>
              </a:rPr>
              <a:pPr/>
              <a:t>1</a:t>
            </a:fld>
            <a:endParaRPr lang="en-GB">
              <a:latin typeface="Futura Medium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4</a:t>
            </a:fld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6155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Futura Medium" pitchFamily="2" charset="0"/>
                <a:ea typeface="+mn-ea"/>
                <a:cs typeface="+mn-cs"/>
              </a:rPr>
              <a:t>Standard normal Bell-shaped curve and the associated standard deviations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Futura Medium" pitchFamily="2" charset="0"/>
                <a:ea typeface="+mn-ea"/>
                <a:cs typeface="+mn-cs"/>
              </a:rPr>
              <a:t>cumulative percentiles. The reliability index is represented by the Standard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Futura Medium" pitchFamily="2" charset="0"/>
                <a:ea typeface="+mn-ea"/>
                <a:cs typeface="+mn-cs"/>
              </a:rPr>
              <a:t>Deviations.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17</a:t>
            </a:fld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20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468313" y="226142"/>
            <a:ext cx="8208961" cy="6167226"/>
            <a:chOff x="468313" y="226142"/>
            <a:chExt cx="8208961" cy="6167226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 flipH="1">
              <a:off x="468313" y="1307018"/>
              <a:ext cx="7020000" cy="5086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GB" smtClean="0"/>
                <a:t> </a:t>
              </a:r>
              <a:endParaRPr lang="en-GB" dirty="0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 flipH="1">
              <a:off x="1548071" y="226142"/>
              <a:ext cx="7129203" cy="50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 flipH="1">
              <a:off x="1548072" y="1307018"/>
              <a:ext cx="5942197" cy="3960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23" name="Picture 22" descr="Shell-2010-Pecten-RGBpc.wm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468313" y="290934"/>
              <a:ext cx="720000" cy="667868"/>
            </a:xfrm>
            <a:prstGeom prst="rect">
              <a:avLst/>
            </a:prstGeom>
            <a:noFill/>
          </p:spPr>
        </p:pic>
      </p:grpSp>
      <p:sp>
        <p:nvSpPr>
          <p:cNvPr id="28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1697782" y="1400847"/>
            <a:ext cx="5694536" cy="1206000"/>
          </a:xfrm>
          <a:noFill/>
        </p:spPr>
        <p:txBody>
          <a:bodyPr lIns="0" tIns="0" rIns="0"/>
          <a:lstStyle>
            <a:lvl1pPr>
              <a:defRPr kern="1200" cap="all" spc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Click to edit Master title </a:t>
            </a:r>
            <a:r>
              <a:rPr lang="en-GB" dirty="0" smtClean="0"/>
              <a:t>style</a:t>
            </a:r>
            <a:endParaRPr lang="en-GB" dirty="0"/>
          </a:p>
        </p:txBody>
      </p:sp>
      <p:sp>
        <p:nvSpPr>
          <p:cNvPr id="29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697782" y="2851200"/>
            <a:ext cx="2700000" cy="1620000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16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32" name="Text Placeholder 3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578064" y="5402511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Author’s Name</a:t>
            </a:r>
            <a:endParaRPr lang="en-GB" dirty="0"/>
          </a:p>
        </p:txBody>
      </p:sp>
      <p:sp>
        <p:nvSpPr>
          <p:cNvPr id="33" name="Text Placeholder 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78064" y="5627540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Role in Organisation</a:t>
            </a:r>
            <a:endParaRPr lang="en-GB" dirty="0"/>
          </a:p>
        </p:txBody>
      </p:sp>
      <p:sp>
        <p:nvSpPr>
          <p:cNvPr id="24" name="Text Box 11" descr="Text Box 11"/>
          <p:cNvSpPr txBox="1">
            <a:spLocks noChangeArrowheads="1"/>
          </p:cNvSpPr>
          <p:nvPr userDrawn="1"/>
        </p:nvSpPr>
        <p:spPr bwMode="auto">
          <a:xfrm>
            <a:off x="468000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5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0799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February 2013</a:t>
            </a:r>
            <a:endParaRPr lang="en-GB" dirty="0"/>
          </a:p>
        </p:txBody>
      </p:sp>
      <p:sp>
        <p:nvSpPr>
          <p:cNvPr id="2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4400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5862638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906511" y="1312201"/>
            <a:ext cx="7770763" cy="5071137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2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5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 sz="1600"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 sz="1600"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4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7462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7675" indent="-171450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6950" indent="-185738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tabLst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9263" indent="-173038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69875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54025" indent="-1841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3pPr>
            <a:lvl4pPr marL="635000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Xx</a:t>
            </a:r>
          </a:p>
          <a:p>
            <a:pPr lvl="5"/>
            <a:r>
              <a:rPr lang="en-US" dirty="0" smtClean="0"/>
              <a:t>xx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76225" indent="-276225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47675" indent="-17145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3pPr>
            <a:lvl4pPr marL="635000" indent="-174625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904072" y="6267688"/>
            <a:ext cx="3747304" cy="99509"/>
          </a:xfrm>
        </p:spPr>
        <p:txBody>
          <a:bodyPr wrap="square">
            <a:noAutofit/>
          </a:bodyPr>
          <a:lstStyle>
            <a:lvl1pPr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SOURCE</a:t>
            </a:r>
            <a:endParaRPr lang="nl-NL" dirty="0"/>
          </a:p>
        </p:txBody>
      </p:sp>
      <p:sp>
        <p:nvSpPr>
          <p:cNvPr id="3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39" name="Content Placeholder 51"/>
          <p:cNvSpPr>
            <a:spLocks noGrp="1"/>
          </p:cNvSpPr>
          <p:nvPr>
            <p:ph sz="quarter" idx="45" hasCustomPrompt="1"/>
          </p:nvPr>
        </p:nvSpPr>
        <p:spPr>
          <a:xfrm>
            <a:off x="911225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911225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V="1">
            <a:off x="911225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hart Placeholder 16"/>
          <p:cNvSpPr>
            <a:spLocks noGrp="1"/>
          </p:cNvSpPr>
          <p:nvPr>
            <p:ph type="chart" sz="quarter" idx="47"/>
          </p:nvPr>
        </p:nvSpPr>
        <p:spPr>
          <a:xfrm>
            <a:off x="911225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43" name="Straight Connector 42"/>
          <p:cNvCxnSpPr/>
          <p:nvPr userDrawn="1"/>
        </p:nvCxnSpPr>
        <p:spPr>
          <a:xfrm>
            <a:off x="904071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ontent Placeholder 51"/>
          <p:cNvSpPr>
            <a:spLocks noGrp="1"/>
          </p:cNvSpPr>
          <p:nvPr>
            <p:ph sz="quarter" idx="54" hasCustomPrompt="1"/>
          </p:nvPr>
        </p:nvSpPr>
        <p:spPr>
          <a:xfrm>
            <a:off x="911225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911225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101" name="Straight Connector 100"/>
          <p:cNvCxnSpPr/>
          <p:nvPr userDrawn="1"/>
        </p:nvCxnSpPr>
        <p:spPr>
          <a:xfrm flipV="1">
            <a:off x="911225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911225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3" name="Straight Connector 102"/>
          <p:cNvCxnSpPr/>
          <p:nvPr userDrawn="1"/>
        </p:nvCxnSpPr>
        <p:spPr>
          <a:xfrm>
            <a:off x="904071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ontent Placeholder 51"/>
          <p:cNvSpPr>
            <a:spLocks noGrp="1"/>
          </p:cNvSpPr>
          <p:nvPr>
            <p:ph sz="quarter" idx="57" hasCustomPrompt="1"/>
          </p:nvPr>
        </p:nvSpPr>
        <p:spPr>
          <a:xfrm>
            <a:off x="4965700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4965700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106" name="Straight Connector 105"/>
          <p:cNvCxnSpPr/>
          <p:nvPr userDrawn="1"/>
        </p:nvCxnSpPr>
        <p:spPr>
          <a:xfrm flipV="1">
            <a:off x="4965700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hart Placeholder 16"/>
          <p:cNvSpPr>
            <a:spLocks noGrp="1"/>
          </p:cNvSpPr>
          <p:nvPr>
            <p:ph type="chart" sz="quarter" idx="59"/>
          </p:nvPr>
        </p:nvSpPr>
        <p:spPr>
          <a:xfrm>
            <a:off x="4965700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8" name="Straight Connector 107"/>
          <p:cNvCxnSpPr/>
          <p:nvPr userDrawn="1"/>
        </p:nvCxnSpPr>
        <p:spPr>
          <a:xfrm>
            <a:off x="4958546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ontent Placeholder 51"/>
          <p:cNvSpPr>
            <a:spLocks noGrp="1"/>
          </p:cNvSpPr>
          <p:nvPr>
            <p:ph sz="quarter" idx="60" hasCustomPrompt="1"/>
          </p:nvPr>
        </p:nvSpPr>
        <p:spPr>
          <a:xfrm>
            <a:off x="4965700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4965700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111" name="Straight Connector 110"/>
          <p:cNvCxnSpPr/>
          <p:nvPr userDrawn="1"/>
        </p:nvCxnSpPr>
        <p:spPr>
          <a:xfrm flipV="1">
            <a:off x="4965700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4965700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13" name="Straight Connector 112"/>
          <p:cNvCxnSpPr/>
          <p:nvPr userDrawn="1"/>
        </p:nvCxnSpPr>
        <p:spPr>
          <a:xfrm>
            <a:off x="4958546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3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5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1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2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782070" y="3198783"/>
            <a:ext cx="5603468" cy="13620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MY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1782070" y="2379407"/>
            <a:ext cx="5603468" cy="7416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0.0</a:t>
            </a:r>
            <a:endParaRPr lang="en-GB" dirty="0"/>
          </a:p>
        </p:txBody>
      </p:sp>
      <p:sp>
        <p:nvSpPr>
          <p:cNvPr id="12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8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0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2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rgbClr val="FCEC8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16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rgbClr val="FAE37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18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MY"/>
            </a:p>
          </p:txBody>
        </p:sp>
      </p:grp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Q &amp; A</a:t>
            </a:r>
            <a:endParaRPr lang="en-GB" dirty="0"/>
          </a:p>
        </p:txBody>
      </p:sp>
      <p:sp>
        <p:nvSpPr>
          <p:cNvPr id="10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Mandato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Picture 2" descr="Shell-2010-Pecten-RGBpc.wmf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3418626" y="2285524"/>
              <a:ext cx="2340000" cy="217057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9704" y="1310400"/>
            <a:ext cx="7747176" cy="507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53"/>
            <a:ext cx="7700963" cy="419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3" r:id="rId2"/>
    <p:sldLayoutId id="2147483689" r:id="rId3"/>
    <p:sldLayoutId id="2147483691" r:id="rId4"/>
    <p:sldLayoutId id="2147483667" r:id="rId5"/>
    <p:sldLayoutId id="2147483690" r:id="rId6"/>
    <p:sldLayoutId id="2147483692" r:id="rId7"/>
    <p:sldLayoutId id="2147483694" r:id="rId8"/>
    <p:sldLayoutId id="2147483680" r:id="rId9"/>
    <p:sldLayoutId id="2147483678" r:id="rId10"/>
    <p:sldLayoutId id="2147483679" r:id="rId11"/>
    <p:sldLayoutId id="2147483681" r:id="rId12"/>
    <p:sldLayoutId id="2147483682" r:id="rId13"/>
    <p:sldLayoutId id="2147483683" r:id="rId14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5.wmf"/><Relationship Id="rId5" Type="http://schemas.openxmlformats.org/officeDocument/2006/relationships/image" Target="../media/image7.jpe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6.png"/><Relationship Id="rId9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en.wikipedia.org/wiki/Correlation_and_dependenc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3.emf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0.emf"/><Relationship Id="rId4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5.emf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 descr="&lt;TITLE&gt;{94.96063,448.3887,110.3029,133.6836}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CORA methodologies</a:t>
            </a:r>
            <a:endParaRPr lang="en-GB" dirty="0"/>
          </a:p>
        </p:txBody>
      </p:sp>
      <p:sp>
        <p:nvSpPr>
          <p:cNvPr id="23" name="Subtitle 22" descr="&lt;SUBTITLE&gt;{127.5591,212.5984,224.5039,133.6836}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4" name="Text Placeholder 23" descr="&lt;NAME&gt;{15.4689,461.2516,425.3946,124.257}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Famke Kraaijeveld PTI/RC</a:t>
            </a:r>
            <a:endParaRPr lang="en-GB" dirty="0" smtClean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 smtClean="0"/>
              <a:t>February 2013</a:t>
            </a:r>
            <a:endParaRPr lang="en-GB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 </a:t>
            </a:r>
            <a:endParaRPr lang="en-GB" dirty="0"/>
          </a:p>
        </p:txBody>
      </p:sp>
      <p:grpSp>
        <p:nvGrpSpPr>
          <p:cNvPr id="13" name="Group 15"/>
          <p:cNvGrpSpPr/>
          <p:nvPr/>
        </p:nvGrpSpPr>
        <p:grpSpPr>
          <a:xfrm>
            <a:off x="3878898" y="2369820"/>
            <a:ext cx="4564062" cy="2549718"/>
            <a:chOff x="716598" y="1892235"/>
            <a:chExt cx="7634193" cy="4005645"/>
          </a:xfrm>
        </p:grpSpPr>
        <p:grpSp>
          <p:nvGrpSpPr>
            <p:cNvPr id="14" name="Group 13"/>
            <p:cNvGrpSpPr/>
            <p:nvPr/>
          </p:nvGrpSpPr>
          <p:grpSpPr>
            <a:xfrm>
              <a:off x="716598" y="2553018"/>
              <a:ext cx="7633974" cy="3344862"/>
              <a:chOff x="541338" y="2903538"/>
              <a:chExt cx="7650162" cy="3344862"/>
            </a:xfrm>
          </p:grpSpPr>
          <p:pic>
            <p:nvPicPr>
              <p:cNvPr id="16" name="Picture 1150" descr="Leakage paths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41338" y="2905125"/>
                <a:ext cx="4433887" cy="2947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" name="AutoShape 6"/>
              <p:cNvSpPr>
                <a:spLocks/>
              </p:cNvSpPr>
              <p:nvPr/>
            </p:nvSpPr>
            <p:spPr bwMode="auto">
              <a:xfrm flipH="1">
                <a:off x="5473700" y="4776788"/>
                <a:ext cx="2717800" cy="835025"/>
              </a:xfrm>
              <a:prstGeom prst="accentCallout2">
                <a:avLst>
                  <a:gd name="adj1" fmla="val 13685"/>
                  <a:gd name="adj2" fmla="val 102801"/>
                  <a:gd name="adj3" fmla="val 13685"/>
                  <a:gd name="adj4" fmla="val 119213"/>
                  <a:gd name="adj5" fmla="val 43912"/>
                  <a:gd name="adj6" fmla="val 136681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200" dirty="0">
                    <a:solidFill>
                      <a:srgbClr val="003F87"/>
                    </a:solidFill>
                  </a:rPr>
                  <a:t>Leakage along fault </a:t>
                </a:r>
                <a:r>
                  <a:rPr lang="en-US" sz="1200" dirty="0" smtClean="0">
                    <a:solidFill>
                      <a:srgbClr val="003F87"/>
                    </a:solidFill>
                  </a:rPr>
                  <a:t>planes</a:t>
                </a:r>
                <a:endParaRPr lang="en-US" sz="1600" dirty="0"/>
              </a:p>
            </p:txBody>
          </p:sp>
          <p:sp>
            <p:nvSpPr>
              <p:cNvPr id="20" name="AutoShape 7"/>
              <p:cNvSpPr>
                <a:spLocks/>
              </p:cNvSpPr>
              <p:nvPr/>
            </p:nvSpPr>
            <p:spPr bwMode="auto">
              <a:xfrm>
                <a:off x="5473700" y="3724275"/>
                <a:ext cx="2717800" cy="857250"/>
              </a:xfrm>
              <a:prstGeom prst="accentCallout2">
                <a:avLst>
                  <a:gd name="adj1" fmla="val 13333"/>
                  <a:gd name="adj2" fmla="val -2319"/>
                  <a:gd name="adj3" fmla="val 13333"/>
                  <a:gd name="adj4" fmla="val -31065"/>
                  <a:gd name="adj5" fmla="val 131667"/>
                  <a:gd name="adj6" fmla="val -84491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200" dirty="0">
                    <a:solidFill>
                      <a:srgbClr val="003F87"/>
                    </a:solidFill>
                  </a:rPr>
                  <a:t>Leakage through the cap </a:t>
                </a:r>
                <a:r>
                  <a:rPr lang="en-US" sz="1200" dirty="0" smtClean="0">
                    <a:solidFill>
                      <a:srgbClr val="003F87"/>
                    </a:solidFill>
                  </a:rPr>
                  <a:t>rock</a:t>
                </a:r>
                <a:endParaRPr lang="en-US" sz="1200" dirty="0">
                  <a:solidFill>
                    <a:srgbClr val="003F87"/>
                  </a:solidFill>
                </a:endParaRPr>
              </a:p>
            </p:txBody>
          </p:sp>
          <p:sp>
            <p:nvSpPr>
              <p:cNvPr id="21" name="AutoShape 8"/>
              <p:cNvSpPr>
                <a:spLocks/>
              </p:cNvSpPr>
              <p:nvPr/>
            </p:nvSpPr>
            <p:spPr bwMode="auto">
              <a:xfrm>
                <a:off x="5468938" y="2903538"/>
                <a:ext cx="2722562" cy="623887"/>
              </a:xfrm>
              <a:prstGeom prst="accentCallout2">
                <a:avLst>
                  <a:gd name="adj1" fmla="val 18319"/>
                  <a:gd name="adj2" fmla="val -3199"/>
                  <a:gd name="adj3" fmla="val 18319"/>
                  <a:gd name="adj4" fmla="val -17801"/>
                  <a:gd name="adj5" fmla="val 134736"/>
                  <a:gd name="adj6" fmla="val -57593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200" dirty="0">
                    <a:solidFill>
                      <a:srgbClr val="003F87"/>
                    </a:solidFill>
                  </a:rPr>
                  <a:t>Leakage along </a:t>
                </a:r>
                <a:r>
                  <a:rPr lang="en-US" sz="1200" dirty="0" smtClean="0">
                    <a:solidFill>
                      <a:srgbClr val="003F87"/>
                    </a:solidFill>
                  </a:rPr>
                  <a:t>wells</a:t>
                </a:r>
                <a:endParaRPr lang="en-US" sz="1200" dirty="0">
                  <a:solidFill>
                    <a:srgbClr val="003F87"/>
                  </a:solidFill>
                </a:endParaRPr>
              </a:p>
            </p:txBody>
          </p:sp>
          <p:sp>
            <p:nvSpPr>
              <p:cNvPr id="26" name="AutoShape 8"/>
              <p:cNvSpPr>
                <a:spLocks/>
              </p:cNvSpPr>
              <p:nvPr/>
            </p:nvSpPr>
            <p:spPr bwMode="auto">
              <a:xfrm>
                <a:off x="5468938" y="5751513"/>
                <a:ext cx="2722562" cy="496887"/>
              </a:xfrm>
              <a:prstGeom prst="accentCallout2">
                <a:avLst>
                  <a:gd name="adj1" fmla="val 23005"/>
                  <a:gd name="adj2" fmla="val -2319"/>
                  <a:gd name="adj3" fmla="val 23005"/>
                  <a:gd name="adj4" fmla="val -7921"/>
                  <a:gd name="adj5" fmla="val 1315"/>
                  <a:gd name="adj6" fmla="val -27111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200" dirty="0">
                    <a:solidFill>
                      <a:schemeClr val="bg1">
                        <a:lumMod val="75000"/>
                      </a:schemeClr>
                    </a:solidFill>
                  </a:rPr>
                  <a:t>Lateral Migration:</a:t>
                </a:r>
              </a:p>
            </p:txBody>
          </p:sp>
        </p:grpSp>
        <p:sp>
          <p:nvSpPr>
            <p:cNvPr id="15" name="AutoShape 8"/>
            <p:cNvSpPr>
              <a:spLocks/>
            </p:cNvSpPr>
            <p:nvPr/>
          </p:nvSpPr>
          <p:spPr bwMode="auto">
            <a:xfrm>
              <a:off x="5633990" y="1892235"/>
              <a:ext cx="2716801" cy="623887"/>
            </a:xfrm>
            <a:prstGeom prst="accentCallout2">
              <a:avLst>
                <a:gd name="adj1" fmla="val 18319"/>
                <a:gd name="adj2" fmla="val -3199"/>
                <a:gd name="adj3" fmla="val 18319"/>
                <a:gd name="adj4" fmla="val -17801"/>
                <a:gd name="adj5" fmla="val 206936"/>
                <a:gd name="adj6" fmla="val -87353"/>
              </a:avLst>
            </a:prstGeom>
            <a:noFill/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92075" indent="-92075">
                <a:spcBef>
                  <a:spcPct val="0"/>
                </a:spcBef>
              </a:pPr>
              <a:r>
                <a:rPr lang="en-US" sz="1200" dirty="0" smtClean="0">
                  <a:solidFill>
                    <a:srgbClr val="003F87"/>
                  </a:solidFill>
                </a:rPr>
                <a:t>Subsidence</a:t>
              </a:r>
              <a:endParaRPr lang="en-US" sz="1200" dirty="0">
                <a:solidFill>
                  <a:srgbClr val="003F87"/>
                </a:solidFill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grpSp>
        <p:nvGrpSpPr>
          <p:cNvPr id="7" name="Group 15"/>
          <p:cNvGrpSpPr/>
          <p:nvPr/>
        </p:nvGrpSpPr>
        <p:grpSpPr>
          <a:xfrm>
            <a:off x="1335301" y="1568681"/>
            <a:ext cx="7107455" cy="3969043"/>
            <a:chOff x="716598" y="1892235"/>
            <a:chExt cx="7634193" cy="4005645"/>
          </a:xfrm>
        </p:grpSpPr>
        <p:grpSp>
          <p:nvGrpSpPr>
            <p:cNvPr id="8" name="Group 7"/>
            <p:cNvGrpSpPr/>
            <p:nvPr/>
          </p:nvGrpSpPr>
          <p:grpSpPr>
            <a:xfrm>
              <a:off x="716598" y="2553018"/>
              <a:ext cx="7633974" cy="3344862"/>
              <a:chOff x="541338" y="2903538"/>
              <a:chExt cx="7650162" cy="3344862"/>
            </a:xfrm>
          </p:grpSpPr>
          <p:pic>
            <p:nvPicPr>
              <p:cNvPr id="10" name="Picture 1150" descr="Leakage paths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541338" y="2905125"/>
                <a:ext cx="4433887" cy="2947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" name="AutoShape 6"/>
              <p:cNvSpPr>
                <a:spLocks/>
              </p:cNvSpPr>
              <p:nvPr/>
            </p:nvSpPr>
            <p:spPr bwMode="auto">
              <a:xfrm flipH="1">
                <a:off x="5473700" y="4776788"/>
                <a:ext cx="2717800" cy="835025"/>
              </a:xfrm>
              <a:prstGeom prst="accentCallout2">
                <a:avLst>
                  <a:gd name="adj1" fmla="val 13685"/>
                  <a:gd name="adj2" fmla="val 102801"/>
                  <a:gd name="adj3" fmla="val 13685"/>
                  <a:gd name="adj4" fmla="val 119213"/>
                  <a:gd name="adj5" fmla="val 43912"/>
                  <a:gd name="adj6" fmla="val 136681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600" b="1" dirty="0">
                    <a:solidFill>
                      <a:srgbClr val="003F87"/>
                    </a:solidFill>
                  </a:rPr>
                  <a:t>Leakage along fault </a:t>
                </a:r>
                <a:r>
                  <a:rPr lang="en-US" sz="1600" b="1" dirty="0" smtClean="0">
                    <a:solidFill>
                      <a:srgbClr val="003F87"/>
                    </a:solidFill>
                  </a:rPr>
                  <a:t>planes</a:t>
                </a:r>
                <a:endParaRPr lang="en-US" sz="2000" b="1" dirty="0"/>
              </a:p>
            </p:txBody>
          </p:sp>
          <p:sp>
            <p:nvSpPr>
              <p:cNvPr id="12" name="AutoShape 7"/>
              <p:cNvSpPr>
                <a:spLocks/>
              </p:cNvSpPr>
              <p:nvPr/>
            </p:nvSpPr>
            <p:spPr bwMode="auto">
              <a:xfrm>
                <a:off x="5473700" y="3724275"/>
                <a:ext cx="2717800" cy="857250"/>
              </a:xfrm>
              <a:prstGeom prst="accentCallout2">
                <a:avLst>
                  <a:gd name="adj1" fmla="val 13333"/>
                  <a:gd name="adj2" fmla="val -2319"/>
                  <a:gd name="adj3" fmla="val 13333"/>
                  <a:gd name="adj4" fmla="val -31065"/>
                  <a:gd name="adj5" fmla="val 131667"/>
                  <a:gd name="adj6" fmla="val -84491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600" b="1" dirty="0">
                    <a:solidFill>
                      <a:srgbClr val="003F87"/>
                    </a:solidFill>
                  </a:rPr>
                  <a:t>Leakage through the cap </a:t>
                </a:r>
                <a:r>
                  <a:rPr lang="en-US" sz="1600" b="1" dirty="0" smtClean="0">
                    <a:solidFill>
                      <a:srgbClr val="003F87"/>
                    </a:solidFill>
                  </a:rPr>
                  <a:t>rock</a:t>
                </a:r>
                <a:endParaRPr lang="en-US" sz="1600" b="1" dirty="0">
                  <a:solidFill>
                    <a:srgbClr val="003F87"/>
                  </a:solidFill>
                </a:endParaRPr>
              </a:p>
            </p:txBody>
          </p:sp>
          <p:sp>
            <p:nvSpPr>
              <p:cNvPr id="13" name="AutoShape 8"/>
              <p:cNvSpPr>
                <a:spLocks/>
              </p:cNvSpPr>
              <p:nvPr/>
            </p:nvSpPr>
            <p:spPr bwMode="auto">
              <a:xfrm>
                <a:off x="5468938" y="2903538"/>
                <a:ext cx="2722562" cy="623887"/>
              </a:xfrm>
              <a:prstGeom prst="accentCallout2">
                <a:avLst>
                  <a:gd name="adj1" fmla="val 18319"/>
                  <a:gd name="adj2" fmla="val -3199"/>
                  <a:gd name="adj3" fmla="val 18319"/>
                  <a:gd name="adj4" fmla="val -17801"/>
                  <a:gd name="adj5" fmla="val 134736"/>
                  <a:gd name="adj6" fmla="val -57593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600" b="1" dirty="0">
                    <a:solidFill>
                      <a:srgbClr val="003F87"/>
                    </a:solidFill>
                  </a:rPr>
                  <a:t>Leakage along </a:t>
                </a:r>
                <a:r>
                  <a:rPr lang="en-US" sz="1600" b="1" dirty="0" smtClean="0">
                    <a:solidFill>
                      <a:srgbClr val="003F87"/>
                    </a:solidFill>
                  </a:rPr>
                  <a:t>wells</a:t>
                </a:r>
                <a:endParaRPr lang="en-US" sz="1600" b="1" dirty="0">
                  <a:solidFill>
                    <a:srgbClr val="003F87"/>
                  </a:solidFill>
                </a:endParaRPr>
              </a:p>
            </p:txBody>
          </p:sp>
          <p:sp>
            <p:nvSpPr>
              <p:cNvPr id="14" name="AutoShape 8"/>
              <p:cNvSpPr>
                <a:spLocks/>
              </p:cNvSpPr>
              <p:nvPr/>
            </p:nvSpPr>
            <p:spPr bwMode="auto">
              <a:xfrm>
                <a:off x="5468938" y="5751513"/>
                <a:ext cx="2722562" cy="496887"/>
              </a:xfrm>
              <a:prstGeom prst="accentCallout2">
                <a:avLst>
                  <a:gd name="adj1" fmla="val 23005"/>
                  <a:gd name="adj2" fmla="val -2319"/>
                  <a:gd name="adj3" fmla="val 23005"/>
                  <a:gd name="adj4" fmla="val -7921"/>
                  <a:gd name="adj5" fmla="val 1315"/>
                  <a:gd name="adj6" fmla="val -27111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600" b="1" dirty="0">
                    <a:solidFill>
                      <a:schemeClr val="bg1">
                        <a:lumMod val="65000"/>
                      </a:schemeClr>
                    </a:solidFill>
                  </a:rPr>
                  <a:t>Lateral </a:t>
                </a:r>
                <a:r>
                  <a:rPr lang="en-US" sz="1600" b="1" dirty="0" smtClean="0">
                    <a:solidFill>
                      <a:schemeClr val="bg1">
                        <a:lumMod val="65000"/>
                      </a:schemeClr>
                    </a:solidFill>
                  </a:rPr>
                  <a:t>Migration</a:t>
                </a:r>
                <a:endParaRPr lang="en-US" sz="160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9" name="AutoShape 8"/>
            <p:cNvSpPr>
              <a:spLocks/>
            </p:cNvSpPr>
            <p:nvPr/>
          </p:nvSpPr>
          <p:spPr bwMode="auto">
            <a:xfrm>
              <a:off x="5633990" y="1892235"/>
              <a:ext cx="2716801" cy="623887"/>
            </a:xfrm>
            <a:prstGeom prst="accentCallout2">
              <a:avLst>
                <a:gd name="adj1" fmla="val 18319"/>
                <a:gd name="adj2" fmla="val -3199"/>
                <a:gd name="adj3" fmla="val 18319"/>
                <a:gd name="adj4" fmla="val -17801"/>
                <a:gd name="adj5" fmla="val 206936"/>
                <a:gd name="adj6" fmla="val -87353"/>
              </a:avLst>
            </a:prstGeom>
            <a:noFill/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92075" indent="-92075">
                <a:spcBef>
                  <a:spcPct val="0"/>
                </a:spcBef>
              </a:pPr>
              <a:r>
                <a:rPr lang="en-US" sz="1600" b="1" dirty="0" smtClean="0">
                  <a:solidFill>
                    <a:srgbClr val="003F87"/>
                  </a:solidFill>
                </a:rPr>
                <a:t>Subsidence</a:t>
              </a:r>
              <a:endParaRPr lang="en-US" sz="1600" b="1" dirty="0">
                <a:solidFill>
                  <a:srgbClr val="003F8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466483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Distribution </a:t>
            </a:r>
            <a:r>
              <a:rPr lang="nl-NL" dirty="0" err="1" smtClean="0"/>
              <a:t>functions</a:t>
            </a:r>
            <a:r>
              <a:rPr lang="nl-NL" dirty="0" smtClean="0"/>
              <a:t> &amp; </a:t>
            </a:r>
            <a:r>
              <a:rPr lang="nl-NL" dirty="0" err="1" smtClean="0"/>
              <a:t>proxys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DiStribution</a:t>
            </a:r>
            <a:r>
              <a:rPr lang="nl-NL" dirty="0" smtClean="0"/>
              <a:t> </a:t>
            </a:r>
            <a:r>
              <a:rPr lang="nl-NL" dirty="0" err="1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1600" dirty="0" smtClean="0"/>
              <a:t>Deterministic : 		No stochastic distribution</a:t>
            </a:r>
          </a:p>
          <a:p>
            <a:r>
              <a:rPr lang="en-US" sz="1600" dirty="0" smtClean="0"/>
              <a:t>Normal : 			Exponential / Bell shape</a:t>
            </a:r>
          </a:p>
          <a:p>
            <a:endParaRPr lang="en-US" sz="1600" dirty="0" smtClean="0"/>
          </a:p>
          <a:p>
            <a:r>
              <a:rPr lang="en-US" sz="1600" dirty="0" err="1" smtClean="0"/>
              <a:t>LogNormal</a:t>
            </a:r>
            <a:r>
              <a:rPr lang="en-US" sz="1600" dirty="0" smtClean="0"/>
              <a:t> : 		Shifted normal distribution</a:t>
            </a:r>
          </a:p>
          <a:p>
            <a:endParaRPr lang="nl-NL" sz="1600" dirty="0" smtClean="0"/>
          </a:p>
          <a:p>
            <a:r>
              <a:rPr lang="en-US" sz="1600" dirty="0" smtClean="0"/>
              <a:t>Uniform : 			Block shape, 1 between  min and max value X</a:t>
            </a:r>
          </a:p>
          <a:p>
            <a:endParaRPr lang="nl-NL" sz="1600" dirty="0" smtClean="0"/>
          </a:p>
          <a:p>
            <a:r>
              <a:rPr lang="nl-NL" sz="1600" dirty="0" err="1" smtClean="0"/>
              <a:t>TruncatedNormal</a:t>
            </a:r>
            <a:r>
              <a:rPr lang="nl-NL" sz="1600" dirty="0" smtClean="0"/>
              <a:t>: </a:t>
            </a:r>
            <a:r>
              <a:rPr lang="nl-NL" sz="1600" dirty="0" err="1" smtClean="0"/>
              <a:t>Normal</a:t>
            </a:r>
            <a:r>
              <a:rPr lang="nl-NL" sz="1600" dirty="0" smtClean="0"/>
              <a:t> </a:t>
            </a:r>
            <a:r>
              <a:rPr lang="nl-NL" sz="1600" dirty="0" err="1" smtClean="0"/>
              <a:t>with</a:t>
            </a:r>
            <a:r>
              <a:rPr lang="nl-NL" sz="1600" dirty="0" smtClean="0"/>
              <a:t> </a:t>
            </a:r>
            <a:r>
              <a:rPr lang="nl-NL" sz="1600" dirty="0" err="1" smtClean="0"/>
              <a:t>cut-off</a:t>
            </a:r>
            <a:r>
              <a:rPr lang="nl-NL" sz="1600" dirty="0" smtClean="0"/>
              <a:t>, </a:t>
            </a:r>
            <a:r>
              <a:rPr lang="nl-NL" sz="1600" dirty="0" err="1" smtClean="0"/>
              <a:t>s.t</a:t>
            </a:r>
            <a:r>
              <a:rPr lang="nl-NL" sz="1600" dirty="0" smtClean="0"/>
              <a:t>. </a:t>
            </a:r>
            <a:r>
              <a:rPr lang="nl-NL" sz="1600" dirty="0" err="1" smtClean="0"/>
              <a:t>area</a:t>
            </a:r>
            <a:r>
              <a:rPr lang="nl-NL" sz="1600" dirty="0" smtClean="0"/>
              <a:t> = 1, i.e. </a:t>
            </a:r>
            <a:r>
              <a:rPr lang="nl-NL" sz="1600" dirty="0" err="1" smtClean="0"/>
              <a:t>Mean</a:t>
            </a:r>
            <a:r>
              <a:rPr lang="nl-NL" sz="1600" dirty="0" smtClean="0"/>
              <a:t> </a:t>
            </a:r>
            <a:r>
              <a:rPr lang="nl-NL" sz="1600" dirty="0" err="1" smtClean="0"/>
              <a:t>might</a:t>
            </a:r>
            <a:r>
              <a:rPr lang="nl-NL" sz="1600" dirty="0" smtClean="0"/>
              <a:t> </a:t>
            </a:r>
            <a:r>
              <a:rPr lang="nl-NL" sz="1600" dirty="0" err="1" smtClean="0"/>
              <a:t>change</a:t>
            </a:r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January 2012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1204" y="5054091"/>
            <a:ext cx="4137565" cy="816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AutoShape 5" descr="data:image/jpeg;base64,/9j/4AAQSkZJRgABAQAAAQABAAD/2wCEAAkGBhEQEBAREA8REA8QEBoVExUWEBAUFRIVFxEXFxMSFRcXHCceFxkjGRcWHzsgIycqLC0tFiAzNjAqNigsLCkBCQoKDgwOGg8PGiwgHyEtLDU1LjUqNS0qLCk1LDQsKS8sLDUsNS0tKjUsKSwsKSwvNC4sNCosNCotKSwsLCwsKf/AABEIAKYBMAMBIgACEQEDEQH/xAAbAAEAAgMBAQAAAAAAAAAAAAAABQYBAwQCB//EADsQAAICAgEDAgQDBQUIAwAAAAECAAMEERIFITEGQRMUIlEHJGEyVHGBlBUjQqHUFiUzRFaR0+NiguH/xAAZAQEAAwEBAAAAAAAAAAAAAAAAAQIEAwX/xAA1EQEAAQMBBAcFBwUAAAAAAAAAAQIDESEEMUGBEjJRYXGR0RMiI1KhFEJyosHC8FOCkrGy/9oADAMBAAIRAxEAPwD7jERAREQETh63ntj491yIrtUhbiz8AddyC3E67b9pW/Tl175tlVuRcWx8THsyFZk4tfctulQKoC1qqnY/xEIf8LFwuUSnY12TkHJxasyznTl/VkhcUiuscXWjS18WcnaFTsgAs2uSo0z6R6387hUZBGmZSr9tD4lbtXaV/wDjzRtfprx4gTEREBERAREQEREBERAREQEREBERAREQEREBEheu5tteR04I/FLspq7V4qea/K3WDuRsaatfEmoCIiAiasnJWtC7b0PsCSSToAD3JJA1+s805qOSqupcftKGUsutbBAJ1rY/7wN8Tw1oHuN/bY33Oh5+57SJ/t5Tfj1rZVq5WJrbtcAobba5ezLx1xPhu/09wmYkZi+oKn7nlWhrNitZxVXQceTg77Ac07nW+QI2O815fXFFmMtd+OwvYgLzBZwP2mRg3hfHYNskD6fMCXiIgJFde6ldQKTXWjI+RVXYzOQUFuTVV9KgfUdOfcaIB7+JKyD9Wq/wqOLKFGdi8wUJLD56jQUhhxPLR2Q3Ya7eQHrrVV17LjCkjHs4Nbdzr48A5ayjhvmSwVU8a42sd7XR5OoemrDlXW03WVJm0pVe1XwhbWafifDsQ2hlClbGUgLyBCEH9qWQTMCFPRTQ7X45dm+AlK0D5dKdVs3w2J4BlANjE6bx4U6Am/010NcLFpx1PL4YJZu4DO7l7GAJOgXZjrfbepJxAREQEREBERAREQPF1yorO7BURSzMSAFAGyST4AEqFf4htfzbA6dlZuOik/GASpHI8isW6Zz+gG/0mj1YR1LNp6WnI0VEX55AcLwGjTjkjyXPfz2AB7kaF1ooVFVEVURFCqqgBVUDQUAdgAPaeh0LWz26arlPSqq1xnERTwmca5nhu011yprM6In016vxs9WNLFbayRZS4421EMV06b7dxJqU/wBc+mnI/tDCBTqOKvJeH/MVju9DgA89jeu3nQ/hP+n+uVZuPXkUklLB4IIKsDpkYHwQQR/+Sl+zR0IvWc9GZxMTvpnszxieE+PYmJ4SkZAeqUssbEoSwJXkZIW0cbAzoiG1lWxLFKbWth4O967De5+RWL0605LX3tWeCvXQEDjVb2h2Z9n9shKl+30EjXIgYllb9K0456dfc4NCZF99YWoshqVcy2uqmj4IDj6gW0vcvY33AEf1G6xOnDqjFhfgVBa0Wy1d8L0GStwY9y5rKlWB4D9R2teD6TqquLjZrS1raF52D4FlhY3BVUhSpLse4JHxHHjQGcr0pUymlRxxrbvi5Cl7H+KRYLOGnJUIz7LfcbGvq2A2+p7c1aVOAiPd8QBg/EjhxbZ+p1774+85fSt/UmNv9oV1IoC/D4BO52eW+Njfp9pYogcmZdcpHwqUsGu5NvDR+2uJ3NHzeX+61/1P/rm3qvVVx1r2Gd7bVqrRfLu2yB+gADMT7BSZp6L1dsj4u6xX8Kxq21ZzIdTplP0j9D/OBwdSwsm98dzSEONabEC5Neixrav6uVBOuLuOxHn7ga7/AJvL/da/6n/1zk67gnKsFI4arq5EsiOEZ3CowR1Ks4RbSNgjet9jK7XVRh42TbfiVZyVZLJS64mKtliAIpFhVFTkLi6AgDeh28mBbfm8v91r/qv/AFyC6z1LKszvlarPlhWtLq3Y/FL2N8RguibFVUK8ew2xLHsJK+mqKmT4yYVWKW2F4rWGZd+SVUaBI3r7ak3qBF5PQk0xqULbyVwSXILJYtgB7+CVHieaegKWue08zcVZhoLoqW4gMuiQFKr/APXfkmS0QIBvTthvLi0JQvwuFYUMSKi7/UzeNu5++goI0Z21dJ/LvU501vxC5X2Nrs7hd+31kSSiBCZPp93sLjJI0wKA1I3HiRxQ78qPq7DR2297AknhYS1VpWvcINAnz+v8P4DsJ0RAREQEg/VtO6qG5MOGdinQOg286gaYe477/iJOSA9YKnw8fk2nGdi8B8Rl5H52nY4ggPpdnRB1rftuBPCZmBMwEREBERAREQEREBIv1P1sYWJfksN/CT6RpjydiFrXQ793ZR/P2kpKT6jX5/qeLggj4GIozMnTDbMGIx6vuO/1Ht4I7jtNWyWqblz3+rGs+Eeu6O+VapxCS9B+nTiYoa4A5mSxuyn+nk1rksVJHkLyI7dvOvMskROV67VeuTcq3z/PLsTEYjBKN05T0vqhxuwwOps9tHbQpyQAbKQd9lYfUBoDuAPB3eZV/wAR+nPbgPZV/wAfDdcqo9thqW5nW1PfiG8eToTTsVcdP2VXVr0nunhPKfpmOKKt2VoicvTM5b6Kbk/YuqWxfPh1DDyAfB+06piqpmmZieCxERICIiBw9U6SmQKuRdWptFtbo2mR1BXf2IKsykEEEMZyv6arGJdi1vZWL1fnaGPxTZbsvcWGvqJO+2vsNCTEQKn6S9OZaYDUZ17DKcfDNtT/AFitAErIdgdsVBOyN/Uf4zvx/SNarWtmRk3rXctoFlqkbRdVoVVQvBTpwAP2gCd6EnYgcHQ+jph0V49bWOlY0psfk2vZd/YDQ/lO+IgIiICIiAiIgIiICV/1fkIEx0KsXfNxuJFVjKus6jfJwpWvY7fURvwNywSD9WuwqoATkDnYvJtgcB89QQdHudnQ7feBNiZmBMwEREBERAREQEREDXkXrWjO50iKWY6J0ANk9u/gSp/hvQbKb+oWKBd1G43aG/oqH001799AE70N857/ABJzT8quJXv4/ULVx69KG4hiPiudkDtXy9/JH66s+HiJVXXVWvGutFRB37KqhVHfv4Am6PhbL33J/LHrV/yrvq8G6IiYVieXXYIPgjU9RApv4fBsZszpr8h8ndyo2QeWNcWaridDeiGB86PbcuUpnqRRidV6fm7C15AbCvPYd3+vHJ0pJ+tSNkgD6fA3LnN22+/VTe+eM/3bqvrGeatPYRETCsREQEREBERAREQEREBERAREQEREBIP1ar/Co4soUZ2LzBUksPnqNBSGAU70dkHsNdvMnJB+raiaqDzZQudikqOOn3nUDTbG9De+xHcfygTYmZgTMBERAREQEREBETVlZK1I9jkKiKWYn2UDZP8A2kxGZxAqOLrL65c5INfS6FrrAcEC68MbHIA3vh9GiTrR9z2ucqn4bqz4tmW4Isz8l8gglTxViEqTYA2AiL7eSZa5s26cXfZ/JEU843/mzPNWndkiImJYiIgQvrHoPz2Ffj7Ad03WSN8bFPJD4PbkAOw3onUz6P60czBx722LGTVoK8StqEpaNe31q0mZTfSSridQ6lg9gjuMygdv2LdLcAFUABbAB3Pgr+s3W/ibPXRxpnpR4bqv2zyVnScrlERMKxERAREQEREBERAREQEREBERAREQEgfV6Ka8cliGXOxSoFjLy/PUA7UEBwAfBB12PnvJ6V/1gtfDGLIGs+exhW3wixT89QW+sA/DBA13I347+IE+JmYEzAREQEREBERASo/iTklserCQ6s6jkJjgjW1rJ5XN3BB+ga9v29+0t0peHZ871q19A09Kq+EndtnIuG7G8gfSgKaIPknfjW7YYxcm7O6iM8/u/mmOStW7C4Y9CoioihURQqqAAFUDQAA8ADtNkRMUzlYiIkBERASneqD8v1PpeWTqu0vh2HmQN2gPQCoHcc1P6b4+JcZE+qugrnYl+M518RPpbW+Djuja99MB9v4iatkuU27sdPqzmJ8JjEzyzlWqMwlokD6H6ycvBosc/wB8oNdwJBItrJSwHROiSOXf2YH3k9ON23NquqirfE4TE5jJEROaSIiAiIgIiICIiAiIgIiICIiAkH6tsIqoARmDZ2KCwKaTWdQQW2QTsjXYHz9u8nJB+rQ/wqOJXj89i89gkkfPUa4kHQPLXnfaBNiZmBMwEREBERAREQI31J1pcPEvyXI1VWWGzoM2tIv820P5yP8AQPSGx8Gr4o/MXk33ngEJtuPNuS6GiNhfA1x17SO9a2HJy+ndOU7Fl3zOQo3/AMGj6lDjRHFrND6uxKgS5zfX8LZqaeNc55RpT9elPkrGskREwLEREBERAREQKZ6Zt+U6ln4L/SuQ/wA5jb4gOHAF6LoeVceN70N68mXOVD8RMZq0o6jVXzu6dd8RgOQL0EFb6+x+xDbIOuPjuZaMLMS6tLa2DV2IGUj3UjYM37V8Sii/HGMT+KPWMT45Vp00b4iJgWIiICIiAiIgIiICIiAiIgIiICQfq1W+FQVYBRnYvMFdlh89RoA7+nR0fB8a/WTkgfV2KGShyzg15uLoCx1U8s+gHmgPF/02Dr2gTomZgTMBERAREQE1ZOStaPY7BURSzMfCqo2xP8AJtlJ9e5RyrcfpFRPLKIfJKg7qxUO2O/ALMOIJ341ruJo2az7a5FM6RvmeyI1mfJEziHv8PsZshsjqtwIfObVCnzViodVL9gW1yIG/Y7JJlzmuiha1VEUKiKFUDwoA0AP0AmyNpve2uTXjEcI7IjSI8iIxBERM6SIiAiIgIiIHm2sMpVgGVgQQQCCCNEEHsRKf+HWS1S5XTbGLWdOuKIWH1NjuOVDE779iR7dgsuUpXr7p70PV1bHBN+GNXIN/3+MW/vEPfQ4gswOj9/YTfsmLkVbPV9/GPxRu88zHPPBWrTVdYmjCzEurS2tuVdiBlP3UjYM3zDMTE4lYiIkBERAREQEREBERAREQEREBK/6x+HwxuaqbPn8b4RKcirfO08iG19H08hvY3vUsEg/VtpFVACMwbOxQWBTSazqCC22BIJGvpB7n2HeBNiZmBMwEREBETTmZiU1vba611ovJmY6CgeSTJiJmcQObrnWasPHtyLiRXUuzobJ9gqj3JOh/OQPoHpFyrfnZa8cvqDixk0w+DWF1VSeXfaj7/oPbvF4VNnXL68m5Ph9Ix7OePU6Atl2AEC9ww7VjZ0Pff8Z9Bno3o+y2ps/fq63dHCnxzrVyjhKke9OSIieauREQEREBERAREQE821hlKsAysCCCAQQRogg+RPUQKL6RzG6dkt0nI7VkvZgWF1Ieots4/f6uaknsdnW/YLu9SE9W+mFz6OHL4V9bCyi4KC1NikFWH6bGiPt/KR3pL1a9ljYOeop6lSO4/wAGQntfSfcHWyB4/wC4HpXqftVE36OtHWj93hPHsnulSPd0WyIieauREQEREBERAREQEREBESv9X6P1Cy1mx+prj1EDVZwardEDuebMCdnv/OWppid84/ndAsEg/VvP4VHHjx+exeeyd6+eo1x12J5a8+0jB6e6vs/76Tjoa/3bRvffe/r8eP8AOcnV/S3VrK1UdXWz+/pbQ6fjprjk1sbNmz/Brnr34695f2dPzx9fRGV5EzKJ/sN1T/qG/wDpK/8AyTzX6H6tr6vUN29nxi1+Nnj5fzrX8519ja/qR5T6IzPYvs8WWhQWYhVUEkk6AAGyST2AlDb8Puos6NZ1y61V3tTXdUO48/3F6EnYHk/eeX/CpWLPY2JfY52Xuxs61zoADbNm71oCTFvZ461c8qfWYMz2JTqf4lYiFa8UnqGTYxCU45Dt9I2zM3hVA9/8vOuKn0fk9QtW/rBT4KEtVg1tyqQlQA1rj/iOPq+479jo8ZM4HR8ymtK67sCpEGgqdOuVB7nQGV99n+c3jF6js7ysLXt+QyN/rv8AN/wnSNrpsxjZ6ejPzTOauXCnlr3nRzvTFdYUBVACgaAA0AB4AHsJ6kDk1dTXjwvw326hvyVw4qT9T98vvoe03fK9Q/esP+gv/wBXMCyYiQqYvUffKwt7PjAyPG+3/N+dag4vUdj81hcdHf5DI3vtrX5rx5/ygTUSFfF6jo8crC5a7bwcjW/besrxM/K9Q/esP+gv/wBXAmYkKuL1HZ3lYWt9tYGR40PP5rzvf+U1ZdXU1UGu/DsbmgI+SuXStYq2Ps5f+FCza9+OveBPxIb5XqH71h/0F/8Aq5hMXqOvqysLez4wcjxs8fOV51r+cCaiQpxeo7H5rC46O/yORvexrX5rx5/ymfleofveH/QX/wCrgTMSFTF6jocsrD3rvrAv1v31+a8QMXqOz+awuOhr8hkb333v83/CBNSE9UekcfqFfG1eNqD+5uXtZS2wQyH+IHaeMqrqaheF+G5LqCPkrhpSwDv3y++hs699Td8r1D96w/6C/wD1c6W7tdqqK6JxMImM71eT1B1Dpn0dQpbMxVJ1m0KCypvQ+PSO4I7EsvbR9yDLD0j1fg5ZC4+XTa7LyCBxz1rf7B+revbWx7zymL1HX1ZWFvZ8YGRrW+3nL+2pE9a9E25jIck9NuKjQZunZHMDfZQwywePdjon3mub1i7rcp6M9tO7/Gf0mI7kYmNy4RPnmP8Ahtn0IyYvWrKK+5SoY7NWh14X4lzMF37b9zOj/Ybqn/UN/wDSV/8AknObNnOlzTwnP6/7Mz2L3EoS+huq7O/UN2t9tYle9aHn6/vuP9k+sVPWU63ZaGfi/PDoIROLHnprO55BRod/qlZtW+FyPKfROZ7F9iVRPT/VQRvrSkb7j+zaBse43z7SY9QrS2PZVfX8VbgaxXxDG1iDpVBIG+29kgDjslQCRxqpindMT5/rCUnuJVvSnSEsSjJvqqORQhorHwqx8t8JzXaq6GuZdG2V+keF2Pqa0ygREQEREBERAREQEREBERAREQEREBERAREQEREBERAREQEREBERAREQEREBOa7plL2pc9NTXVjSWGtC6A72FYja+T4PvEQGF0ymjl8Gmqrm3J+FaJyY+WbiBs/qZ0xEBER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1" name="AutoShape 7" descr="data:image/jpeg;base64,/9j/4AAQSkZJRgABAQAAAQABAAD/2wCEAAkGBhEQEBAREA8REA8QEBoVExUWEBAUFRIVFxEXFxMSFRcXHCceFxkjGRcWHzsgIycqLC0tFiAzNjAqNigsLCkBCQoKDgwOGg8PGiwgHyEtLDU1LjUqNS0qLCk1LDQsKS8sLDUsNS0tKjUsKSwsKSwvNC4sNCosNCotKSwsLCwsKf/AABEIAKYBMAMBIgACEQEDEQH/xAAbAAEAAgMBAQAAAAAAAAAAAAAABQYBAwQCB//EADsQAAICAgEDAgQDBQUIAwAAAAECAAMEERIFITEGQRMUIlEHJGEyVHGBlBUjQqHUFiUzRFaR0+NiguH/xAAZAQEAAwEBAAAAAAAAAAAAAAAAAQIEAwX/xAA1EQEAAQMBBAcFBwUAAAAAAAAAAQIDESEEMUGBEjJRYXGR0RMiI1KhFEJyosHC8FOCkrGy/9oADAMBAAIRAxEAPwD7jERAREQETh63ntj491yIrtUhbiz8AddyC3E67b9pW/Tl175tlVuRcWx8THsyFZk4tfctulQKoC1qqnY/xEIf8LFwuUSnY12TkHJxasyznTl/VkhcUiuscXWjS18WcnaFTsgAs2uSo0z6R6387hUZBGmZSr9tD4lbtXaV/wDjzRtfprx4gTEREBERAREQEREBERAREQEREBERAREQEREBEheu5tteR04I/FLspq7V4qea/K3WDuRsaatfEmoCIiAiasnJWtC7b0PsCSSToAD3JJA1+s805qOSqupcftKGUsutbBAJ1rY/7wN8Tw1oHuN/bY33Oh5+57SJ/t5Tfj1rZVq5WJrbtcAobba5ezLx1xPhu/09wmYkZi+oKn7nlWhrNitZxVXQceTg77Ac07nW+QI2O815fXFFmMtd+OwvYgLzBZwP2mRg3hfHYNskD6fMCXiIgJFde6ldQKTXWjI+RVXYzOQUFuTVV9KgfUdOfcaIB7+JKyD9Wq/wqOLKFGdi8wUJLD56jQUhhxPLR2Q3Ya7eQHrrVV17LjCkjHs4Nbdzr48A5ayjhvmSwVU8a42sd7XR5OoemrDlXW03WVJm0pVe1XwhbWafifDsQ2hlClbGUgLyBCEH9qWQTMCFPRTQ7X45dm+AlK0D5dKdVs3w2J4BlANjE6bx4U6Am/010NcLFpx1PL4YJZu4DO7l7GAJOgXZjrfbepJxAREQEREBERAREQPF1yorO7BURSzMSAFAGyST4AEqFf4htfzbA6dlZuOik/GASpHI8isW6Zz+gG/0mj1YR1LNp6WnI0VEX55AcLwGjTjkjyXPfz2AB7kaF1ooVFVEVURFCqqgBVUDQUAdgAPaeh0LWz26arlPSqq1xnERTwmca5nhu011yprM6In016vxs9WNLFbayRZS4421EMV06b7dxJqU/wBc+mnI/tDCBTqOKvJeH/MVju9DgA89jeu3nQ/hP+n+uVZuPXkUklLB4IIKsDpkYHwQQR/+Sl+zR0IvWc9GZxMTvpnszxieE+PYmJ4SkZAeqUssbEoSwJXkZIW0cbAzoiG1lWxLFKbWth4O967De5+RWL0605LX3tWeCvXQEDjVb2h2Z9n9shKl+30EjXIgYllb9K0456dfc4NCZF99YWoshqVcy2uqmj4IDj6gW0vcvY33AEf1G6xOnDqjFhfgVBa0Wy1d8L0GStwY9y5rKlWB4D9R2teD6TqquLjZrS1raF52D4FlhY3BVUhSpLse4JHxHHjQGcr0pUymlRxxrbvi5Cl7H+KRYLOGnJUIz7LfcbGvq2A2+p7c1aVOAiPd8QBg/EjhxbZ+p1774+85fSt/UmNv9oV1IoC/D4BO52eW+Njfp9pYogcmZdcpHwqUsGu5NvDR+2uJ3NHzeX+61/1P/rm3qvVVx1r2Gd7bVqrRfLu2yB+gADMT7BSZp6L1dsj4u6xX8Kxq21ZzIdTplP0j9D/OBwdSwsm98dzSEONabEC5Neixrav6uVBOuLuOxHn7ga7/AJvL/da/6n/1zk67gnKsFI4arq5EsiOEZ3CowR1Ks4RbSNgjet9jK7XVRh42TbfiVZyVZLJS64mKtliAIpFhVFTkLi6AgDeh28mBbfm8v91r/qv/AFyC6z1LKszvlarPlhWtLq3Y/FL2N8RguibFVUK8ew2xLHsJK+mqKmT4yYVWKW2F4rWGZd+SVUaBI3r7ak3qBF5PQk0xqULbyVwSXILJYtgB7+CVHieaegKWue08zcVZhoLoqW4gMuiQFKr/APXfkmS0QIBvTthvLi0JQvwuFYUMSKi7/UzeNu5++goI0Z21dJ/LvU501vxC5X2Nrs7hd+31kSSiBCZPp93sLjJI0wKA1I3HiRxQ78qPq7DR2297AknhYS1VpWvcINAnz+v8P4DsJ0RAREQEg/VtO6qG5MOGdinQOg286gaYe477/iJOSA9YKnw8fk2nGdi8B8Rl5H52nY4ggPpdnRB1rftuBPCZmBMwEREBERAREQEREBIv1P1sYWJfksN/CT6RpjydiFrXQ793ZR/P2kpKT6jX5/qeLggj4GIozMnTDbMGIx6vuO/1Ht4I7jtNWyWqblz3+rGs+Eeu6O+VapxCS9B+nTiYoa4A5mSxuyn+nk1rksVJHkLyI7dvOvMskROV67VeuTcq3z/PLsTEYjBKN05T0vqhxuwwOps9tHbQpyQAbKQd9lYfUBoDuAPB3eZV/wAR+nPbgPZV/wAfDdcqo9thqW5nW1PfiG8eToTTsVcdP2VXVr0nunhPKfpmOKKt2VoicvTM5b6Kbk/YuqWxfPh1DDyAfB+06piqpmmZieCxERICIiBw9U6SmQKuRdWptFtbo2mR1BXf2IKsykEEEMZyv6arGJdi1vZWL1fnaGPxTZbsvcWGvqJO+2vsNCTEQKn6S9OZaYDUZ17DKcfDNtT/AFitAErIdgdsVBOyN/Uf4zvx/SNarWtmRk3rXctoFlqkbRdVoVVQvBTpwAP2gCd6EnYgcHQ+jph0V49bWOlY0psfk2vZd/YDQ/lO+IgIiICIiAiIgIiICV/1fkIEx0KsXfNxuJFVjKus6jfJwpWvY7fURvwNywSD9WuwqoATkDnYvJtgcB89QQdHudnQ7feBNiZmBMwEREBERAREQEREDXkXrWjO50iKWY6J0ANk9u/gSp/hvQbKb+oWKBd1G43aG/oqH001799AE70N857/ABJzT8quJXv4/ULVx69KG4hiPiudkDtXy9/JH66s+HiJVXXVWvGutFRB37KqhVHfv4Am6PhbL33J/LHrV/yrvq8G6IiYVieXXYIPgjU9RApv4fBsZszpr8h8ndyo2QeWNcWaridDeiGB86PbcuUpnqRRidV6fm7C15AbCvPYd3+vHJ0pJ+tSNkgD6fA3LnN22+/VTe+eM/3bqvrGeatPYRETCsREQEREBERAREQEREBERAREQEREBIP1ar/Co4soUZ2LzBUksPnqNBSGAU70dkHsNdvMnJB+raiaqDzZQudikqOOn3nUDTbG9De+xHcfygTYmZgTMBERAREQEREBETVlZK1I9jkKiKWYn2UDZP8A2kxGZxAqOLrL65c5INfS6FrrAcEC68MbHIA3vh9GiTrR9z2ucqn4bqz4tmW4Isz8l8gglTxViEqTYA2AiL7eSZa5s26cXfZ/JEU843/mzPNWndkiImJYiIgQvrHoPz2Ffj7Ad03WSN8bFPJD4PbkAOw3onUz6P60czBx722LGTVoK8StqEpaNe31q0mZTfSSridQ6lg9gjuMygdv2LdLcAFUABbAB3Pgr+s3W/ibPXRxpnpR4bqv2zyVnScrlERMKxERAREQEREBERAREQEREBERAREQEgfV6Ka8cliGXOxSoFjLy/PUA7UEBwAfBB12PnvJ6V/1gtfDGLIGs+exhW3wixT89QW+sA/DBA13I347+IE+JmYEzAREQEREBERASo/iTklserCQ6s6jkJjgjW1rJ5XN3BB+ga9v29+0t0peHZ871q19A09Kq+EndtnIuG7G8gfSgKaIPknfjW7YYxcm7O6iM8/u/mmOStW7C4Y9CoioihURQqqAAFUDQAA8ADtNkRMUzlYiIkBERASneqD8v1PpeWTqu0vh2HmQN2gPQCoHcc1P6b4+JcZE+qugrnYl+M518RPpbW+Djuja99MB9v4iatkuU27sdPqzmJ8JjEzyzlWqMwlokD6H6ycvBosc/wB8oNdwJBItrJSwHROiSOXf2YH3k9ON23NquqirfE4TE5jJEROaSIiAiIgIiICIiAiIgIiICIiAkH6tsIqoARmDZ2KCwKaTWdQQW2QTsjXYHz9u8nJB+rQ/wqOJXj89i89gkkfPUa4kHQPLXnfaBNiZmBMwEREBERAREQI31J1pcPEvyXI1VWWGzoM2tIv820P5yP8AQPSGx8Gr4o/MXk33ngEJtuPNuS6GiNhfA1x17SO9a2HJy+ndOU7Fl3zOQo3/AMGj6lDjRHFrND6uxKgS5zfX8LZqaeNc55RpT9elPkrGskREwLEREBERAREQKZ6Zt+U6ln4L/SuQ/wA5jb4gOHAF6LoeVceN70N68mXOVD8RMZq0o6jVXzu6dd8RgOQL0EFb6+x+xDbIOuPjuZaMLMS6tLa2DV2IGUj3UjYM37V8Sii/HGMT+KPWMT45Vp00b4iJgWIiICIiAiIgIiICIiAiIgIiICQfq1W+FQVYBRnYvMFdlh89RoA7+nR0fB8a/WTkgfV2KGShyzg15uLoCx1U8s+gHmgPF/02Dr2gTomZgTMBERAREQE1ZOStaPY7BURSzMfCqo2xP8AJtlJ9e5RyrcfpFRPLKIfJKg7qxUO2O/ALMOIJ341ruJo2az7a5FM6RvmeyI1mfJEziHv8PsZshsjqtwIfObVCnzViodVL9gW1yIG/Y7JJlzmuiha1VEUKiKFUDwoA0AP0AmyNpve2uTXjEcI7IjSI8iIxBERM6SIiAiIgIiIHm2sMpVgGVgQQQCCCNEEHsRKf+HWS1S5XTbGLWdOuKIWH1NjuOVDE779iR7dgsuUpXr7p70PV1bHBN+GNXIN/3+MW/vEPfQ4gswOj9/YTfsmLkVbPV9/GPxRu88zHPPBWrTVdYmjCzEurS2tuVdiBlP3UjYM3zDMTE4lYiIkBERAREQEREBERAREQEREBK/6x+HwxuaqbPn8b4RKcirfO08iG19H08hvY3vUsEg/VtpFVACMwbOxQWBTSazqCC22BIJGvpB7n2HeBNiZmBMwEREBETTmZiU1vba611ovJmY6CgeSTJiJmcQObrnWasPHtyLiRXUuzobJ9gqj3JOh/OQPoHpFyrfnZa8cvqDixk0w+DWF1VSeXfaj7/oPbvF4VNnXL68m5Ph9Ix7OePU6Atl2AEC9ww7VjZ0Pff8Z9Bno3o+y2ps/fq63dHCnxzrVyjhKke9OSIieauREQEREBERAREQE821hlKsAysCCCAQQRogg+RPUQKL6RzG6dkt0nI7VkvZgWF1Ieots4/f6uaknsdnW/YLu9SE9W+mFz6OHL4V9bCyi4KC1NikFWH6bGiPt/KR3pL1a9ljYOeop6lSO4/wAGQntfSfcHWyB4/wC4HpXqftVE36OtHWj93hPHsnulSPd0WyIieauREQEREBERAREQEREBESv9X6P1Cy1mx+prj1EDVZwardEDuebMCdnv/OWppid84/ndAsEg/VvP4VHHjx+exeeyd6+eo1x12J5a8+0jB6e6vs/76Tjoa/3bRvffe/r8eP8AOcnV/S3VrK1UdXWz+/pbQ6fjprjk1sbNmz/Brnr34695f2dPzx9fRGV5EzKJ/sN1T/qG/wDpK/8AyTzX6H6tr6vUN29nxi1+Nnj5fzrX8519ja/qR5T6IzPYvs8WWhQWYhVUEkk6AAGyST2AlDb8Puos6NZ1y61V3tTXdUO48/3F6EnYHk/eeX/CpWLPY2JfY52Xuxs61zoADbNm71oCTFvZ461c8qfWYMz2JTqf4lYiFa8UnqGTYxCU45Dt9I2zM3hVA9/8vOuKn0fk9QtW/rBT4KEtVg1tyqQlQA1rj/iOPq+479jo8ZM4HR8ymtK67sCpEGgqdOuVB7nQGV99n+c3jF6js7ysLXt+QyN/rv8AN/wnSNrpsxjZ6ejPzTOauXCnlr3nRzvTFdYUBVACgaAA0AB4AHsJ6kDk1dTXjwvw326hvyVw4qT9T98vvoe03fK9Q/esP+gv/wBXMCyYiQqYvUffKwt7PjAyPG+3/N+dag4vUdj81hcdHf5DI3vtrX5rx5/ygTUSFfF6jo8crC5a7bwcjW/besrxM/K9Q/esP+gv/wBXAmYkKuL1HZ3lYWt9tYGR40PP5rzvf+U1ZdXU1UGu/DsbmgI+SuXStYq2Ps5f+FCza9+OveBPxIb5XqH71h/0F/8Aq5hMXqOvqysLez4wcjxs8fOV51r+cCaiQpxeo7H5rC46O/yORvexrX5rx5/ymfleofveH/QX/wCrgTMSFTF6jocsrD3rvrAv1v31+a8QMXqOz+awuOhr8hkb333v83/CBNSE9UekcfqFfG1eNqD+5uXtZS2wQyH+IHaeMqrqaheF+G5LqCPkrhpSwDv3y++hs699Td8r1D96w/6C/wD1c6W7tdqqK6JxMImM71eT1B1Dpn0dQpbMxVJ1m0KCypvQ+PSO4I7EsvbR9yDLD0j1fg5ZC4+XTa7LyCBxz1rf7B+revbWx7zymL1HX1ZWFvZ8YGRrW+3nL+2pE9a9E25jIck9NuKjQZunZHMDfZQwywePdjon3mub1i7rcp6M9tO7/Gf0mI7kYmNy4RPnmP8Ahtn0IyYvWrKK+5SoY7NWh14X4lzMF37b9zOj/Ybqn/UN/wDSV/8AknObNnOlzTwnP6/7Mz2L3EoS+huq7O/UN2t9tYle9aHn6/vuP9k+sVPWU63ZaGfi/PDoIROLHnprO55BRod/qlZtW+FyPKfROZ7F9iVRPT/VQRvrSkb7j+zaBse43z7SY9QrS2PZVfX8VbgaxXxDG1iDpVBIG+29kgDjslQCRxqpindMT5/rCUnuJVvSnSEsSjJvqqORQhorHwqx8t8JzXaq6GuZdG2V+keF2Pqa0ygREQEREBERAREQEREBERAREQEREBERAREQEREBERAREQEREBERAREQEREBOa7plL2pc9NTXVjSWGtC6A72FYja+T4PvEQGF0ymjl8Gmqrm3J+FaJyY+WbiBs/qZ0xEBER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17"/>
          <p:cNvGrpSpPr/>
          <p:nvPr/>
        </p:nvGrpSpPr>
        <p:grpSpPr>
          <a:xfrm>
            <a:off x="5341625" y="4341958"/>
            <a:ext cx="3141409" cy="1982531"/>
            <a:chOff x="2257194" y="723798"/>
            <a:chExt cx="6422235" cy="4084176"/>
          </a:xfrm>
        </p:grpSpPr>
        <p:pic>
          <p:nvPicPr>
            <p:cNvPr id="1035" name="Picture 11" descr="http://ars.els-cdn.com/content/image/1-s2.0-S0020768310001939-gr1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257194" y="723798"/>
              <a:ext cx="6379319" cy="4084176"/>
            </a:xfrm>
            <a:prstGeom prst="rect">
              <a:avLst/>
            </a:prstGeom>
            <a:noFill/>
          </p:spPr>
        </p:pic>
        <p:sp>
          <p:nvSpPr>
            <p:cNvPr id="14" name="Rectangle 13"/>
            <p:cNvSpPr/>
            <p:nvPr/>
          </p:nvSpPr>
          <p:spPr>
            <a:xfrm>
              <a:off x="2809570" y="2485103"/>
              <a:ext cx="2448233" cy="1769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000" dirty="0" smtClean="0">
                  <a:solidFill>
                    <a:schemeClr val="bg2">
                      <a:lumMod val="10000"/>
                    </a:schemeClr>
                  </a:solidFill>
                </a:rPr>
                <a:t>Uniform</a:t>
              </a:r>
              <a:endParaRPr lang="en-US" sz="10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69744" y="2475271"/>
              <a:ext cx="2509685" cy="1794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000" dirty="0" err="1" smtClean="0">
                  <a:solidFill>
                    <a:schemeClr val="bg2">
                      <a:lumMod val="10000"/>
                    </a:schemeClr>
                  </a:solidFill>
                </a:rPr>
                <a:t>Normal</a:t>
              </a:r>
              <a:endParaRPr lang="en-US" sz="10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29233" y="4613787"/>
              <a:ext cx="2448233" cy="1769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000" dirty="0" err="1" smtClean="0">
                  <a:solidFill>
                    <a:schemeClr val="bg2">
                      <a:lumMod val="10000"/>
                    </a:schemeClr>
                  </a:solidFill>
                </a:rPr>
                <a:t>Lognormal</a:t>
              </a:r>
              <a:endParaRPr lang="en-US" sz="10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211531" y="4626078"/>
              <a:ext cx="2448233" cy="1769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000" dirty="0" err="1" smtClean="0">
                  <a:solidFill>
                    <a:schemeClr val="bg2">
                      <a:lumMod val="10000"/>
                    </a:schemeClr>
                  </a:solidFill>
                </a:rPr>
                <a:t>Lognormal</a:t>
              </a:r>
              <a:endParaRPr lang="en-US" sz="10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6678592" y="2951546"/>
          <a:ext cx="21240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r:id="rId6" imgW="2120900" imgH="660400" progId="">
                  <p:embed/>
                </p:oleObj>
              </mc:Choice>
              <mc:Fallback>
                <p:oleObj r:id="rId6" imgW="2120900" imgH="660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8592" y="2951546"/>
                        <a:ext cx="2124075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4977115" y="1620455"/>
          <a:ext cx="20097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2" r:id="rId8" imgW="2005729" imgH="533169" progId="">
                  <p:embed/>
                </p:oleObj>
              </mc:Choice>
              <mc:Fallback>
                <p:oleObj r:id="rId8" imgW="2005729" imgH="533169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7115" y="1620455"/>
                        <a:ext cx="200977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5034986" y="2245488"/>
          <a:ext cx="38100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r:id="rId10" imgW="3810000" imgH="584200" progId="">
                  <p:embed/>
                </p:oleObj>
              </mc:Choice>
              <mc:Fallback>
                <p:oleObj r:id="rId10" imgW="3810000" imgH="5842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4986" y="2245488"/>
                        <a:ext cx="381000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Proxys</a:t>
            </a:r>
            <a:r>
              <a:rPr lang="nl-NL" dirty="0" smtClean="0"/>
              <a:t> </a:t>
            </a:r>
            <a:r>
              <a:rPr lang="nl-NL" dirty="0" err="1" smtClean="0"/>
              <a:t>for</a:t>
            </a:r>
            <a:r>
              <a:rPr lang="nl-NL" dirty="0" smtClean="0"/>
              <a:t> </a:t>
            </a:r>
            <a:r>
              <a:rPr lang="nl-NL" dirty="0" err="1" smtClean="0"/>
              <a:t>responses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 err="1" smtClean="0"/>
              <a:t>FirstOrderProxy</a:t>
            </a:r>
            <a:r>
              <a:rPr lang="en-US" dirty="0" smtClean="0"/>
              <a:t> P10: 		Single plane (from P10 and P50)</a:t>
            </a:r>
          </a:p>
          <a:p>
            <a:endParaRPr lang="en-US" dirty="0" smtClean="0"/>
          </a:p>
          <a:p>
            <a:r>
              <a:rPr lang="en-US" dirty="0" err="1" smtClean="0"/>
              <a:t>FirstOrderProxy</a:t>
            </a:r>
            <a:r>
              <a:rPr lang="en-US" dirty="0" smtClean="0"/>
              <a:t> P90: 		Single plane (from P50 and P90)</a:t>
            </a:r>
          </a:p>
          <a:p>
            <a:endParaRPr lang="en-US" dirty="0" smtClean="0"/>
          </a:p>
          <a:p>
            <a:r>
              <a:rPr lang="en-US" dirty="0" err="1" smtClean="0"/>
              <a:t>FirstOrderDoubleProxy</a:t>
            </a:r>
            <a:r>
              <a:rPr lang="en-US" dirty="0" smtClean="0"/>
              <a:t>: 	Double plane (P10, P50 and P90), </a:t>
            </a:r>
          </a:p>
          <a:p>
            <a:r>
              <a:rPr lang="en-US" dirty="0" smtClean="0"/>
              <a:t>										connecting at </a:t>
            </a:r>
            <a:r>
              <a:rPr lang="en-US" dirty="0" err="1" smtClean="0"/>
              <a:t>basecase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SecondOrderProxy</a:t>
            </a:r>
            <a:r>
              <a:rPr lang="en-US" dirty="0" smtClean="0"/>
              <a:t>: 		Second order surface (P10, P50 and P90)</a:t>
            </a:r>
          </a:p>
          <a:p>
            <a:endParaRPr lang="en-US" dirty="0" smtClean="0"/>
          </a:p>
          <a:p>
            <a:r>
              <a:rPr lang="en-US" dirty="0" err="1" smtClean="0"/>
              <a:t>ExperimentalDesign</a:t>
            </a:r>
            <a:r>
              <a:rPr lang="en-US" dirty="0" smtClean="0"/>
              <a:t>: 		Least square fit of single plane (P10, P50 and P90)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January 2012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correlations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NL" dirty="0" err="1" smtClean="0"/>
              <a:t>Source</a:t>
            </a:r>
            <a:r>
              <a:rPr lang="nl-NL" dirty="0" smtClean="0"/>
              <a:t>: </a:t>
            </a:r>
          </a:p>
          <a:p>
            <a:r>
              <a:rPr lang="en-US" dirty="0" smtClean="0">
                <a:hlinkClick r:id="rId2"/>
              </a:rPr>
              <a:t>http://en.wikipedia.org/wiki/Correlation_and_dependence</a:t>
            </a:r>
            <a:endParaRPr lang="en-US" dirty="0" smtClean="0"/>
          </a:p>
          <a:p>
            <a:endParaRPr lang="nl-NL" dirty="0" smtClean="0"/>
          </a:p>
          <a:p>
            <a:r>
              <a:rPr lang="nl-NL" dirty="0" err="1" smtClean="0"/>
              <a:t>Value</a:t>
            </a:r>
            <a:r>
              <a:rPr lang="nl-NL" dirty="0" smtClean="0"/>
              <a:t> </a:t>
            </a:r>
            <a:r>
              <a:rPr lang="nl-NL" dirty="0" err="1" smtClean="0"/>
              <a:t>from</a:t>
            </a:r>
            <a:r>
              <a:rPr lang="nl-NL" dirty="0" smtClean="0"/>
              <a:t> [-1,1]</a:t>
            </a:r>
          </a:p>
          <a:p>
            <a:endParaRPr lang="nl-NL" dirty="0" smtClean="0"/>
          </a:p>
          <a:p>
            <a:r>
              <a:rPr lang="nl-NL" dirty="0" err="1" smtClean="0"/>
              <a:t>Fully</a:t>
            </a:r>
            <a:r>
              <a:rPr lang="nl-NL" dirty="0" smtClean="0"/>
              <a:t> </a:t>
            </a:r>
            <a:r>
              <a:rPr lang="nl-NL" dirty="0" err="1" smtClean="0"/>
              <a:t>correlated</a:t>
            </a:r>
            <a:r>
              <a:rPr lang="nl-NL" dirty="0" smtClean="0"/>
              <a:t> </a:t>
            </a:r>
            <a:r>
              <a:rPr lang="nl-NL" dirty="0" err="1" smtClean="0"/>
              <a:t>means</a:t>
            </a:r>
            <a:r>
              <a:rPr lang="nl-NL" dirty="0" smtClean="0"/>
              <a:t> 1-on-1 </a:t>
            </a:r>
            <a:r>
              <a:rPr lang="nl-NL" dirty="0" err="1" smtClean="0"/>
              <a:t>relation</a:t>
            </a:r>
            <a:r>
              <a:rPr lang="nl-NL" dirty="0" smtClean="0"/>
              <a:t>, i.e. the </a:t>
            </a:r>
            <a:r>
              <a:rPr lang="nl-NL" dirty="0" err="1" smtClean="0"/>
              <a:t>dependent</a:t>
            </a:r>
            <a:r>
              <a:rPr lang="nl-NL" dirty="0" smtClean="0"/>
              <a:t> </a:t>
            </a:r>
            <a:r>
              <a:rPr lang="nl-NL" dirty="0" err="1" smtClean="0"/>
              <a:t>stochast</a:t>
            </a:r>
            <a:r>
              <a:rPr lang="nl-NL" dirty="0" smtClean="0"/>
              <a:t> is </a:t>
            </a:r>
            <a:r>
              <a:rPr lang="nl-NL" dirty="0" err="1" smtClean="0"/>
              <a:t>known</a:t>
            </a:r>
            <a:r>
              <a:rPr lang="nl-NL" dirty="0" smtClean="0"/>
              <a:t> </a:t>
            </a:r>
            <a:r>
              <a:rPr lang="nl-NL" dirty="0" err="1" smtClean="0"/>
              <a:t>main</a:t>
            </a:r>
            <a:r>
              <a:rPr lang="nl-NL" dirty="0" smtClean="0"/>
              <a:t> </a:t>
            </a:r>
            <a:r>
              <a:rPr lang="nl-NL" dirty="0" err="1" smtClean="0"/>
              <a:t>stochast</a:t>
            </a:r>
            <a:r>
              <a:rPr lang="nl-NL" dirty="0" smtClean="0"/>
              <a:t> is </a:t>
            </a:r>
            <a:r>
              <a:rPr lang="nl-NL" dirty="0" err="1" smtClean="0"/>
              <a:t>sampled</a:t>
            </a:r>
            <a:r>
              <a:rPr lang="nl-NL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1118" y="4724400"/>
            <a:ext cx="6322247" cy="849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 smtClean="0"/>
              <a:t>Reliability</a:t>
            </a:r>
            <a:r>
              <a:rPr lang="nl-NL" dirty="0" smtClean="0"/>
              <a:t> </a:t>
            </a:r>
            <a:r>
              <a:rPr lang="nl-NL" dirty="0" err="1" smtClean="0"/>
              <a:t>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Material</a:t>
            </a:r>
            <a:r>
              <a:rPr lang="nl-NL" dirty="0" smtClean="0"/>
              <a:t> &amp; </a:t>
            </a:r>
            <a:r>
              <a:rPr lang="nl-NL" dirty="0" err="1" smtClean="0"/>
              <a:t>Operational</a:t>
            </a:r>
            <a:r>
              <a:rPr lang="nl-NL" dirty="0" smtClean="0"/>
              <a:t> </a:t>
            </a:r>
            <a:r>
              <a:rPr lang="nl-NL" dirty="0" err="1" smtClean="0"/>
              <a:t>failure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NL" sz="1600" dirty="0" err="1" smtClean="0"/>
              <a:t>Proxies</a:t>
            </a:r>
            <a:r>
              <a:rPr lang="nl-NL" sz="1600" dirty="0" smtClean="0"/>
              <a:t> are </a:t>
            </a:r>
            <a:r>
              <a:rPr lang="nl-NL" sz="1600" dirty="0" err="1" smtClean="0"/>
              <a:t>based</a:t>
            </a:r>
            <a:r>
              <a:rPr lang="nl-NL" sz="1600" dirty="0" smtClean="0"/>
              <a:t> </a:t>
            </a:r>
            <a:r>
              <a:rPr lang="nl-NL" sz="1600" dirty="0" err="1" smtClean="0"/>
              <a:t>on</a:t>
            </a:r>
            <a:r>
              <a:rPr lang="nl-NL" sz="1600" dirty="0" smtClean="0"/>
              <a:t> </a:t>
            </a:r>
            <a:r>
              <a:rPr lang="nl-NL" sz="1600" dirty="0" err="1" smtClean="0"/>
              <a:t>responses</a:t>
            </a:r>
            <a:endParaRPr lang="nl-NL" sz="1600" dirty="0" smtClean="0"/>
          </a:p>
          <a:p>
            <a:endParaRPr lang="nl-NL" sz="1600" dirty="0" smtClean="0"/>
          </a:p>
          <a:p>
            <a:r>
              <a:rPr lang="nl-NL" sz="1600" dirty="0" smtClean="0"/>
              <a:t>Response = </a:t>
            </a:r>
            <a:r>
              <a:rPr lang="en-US" sz="1600" dirty="0" smtClean="0"/>
              <a:t>Max, mean, fail area, fail area %</a:t>
            </a:r>
          </a:p>
          <a:p>
            <a:pPr lvl="1"/>
            <a:r>
              <a:rPr lang="nl-NL" sz="1600" dirty="0" err="1" smtClean="0"/>
              <a:t>Failure</a:t>
            </a:r>
            <a:r>
              <a:rPr lang="nl-NL" sz="1600" dirty="0" smtClean="0"/>
              <a:t> </a:t>
            </a:r>
            <a:r>
              <a:rPr lang="nl-NL" sz="1600" dirty="0" err="1" smtClean="0"/>
              <a:t>area</a:t>
            </a:r>
            <a:r>
              <a:rPr lang="nl-NL" sz="1600" dirty="0" smtClean="0"/>
              <a:t> and </a:t>
            </a:r>
            <a:r>
              <a:rPr lang="nl-NL" sz="1600" dirty="0" err="1" smtClean="0"/>
              <a:t>failure</a:t>
            </a:r>
            <a:r>
              <a:rPr lang="nl-NL" sz="1600" dirty="0" smtClean="0"/>
              <a:t> </a:t>
            </a:r>
            <a:r>
              <a:rPr lang="nl-NL" sz="1600" dirty="0" err="1" smtClean="0"/>
              <a:t>area</a:t>
            </a:r>
            <a:r>
              <a:rPr lang="nl-NL" sz="1600" dirty="0" smtClean="0"/>
              <a:t> % are the </a:t>
            </a:r>
            <a:r>
              <a:rPr lang="nl-NL" sz="1600" dirty="0" err="1" smtClean="0"/>
              <a:t>result</a:t>
            </a:r>
            <a:r>
              <a:rPr lang="nl-NL" sz="1600" dirty="0" smtClean="0"/>
              <a:t> of </a:t>
            </a:r>
            <a:r>
              <a:rPr lang="nl-NL" sz="1600" dirty="0" err="1" smtClean="0"/>
              <a:t>material</a:t>
            </a:r>
            <a:r>
              <a:rPr lang="nl-NL" sz="1600" dirty="0" smtClean="0"/>
              <a:t> </a:t>
            </a:r>
            <a:r>
              <a:rPr lang="nl-NL" sz="1600" dirty="0" err="1" smtClean="0"/>
              <a:t>failure</a:t>
            </a:r>
            <a:endParaRPr lang="nl-NL" sz="1600" dirty="0" smtClean="0"/>
          </a:p>
          <a:p>
            <a:pPr lvl="1"/>
            <a:r>
              <a:rPr lang="nl-NL" sz="1600" dirty="0" err="1" smtClean="0"/>
              <a:t>Material</a:t>
            </a:r>
            <a:r>
              <a:rPr lang="nl-NL" sz="1600" dirty="0" smtClean="0"/>
              <a:t> </a:t>
            </a:r>
            <a:r>
              <a:rPr lang="nl-NL" sz="1600" dirty="0" err="1" smtClean="0"/>
              <a:t>failure</a:t>
            </a:r>
            <a:r>
              <a:rPr lang="nl-NL" sz="1600" dirty="0" smtClean="0"/>
              <a:t> is </a:t>
            </a:r>
            <a:r>
              <a:rPr lang="nl-NL" sz="1600" dirty="0" err="1" smtClean="0"/>
              <a:t>defined</a:t>
            </a:r>
            <a:r>
              <a:rPr lang="nl-NL" sz="1600" dirty="0" smtClean="0"/>
              <a:t> as component </a:t>
            </a:r>
            <a:r>
              <a:rPr lang="nl-NL" sz="1600" dirty="0" err="1" smtClean="0"/>
              <a:t>property</a:t>
            </a:r>
            <a:r>
              <a:rPr lang="nl-NL" sz="1600" dirty="0" smtClean="0"/>
              <a:t>, e.g. SCU = 1, S3Min, E1 Max, </a:t>
            </a:r>
            <a:r>
              <a:rPr lang="nl-NL" sz="1600" dirty="0" err="1" smtClean="0"/>
              <a:t>Uz</a:t>
            </a:r>
            <a:r>
              <a:rPr lang="nl-NL" sz="1600" dirty="0" smtClean="0"/>
              <a:t> Max (</a:t>
            </a:r>
            <a:r>
              <a:rPr lang="nl-NL" sz="1600" dirty="0" err="1" smtClean="0"/>
              <a:t>Uz</a:t>
            </a:r>
            <a:r>
              <a:rPr lang="nl-NL" sz="1600" dirty="0" smtClean="0"/>
              <a:t> Max = 0 </a:t>
            </a:r>
            <a:r>
              <a:rPr lang="nl-NL" sz="1600" dirty="0" err="1" smtClean="0"/>
              <a:t>gives</a:t>
            </a:r>
            <a:r>
              <a:rPr lang="nl-NL" sz="1600" dirty="0" smtClean="0"/>
              <a:t> </a:t>
            </a:r>
            <a:r>
              <a:rPr lang="nl-NL" sz="1600" dirty="0" err="1" smtClean="0"/>
              <a:t>subsidence</a:t>
            </a:r>
            <a:r>
              <a:rPr lang="nl-NL" sz="1600" dirty="0" smtClean="0"/>
              <a:t> bowl)</a:t>
            </a:r>
          </a:p>
          <a:p>
            <a:pPr lvl="1">
              <a:buNone/>
            </a:pPr>
            <a:endParaRPr lang="nl-NL" sz="1600" dirty="0" smtClean="0"/>
          </a:p>
          <a:p>
            <a:pPr lvl="1">
              <a:buNone/>
            </a:pPr>
            <a:r>
              <a:rPr lang="nl-NL" sz="1600" dirty="0" err="1" smtClean="0"/>
              <a:t>Reliability</a:t>
            </a:r>
            <a:r>
              <a:rPr lang="nl-NL" sz="1600" dirty="0" smtClean="0"/>
              <a:t> is </a:t>
            </a:r>
            <a:r>
              <a:rPr lang="nl-NL" sz="1600" dirty="0" err="1" smtClean="0"/>
              <a:t>based</a:t>
            </a:r>
            <a:r>
              <a:rPr lang="nl-NL" sz="1600" dirty="0" smtClean="0"/>
              <a:t> </a:t>
            </a:r>
            <a:r>
              <a:rPr lang="nl-NL" sz="1600" dirty="0" err="1" smtClean="0"/>
              <a:t>on</a:t>
            </a:r>
            <a:r>
              <a:rPr lang="nl-NL" sz="1600" dirty="0" smtClean="0"/>
              <a:t> </a:t>
            </a:r>
            <a:r>
              <a:rPr lang="nl-NL" sz="1600" dirty="0" err="1" smtClean="0"/>
              <a:t>operational</a:t>
            </a:r>
            <a:r>
              <a:rPr lang="nl-NL" sz="1600" dirty="0" smtClean="0"/>
              <a:t> </a:t>
            </a:r>
            <a:r>
              <a:rPr lang="nl-NL" sz="1600" dirty="0" err="1" smtClean="0"/>
              <a:t>failure</a:t>
            </a:r>
            <a:r>
              <a:rPr lang="nl-NL" sz="1600" dirty="0" smtClean="0"/>
              <a:t>:</a:t>
            </a:r>
          </a:p>
          <a:p>
            <a:pPr lvl="1"/>
            <a:r>
              <a:rPr lang="nl-NL" sz="1600" dirty="0" smtClean="0"/>
              <a:t>LSF = </a:t>
            </a:r>
            <a:r>
              <a:rPr lang="nl-NL" sz="1600" dirty="0" err="1" smtClean="0"/>
              <a:t>Z-function</a:t>
            </a:r>
            <a:r>
              <a:rPr lang="nl-NL" sz="1600" dirty="0" smtClean="0"/>
              <a:t> = </a:t>
            </a:r>
            <a:r>
              <a:rPr lang="nl-NL" sz="1600" dirty="0" err="1" smtClean="0"/>
              <a:t>resistance</a:t>
            </a:r>
            <a:r>
              <a:rPr lang="nl-NL" sz="1600" dirty="0" smtClean="0"/>
              <a:t> – response</a:t>
            </a:r>
          </a:p>
          <a:p>
            <a:pPr lvl="1"/>
            <a:r>
              <a:rPr lang="nl-NL" sz="1600" dirty="0" err="1" smtClean="0"/>
              <a:t>Resistance</a:t>
            </a:r>
            <a:r>
              <a:rPr lang="nl-NL" sz="1600" dirty="0" smtClean="0"/>
              <a:t> = </a:t>
            </a:r>
            <a:r>
              <a:rPr lang="nl-NL" sz="1600" dirty="0" err="1" smtClean="0"/>
              <a:t>operational</a:t>
            </a:r>
            <a:r>
              <a:rPr lang="nl-NL" sz="1600" dirty="0" smtClean="0"/>
              <a:t> limit, e.g. </a:t>
            </a:r>
            <a:r>
              <a:rPr lang="nl-NL" sz="1600" dirty="0" err="1" smtClean="0"/>
              <a:t>Uz</a:t>
            </a:r>
            <a:r>
              <a:rPr lang="nl-NL" sz="1600" dirty="0" smtClean="0"/>
              <a:t> % </a:t>
            </a:r>
            <a:r>
              <a:rPr lang="nl-NL" sz="1600" dirty="0" err="1" smtClean="0"/>
              <a:t>failure</a:t>
            </a:r>
            <a:r>
              <a:rPr lang="nl-NL" sz="1600" dirty="0" smtClean="0"/>
              <a:t> </a:t>
            </a:r>
            <a:r>
              <a:rPr lang="nl-NL" sz="1600" dirty="0" err="1" smtClean="0"/>
              <a:t>area</a:t>
            </a:r>
            <a:r>
              <a:rPr lang="nl-NL" sz="1600" dirty="0" smtClean="0"/>
              <a:t> = 0.2, SCU = 1.1, </a:t>
            </a:r>
            <a:r>
              <a:rPr lang="nl-NL" sz="1600" dirty="0" err="1" smtClean="0"/>
              <a:t>Uz</a:t>
            </a:r>
            <a:r>
              <a:rPr lang="nl-NL" sz="1600" dirty="0" smtClean="0"/>
              <a:t> </a:t>
            </a:r>
            <a:r>
              <a:rPr lang="nl-NL" sz="1600" dirty="0" err="1" smtClean="0"/>
              <a:t>max</a:t>
            </a:r>
            <a:endParaRPr lang="nl-NL" sz="1600" dirty="0" smtClean="0"/>
          </a:p>
          <a:p>
            <a:pPr lvl="1"/>
            <a:r>
              <a:rPr lang="nl-NL" sz="1600" dirty="0" err="1" smtClean="0">
                <a:solidFill>
                  <a:srgbClr val="FF0000"/>
                </a:solidFill>
              </a:rPr>
              <a:t>Negative</a:t>
            </a:r>
            <a:r>
              <a:rPr lang="nl-NL" sz="1600" dirty="0" smtClean="0">
                <a:solidFill>
                  <a:srgbClr val="FF0000"/>
                </a:solidFill>
              </a:rPr>
              <a:t> </a:t>
            </a:r>
            <a:r>
              <a:rPr lang="nl-NL" sz="1600" dirty="0" err="1" smtClean="0">
                <a:solidFill>
                  <a:srgbClr val="FF0000"/>
                </a:solidFill>
              </a:rPr>
              <a:t>resistances</a:t>
            </a:r>
            <a:r>
              <a:rPr lang="nl-NL" sz="1600" dirty="0" smtClean="0">
                <a:solidFill>
                  <a:srgbClr val="FF0000"/>
                </a:solidFill>
              </a:rPr>
              <a:t>, </a:t>
            </a:r>
            <a:r>
              <a:rPr lang="nl-NL" sz="1600" dirty="0" err="1" smtClean="0">
                <a:solidFill>
                  <a:srgbClr val="FF0000"/>
                </a:solidFill>
              </a:rPr>
              <a:t>tensile</a:t>
            </a:r>
            <a:r>
              <a:rPr lang="nl-NL" sz="1600" dirty="0" smtClean="0">
                <a:solidFill>
                  <a:srgbClr val="FF0000"/>
                </a:solidFill>
              </a:rPr>
              <a:t> </a:t>
            </a:r>
            <a:r>
              <a:rPr lang="nl-NL" sz="1600" dirty="0" err="1" smtClean="0">
                <a:solidFill>
                  <a:srgbClr val="FF0000"/>
                </a:solidFill>
              </a:rPr>
              <a:t>failure</a:t>
            </a:r>
            <a:r>
              <a:rPr lang="nl-NL" sz="1600" dirty="0" smtClean="0">
                <a:solidFill>
                  <a:srgbClr val="FF0000"/>
                </a:solidFill>
              </a:rPr>
              <a:t>, </a:t>
            </a:r>
            <a:r>
              <a:rPr lang="nl-NL" sz="1600" dirty="0" err="1" smtClean="0">
                <a:solidFill>
                  <a:srgbClr val="FF0000"/>
                </a:solidFill>
              </a:rPr>
              <a:t>might</a:t>
            </a:r>
            <a:r>
              <a:rPr lang="nl-NL" sz="1600" dirty="0" smtClean="0">
                <a:solidFill>
                  <a:srgbClr val="FF0000"/>
                </a:solidFill>
              </a:rPr>
              <a:t> </a:t>
            </a:r>
            <a:r>
              <a:rPr lang="nl-NL" sz="1600" dirty="0" err="1" smtClean="0">
                <a:solidFill>
                  <a:srgbClr val="FF0000"/>
                </a:solidFill>
              </a:rPr>
              <a:t>give</a:t>
            </a:r>
            <a:r>
              <a:rPr lang="nl-NL" sz="1600" dirty="0" smtClean="0">
                <a:solidFill>
                  <a:srgbClr val="FF0000"/>
                </a:solidFill>
              </a:rPr>
              <a:t> issues</a:t>
            </a:r>
          </a:p>
          <a:p>
            <a:pPr lvl="1">
              <a:buNone/>
            </a:pPr>
            <a:endParaRPr lang="nl-NL" sz="1600" dirty="0" smtClean="0"/>
          </a:p>
          <a:p>
            <a:pPr lvl="1">
              <a:buNone/>
            </a:pPr>
            <a:endParaRPr lang="nl-NL" sz="16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Reliability</a:t>
            </a:r>
            <a:r>
              <a:rPr lang="nl-NL" dirty="0" smtClean="0"/>
              <a:t> </a:t>
            </a:r>
            <a:r>
              <a:rPr lang="nl-NL" dirty="0" err="1" smtClean="0"/>
              <a:t>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NL" sz="1800" dirty="0" smtClean="0"/>
          </a:p>
          <a:p>
            <a:r>
              <a:rPr lang="nl-NL" sz="1800" dirty="0" err="1" smtClean="0"/>
              <a:t>Methods</a:t>
            </a:r>
            <a:r>
              <a:rPr lang="nl-NL" sz="1800" dirty="0" smtClean="0"/>
              <a:t>:			</a:t>
            </a:r>
            <a:endParaRPr lang="en-US" sz="1800" dirty="0" smtClean="0"/>
          </a:p>
          <a:p>
            <a:pPr lvl="1"/>
            <a:r>
              <a:rPr lang="en-US" sz="1400" dirty="0" smtClean="0"/>
              <a:t>First Order Residual Method (FORM) : For best performance</a:t>
            </a:r>
          </a:p>
          <a:p>
            <a:pPr lvl="1"/>
            <a:r>
              <a:rPr lang="en-US" sz="1400" dirty="0" err="1" smtClean="0"/>
              <a:t>MonteCarlo</a:t>
            </a:r>
            <a:r>
              <a:rPr lang="en-US" sz="1400" dirty="0" smtClean="0"/>
              <a:t> (MC): Gives most precise results, but takes lots of time</a:t>
            </a:r>
          </a:p>
          <a:p>
            <a:pPr lvl="1"/>
            <a:r>
              <a:rPr lang="en-US" sz="1400" dirty="0" err="1" smtClean="0"/>
              <a:t>DirectionalSampling</a:t>
            </a:r>
            <a:r>
              <a:rPr lang="en-US" sz="1400" dirty="0" smtClean="0"/>
              <a:t> (DS): Intermediate solution</a:t>
            </a:r>
          </a:p>
          <a:p>
            <a:pPr lvl="1"/>
            <a:r>
              <a:rPr lang="en-US" sz="1400" dirty="0" err="1" smtClean="0"/>
              <a:t>ImportanceSampling</a:t>
            </a:r>
            <a:r>
              <a:rPr lang="en-US" sz="1400" dirty="0" smtClean="0"/>
              <a:t> (MIS): Intermediate solution</a:t>
            </a:r>
          </a:p>
          <a:p>
            <a:pPr marL="0" lvl="1" indent="0">
              <a:buNone/>
            </a:pPr>
            <a:endParaRPr lang="en-US" sz="1400" dirty="0" smtClean="0"/>
          </a:p>
          <a:p>
            <a:pPr marL="0" lvl="1" indent="0">
              <a:buNone/>
            </a:pPr>
            <a:r>
              <a:rPr lang="en-US" sz="1400" dirty="0" err="1" smtClean="0"/>
              <a:t>NumericalIntegration</a:t>
            </a:r>
            <a:r>
              <a:rPr lang="en-US" sz="1400" dirty="0" smtClean="0"/>
              <a:t> (NI): Solution by integrating values, might be added later</a:t>
            </a:r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 smtClean="0"/>
              <a:t>November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graphicFrame>
        <p:nvGraphicFramePr>
          <p:cNvPr id="409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468995"/>
              </p:ext>
            </p:extLst>
          </p:nvPr>
        </p:nvGraphicFramePr>
        <p:xfrm>
          <a:off x="6435725" y="1274763"/>
          <a:ext cx="2190750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Acrobat Document" r:id="rId3" imgW="5676840" imgH="8020080" progId="AcroExch.Document.11">
                  <p:embed/>
                </p:oleObj>
              </mc:Choice>
              <mc:Fallback>
                <p:oleObj name="Acrobat Document" r:id="rId3" imgW="5676840" imgH="8020080" progId="AcroExch.Document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725" y="1274763"/>
                        <a:ext cx="2190750" cy="309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Reliability</a:t>
            </a:r>
            <a:r>
              <a:rPr lang="nl-NL" dirty="0" smtClean="0"/>
              <a:t> </a:t>
            </a:r>
            <a:r>
              <a:rPr lang="nl-NL" dirty="0" err="1" smtClean="0"/>
              <a:t>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99273" y="844028"/>
            <a:ext cx="7770763" cy="5071137"/>
          </a:xfrm>
        </p:spPr>
        <p:txBody>
          <a:bodyPr/>
          <a:lstStyle/>
          <a:p>
            <a:r>
              <a:rPr lang="en-US" sz="1800" dirty="0" smtClean="0"/>
              <a:t>Parameters to control the probabilistic computation</a:t>
            </a:r>
          </a:p>
          <a:p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 smtClean="0"/>
              <a:t>November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189714"/>
              </p:ext>
            </p:extLst>
          </p:nvPr>
        </p:nvGraphicFramePr>
        <p:xfrm>
          <a:off x="307739" y="1240702"/>
          <a:ext cx="8470499" cy="5270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538"/>
                <a:gridCol w="1660550"/>
                <a:gridCol w="4674411"/>
              </a:tblGrid>
              <a:tr h="370089">
                <a:tc>
                  <a:txBody>
                    <a:bodyPr/>
                    <a:lstStyle/>
                    <a:p>
                      <a:r>
                        <a:rPr lang="en-US" sz="1100" i="1" dirty="0" smtClean="0"/>
                        <a:t>Probabilistic Parameter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Methodology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 dirty="0" smtClean="0"/>
                        <a:t>Description</a:t>
                      </a:r>
                    </a:p>
                  </a:txBody>
                  <a:tcPr/>
                </a:tc>
              </a:tr>
              <a:tr h="5124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 smtClean="0"/>
                        <a:t>MonteCarlo</a:t>
                      </a:r>
                      <a:r>
                        <a:rPr lang="en-US" sz="1100" dirty="0" smtClean="0"/>
                        <a:t>,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baseline="0" dirty="0" err="1" smtClean="0"/>
                        <a:t>ImportanceSampling</a:t>
                      </a:r>
                      <a:r>
                        <a:rPr lang="en-US" sz="1100" baseline="0" dirty="0" smtClean="0"/>
                        <a:t>, </a:t>
                      </a:r>
                      <a:r>
                        <a:rPr lang="en-US" sz="1100" baseline="0" dirty="0" err="1" smtClean="0"/>
                        <a:t>DiretionalSampling</a:t>
                      </a:r>
                      <a:endParaRPr lang="en-US" sz="11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Seed value for randomizer</a:t>
                      </a:r>
                    </a:p>
                  </a:txBody>
                  <a:tcPr/>
                </a:tc>
              </a:tr>
              <a:tr h="227747"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Umin</a:t>
                      </a:r>
                      <a:r>
                        <a:rPr lang="en-US" sz="1100" dirty="0" smtClean="0"/>
                        <a:t>, </a:t>
                      </a:r>
                      <a:r>
                        <a:rPr lang="en-US" sz="1100" dirty="0" err="1" smtClean="0"/>
                        <a:t>Umax</a:t>
                      </a:r>
                      <a:r>
                        <a:rPr lang="en-US" sz="1100" dirty="0" smtClean="0"/>
                        <a:t>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NumericalIntegration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Minimum and maximum value for u, only used in numerical integration</a:t>
                      </a:r>
                      <a:endParaRPr lang="en-US" sz="1100" dirty="0"/>
                    </a:p>
                  </a:txBody>
                  <a:tcPr/>
                </a:tc>
              </a:tr>
              <a:tr h="227747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Intervals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NumericalIntegration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Number of intervals in numerical integration</a:t>
                      </a:r>
                    </a:p>
                  </a:txBody>
                  <a:tcPr/>
                </a:tc>
              </a:tr>
              <a:tr h="654774">
                <a:tc>
                  <a:txBody>
                    <a:bodyPr/>
                    <a:lstStyle/>
                    <a:p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MinimumSamples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MaximumSamples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 smtClean="0"/>
                        <a:t>MonteCarlo</a:t>
                      </a:r>
                      <a:r>
                        <a:rPr lang="en-US" sz="1100" dirty="0" smtClean="0"/>
                        <a:t>,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baseline="0" dirty="0" err="1" smtClean="0"/>
                        <a:t>ImportanceSampling</a:t>
                      </a:r>
                      <a:r>
                        <a:rPr lang="en-US" sz="1100" baseline="0" dirty="0" smtClean="0"/>
                        <a:t>, </a:t>
                      </a:r>
                      <a:r>
                        <a:rPr lang="en-US" sz="1100" baseline="0" dirty="0" err="1" smtClean="0"/>
                        <a:t>DiretionalSampling</a:t>
                      </a:r>
                      <a:endParaRPr lang="en-US" sz="11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Minimum and maximum samples in MC, DS, MIS</a:t>
                      </a:r>
                      <a:endParaRPr lang="en-US" sz="1100" dirty="0"/>
                    </a:p>
                  </a:txBody>
                  <a:tcPr/>
                </a:tc>
              </a:tr>
              <a:tr h="309449">
                <a:tc>
                  <a:txBody>
                    <a:bodyPr/>
                    <a:lstStyle/>
                    <a:p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MaximumIterations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FORM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Maximum number of iterations in FORM</a:t>
                      </a:r>
                      <a:endParaRPr kumimoji="0" lang="en-US" sz="1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  <a:p>
                      <a:endParaRPr lang="en-US" sz="1100" dirty="0"/>
                    </a:p>
                  </a:txBody>
                  <a:tcPr/>
                </a:tc>
              </a:tr>
              <a:tr h="512432">
                <a:tc>
                  <a:txBody>
                    <a:bodyPr/>
                    <a:lstStyle/>
                    <a:p>
                      <a:r>
                        <a:rPr kumimoji="0" lang="en-US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StartMethod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FORM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Start method for FORM, possible values: </a:t>
                      </a:r>
                      <a:r>
                        <a:rPr kumimoji="0" lang="en-US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StartZero</a:t>
                      </a: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StartOne</a:t>
                      </a: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StartGivenVector</a:t>
                      </a: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StartRaySearch</a:t>
                      </a: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StartSphereSearch</a:t>
                      </a:r>
                      <a:endParaRPr kumimoji="0" lang="en-US" sz="1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</a:txBody>
                  <a:tcPr/>
                </a:tc>
              </a:tr>
              <a:tr h="370089">
                <a:tc>
                  <a:txBody>
                    <a:bodyPr/>
                    <a:lstStyle/>
                    <a:p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StartVector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FORM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values for u in FORM, When supplied, the </a:t>
                      </a:r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StartMethod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is set to </a:t>
                      </a:r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StartGivenVector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100" dirty="0"/>
                    </a:p>
                  </a:txBody>
                  <a:tcPr/>
                </a:tc>
              </a:tr>
              <a:tr h="370089">
                <a:tc>
                  <a:txBody>
                    <a:bodyPr/>
                    <a:lstStyle/>
                    <a:p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RelaxationFactor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FORM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Relaxation factor for FORM</a:t>
                      </a:r>
                      <a:endParaRPr lang="nl-NL" sz="1100" dirty="0" smtClean="0"/>
                    </a:p>
                  </a:txBody>
                  <a:tcPr/>
                </a:tc>
              </a:tr>
              <a:tr h="370089">
                <a:tc>
                  <a:txBody>
                    <a:bodyPr/>
                    <a:lstStyle/>
                    <a:p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VarianceFactor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MonteCarlo</a:t>
                      </a:r>
                      <a:r>
                        <a:rPr lang="en-US" sz="1100" dirty="0" smtClean="0"/>
                        <a:t>,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baseline="0" dirty="0" err="1" smtClean="0"/>
                        <a:t>ImportanceSampling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Variance factor for Importance Sampling</a:t>
                      </a:r>
                      <a:endParaRPr lang="nl-NL" sz="1100" dirty="0" smtClean="0"/>
                    </a:p>
                  </a:txBody>
                  <a:tcPr/>
                </a:tc>
              </a:tr>
              <a:tr h="487453">
                <a:tc>
                  <a:txBody>
                    <a:bodyPr/>
                    <a:lstStyle/>
                    <a:p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VariationCoefficientFailure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VariationCoefficientNoFailure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MonteCarlo</a:t>
                      </a:r>
                      <a:r>
                        <a:rPr lang="en-US" sz="1100" dirty="0" smtClean="0"/>
                        <a:t>,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baseline="0" dirty="0" err="1" smtClean="0"/>
                        <a:t>ImportanceSampling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Required variation coefficient for failure and non failure</a:t>
                      </a:r>
                      <a:endParaRPr lang="nl-NL" sz="1100" dirty="0" smtClean="0"/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Threshold Relaxation Factor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All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Relaxation  factor for lowering the threshold for switching between the proxy and the real engine</a:t>
                      </a:r>
                      <a:endParaRPr kumimoji="0" lang="nl-NL" sz="1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64188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nl-NL" dirty="0" err="1" smtClean="0"/>
              <a:t>Estimated</a:t>
            </a:r>
            <a:r>
              <a:rPr lang="nl-NL" dirty="0" smtClean="0"/>
              <a:t> </a:t>
            </a:r>
            <a:r>
              <a:rPr lang="nl-NL" dirty="0" err="1" smtClean="0"/>
              <a:t>by</a:t>
            </a:r>
            <a:r>
              <a:rPr lang="nl-NL" dirty="0" smtClean="0"/>
              <a:t> </a:t>
            </a:r>
          </a:p>
          <a:p>
            <a:pPr lvl="2"/>
            <a:r>
              <a:rPr lang="nl-NL" dirty="0" smtClean="0"/>
              <a:t>transfer to </a:t>
            </a:r>
            <a:r>
              <a:rPr lang="nl-NL" dirty="0" err="1" smtClean="0"/>
              <a:t>normal</a:t>
            </a:r>
            <a:r>
              <a:rPr lang="nl-NL" dirty="0" smtClean="0"/>
              <a:t> </a:t>
            </a:r>
            <a:r>
              <a:rPr lang="nl-NL" dirty="0" err="1" smtClean="0"/>
              <a:t>distributions</a:t>
            </a:r>
            <a:endParaRPr lang="nl-NL" dirty="0" smtClean="0"/>
          </a:p>
          <a:p>
            <a:pPr lvl="2"/>
            <a:r>
              <a:rPr lang="nl-NL" dirty="0" err="1" smtClean="0"/>
              <a:t>Linearized</a:t>
            </a:r>
            <a:r>
              <a:rPr lang="nl-NL" dirty="0" smtClean="0"/>
              <a:t> </a:t>
            </a:r>
            <a:r>
              <a:rPr lang="nl-NL" dirty="0" err="1" smtClean="0"/>
              <a:t>z-function</a:t>
            </a:r>
            <a:endParaRPr lang="nl-NL" dirty="0" smtClean="0"/>
          </a:p>
          <a:p>
            <a:pPr lvl="1"/>
            <a:r>
              <a:rPr lang="nl-NL" dirty="0" err="1" smtClean="0"/>
              <a:t>Fast</a:t>
            </a:r>
            <a:endParaRPr lang="nl-NL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2192" y="3460831"/>
            <a:ext cx="3551238" cy="254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5347504" y="2048719"/>
          <a:ext cx="2951762" cy="436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r:id="rId4" imgW="1562100" imgH="228600" progId="">
                  <p:embed/>
                </p:oleObj>
              </mc:Choice>
              <mc:Fallback>
                <p:oleObj r:id="rId4" imgW="1562100" imgH="2286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504" y="2048719"/>
                        <a:ext cx="2951762" cy="4362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5278055" y="1458410"/>
          <a:ext cx="3018013" cy="451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r:id="rId6" imgW="1815312" imgH="266584" progId="">
                  <p:embed/>
                </p:oleObj>
              </mc:Choice>
              <mc:Fallback>
                <p:oleObj r:id="rId6" imgW="1815312" imgH="266584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055" y="1458410"/>
                        <a:ext cx="3018013" cy="451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080" name="Object 8"/>
          <p:cNvGraphicFramePr>
            <a:graphicFrameLocks noChangeAspect="1"/>
          </p:cNvGraphicFramePr>
          <p:nvPr/>
        </p:nvGraphicFramePr>
        <p:xfrm>
          <a:off x="5335929" y="2546431"/>
          <a:ext cx="2192775" cy="394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r:id="rId8" imgW="1320227" imgH="241195" progId="">
                  <p:embed/>
                </p:oleObj>
              </mc:Choice>
              <mc:Fallback>
                <p:oleObj r:id="rId8" imgW="1320227" imgH="241195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929" y="2546431"/>
                        <a:ext cx="2192775" cy="3943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Crude</a:t>
            </a:r>
            <a:r>
              <a:rPr lang="nl-NL" dirty="0" smtClean="0"/>
              <a:t> </a:t>
            </a:r>
            <a:r>
              <a:rPr lang="nl-NL" dirty="0" err="1" smtClean="0"/>
              <a:t>monte</a:t>
            </a:r>
            <a:r>
              <a:rPr lang="nl-NL" dirty="0" smtClean="0"/>
              <a:t> </a:t>
            </a:r>
            <a:r>
              <a:rPr lang="nl-NL" dirty="0" err="1" smtClean="0"/>
              <a:t>carlo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nl-NL" dirty="0" smtClean="0"/>
              <a:t>“Random sampling”</a:t>
            </a:r>
          </a:p>
          <a:p>
            <a:pPr lvl="1"/>
            <a:r>
              <a:rPr lang="nl-NL" dirty="0" smtClean="0"/>
              <a:t>P = # </a:t>
            </a:r>
            <a:r>
              <a:rPr lang="nl-NL" dirty="0" err="1" smtClean="0"/>
              <a:t>failed</a:t>
            </a:r>
            <a:r>
              <a:rPr lang="nl-NL" dirty="0" smtClean="0"/>
              <a:t>/ </a:t>
            </a:r>
            <a:r>
              <a:rPr lang="nl-NL" dirty="0" err="1" smtClean="0"/>
              <a:t>total</a:t>
            </a:r>
            <a:endParaRPr lang="nl-NL" dirty="0" smtClean="0"/>
          </a:p>
          <a:p>
            <a:pPr lvl="1"/>
            <a:r>
              <a:rPr lang="nl-NL" dirty="0" smtClean="0"/>
              <a:t>Stops </a:t>
            </a:r>
            <a:r>
              <a:rPr lang="nl-NL" dirty="0" err="1" smtClean="0"/>
              <a:t>when</a:t>
            </a:r>
            <a:r>
              <a:rPr lang="nl-NL" dirty="0" smtClean="0"/>
              <a:t> </a:t>
            </a:r>
            <a:r>
              <a:rPr lang="nl-NL" dirty="0" err="1" smtClean="0"/>
              <a:t>variance</a:t>
            </a:r>
            <a:r>
              <a:rPr lang="nl-NL" dirty="0" smtClean="0"/>
              <a:t> </a:t>
            </a:r>
            <a:r>
              <a:rPr lang="nl-NL" dirty="0" err="1" smtClean="0"/>
              <a:t>small</a:t>
            </a:r>
            <a:r>
              <a:rPr lang="nl-NL" dirty="0" smtClean="0"/>
              <a:t> (</a:t>
            </a:r>
            <a:r>
              <a:rPr lang="nl-NL" dirty="0" err="1" smtClean="0"/>
              <a:t>convergence</a:t>
            </a:r>
            <a:r>
              <a:rPr lang="nl-NL" dirty="0" smtClean="0"/>
              <a:t>) </a:t>
            </a:r>
            <a:r>
              <a:rPr lang="nl-NL" dirty="0" err="1" smtClean="0"/>
              <a:t>or</a:t>
            </a:r>
            <a:r>
              <a:rPr lang="nl-NL" dirty="0" smtClean="0"/>
              <a:t> </a:t>
            </a:r>
            <a:r>
              <a:rPr lang="nl-NL" dirty="0" err="1" smtClean="0"/>
              <a:t>max</a:t>
            </a:r>
            <a:r>
              <a:rPr lang="nl-NL" dirty="0" smtClean="0"/>
              <a:t> samples</a:t>
            </a:r>
          </a:p>
          <a:p>
            <a:pPr lvl="1"/>
            <a:r>
              <a:rPr lang="nl-NL" dirty="0" smtClean="0"/>
              <a:t>Most </a:t>
            </a:r>
            <a:r>
              <a:rPr lang="nl-NL" dirty="0" err="1" smtClean="0"/>
              <a:t>precise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pic>
        <p:nvPicPr>
          <p:cNvPr id="2050" name="Picture 2" descr="untitle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1951" y="2939969"/>
            <a:ext cx="4396495" cy="3272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379949"/>
              </p:ext>
            </p:extLst>
          </p:nvPr>
        </p:nvGraphicFramePr>
        <p:xfrm>
          <a:off x="5509086" y="1312106"/>
          <a:ext cx="2021950" cy="829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r:id="rId4" imgW="1485900" imgH="609600" progId="">
                  <p:embed/>
                </p:oleObj>
              </mc:Choice>
              <mc:Fallback>
                <p:oleObj r:id="rId4" imgW="1485900" imgH="6096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9086" y="1312106"/>
                        <a:ext cx="2021950" cy="8295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MC </a:t>
            </a:r>
            <a:r>
              <a:rPr lang="nl-NL" dirty="0" err="1" smtClean="0"/>
              <a:t>Importance</a:t>
            </a:r>
            <a:r>
              <a:rPr lang="nl-NL" dirty="0" smtClean="0"/>
              <a:t>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nl-NL" dirty="0" smtClean="0"/>
              <a:t>Sampling </a:t>
            </a:r>
            <a:r>
              <a:rPr lang="nl-NL" dirty="0" err="1" smtClean="0"/>
              <a:t>towards</a:t>
            </a:r>
            <a:r>
              <a:rPr lang="nl-NL" dirty="0" smtClean="0"/>
              <a:t> </a:t>
            </a:r>
            <a:r>
              <a:rPr lang="nl-NL" dirty="0" err="1" smtClean="0"/>
              <a:t>failure</a:t>
            </a:r>
            <a:r>
              <a:rPr lang="nl-NL" dirty="0" smtClean="0"/>
              <a:t> cases</a:t>
            </a:r>
          </a:p>
          <a:p>
            <a:pPr lvl="1"/>
            <a:r>
              <a:rPr lang="nl-NL" dirty="0" smtClean="0"/>
              <a:t>P = </a:t>
            </a:r>
            <a:r>
              <a:rPr lang="nl-NL" dirty="0" err="1" smtClean="0"/>
              <a:t>weighted</a:t>
            </a:r>
            <a:r>
              <a:rPr lang="nl-NL" dirty="0" smtClean="0"/>
              <a:t> (# </a:t>
            </a:r>
            <a:r>
              <a:rPr lang="nl-NL" dirty="0" err="1" smtClean="0"/>
              <a:t>failed</a:t>
            </a:r>
            <a:r>
              <a:rPr lang="nl-NL" dirty="0" smtClean="0"/>
              <a:t>, </a:t>
            </a:r>
            <a:r>
              <a:rPr lang="nl-NL" dirty="0" err="1" smtClean="0"/>
              <a:t>total</a:t>
            </a:r>
            <a:r>
              <a:rPr lang="nl-NL" dirty="0" smtClean="0"/>
              <a:t>)</a:t>
            </a:r>
          </a:p>
          <a:p>
            <a:pPr lvl="1"/>
            <a:r>
              <a:rPr lang="nl-NL" dirty="0" smtClean="0"/>
              <a:t>Stops </a:t>
            </a:r>
            <a:r>
              <a:rPr lang="nl-NL" dirty="0" err="1" smtClean="0"/>
              <a:t>when</a:t>
            </a:r>
            <a:r>
              <a:rPr lang="nl-NL" dirty="0" smtClean="0"/>
              <a:t> </a:t>
            </a:r>
            <a:r>
              <a:rPr lang="nl-NL" dirty="0" err="1" smtClean="0"/>
              <a:t>variance</a:t>
            </a:r>
            <a:r>
              <a:rPr lang="nl-NL" dirty="0" smtClean="0"/>
              <a:t> </a:t>
            </a:r>
            <a:r>
              <a:rPr lang="nl-NL" dirty="0" err="1" smtClean="0"/>
              <a:t>small</a:t>
            </a:r>
            <a:r>
              <a:rPr lang="nl-NL" dirty="0" smtClean="0"/>
              <a:t> (</a:t>
            </a:r>
            <a:r>
              <a:rPr lang="nl-NL" dirty="0" err="1" smtClean="0"/>
              <a:t>convergence</a:t>
            </a:r>
            <a:r>
              <a:rPr lang="nl-NL" dirty="0" smtClean="0"/>
              <a:t>) </a:t>
            </a:r>
            <a:r>
              <a:rPr lang="nl-NL" dirty="0" err="1" smtClean="0"/>
              <a:t>or</a:t>
            </a:r>
            <a:r>
              <a:rPr lang="nl-NL" dirty="0" smtClean="0"/>
              <a:t> </a:t>
            </a:r>
            <a:r>
              <a:rPr lang="nl-NL" dirty="0" err="1" smtClean="0"/>
              <a:t>max</a:t>
            </a:r>
            <a:r>
              <a:rPr lang="nl-NL" dirty="0" smtClean="0"/>
              <a:t> samples</a:t>
            </a:r>
          </a:p>
          <a:p>
            <a:pPr lvl="1"/>
            <a:r>
              <a:rPr lang="nl-NL" dirty="0" err="1" smtClean="0"/>
              <a:t>Captures</a:t>
            </a:r>
            <a:r>
              <a:rPr lang="nl-NL" dirty="0" smtClean="0"/>
              <a:t> </a:t>
            </a:r>
            <a:r>
              <a:rPr lang="nl-NL" dirty="0" err="1" smtClean="0"/>
              <a:t>local</a:t>
            </a:r>
            <a:r>
              <a:rPr lang="nl-NL" dirty="0" smtClean="0"/>
              <a:t> minimum, i.e. </a:t>
            </a:r>
            <a:r>
              <a:rPr lang="nl-NL" dirty="0" err="1" smtClean="0"/>
              <a:t>requires</a:t>
            </a:r>
            <a:r>
              <a:rPr lang="nl-NL" dirty="0" smtClean="0"/>
              <a:t> </a:t>
            </a:r>
            <a:r>
              <a:rPr lang="nl-NL" dirty="0" err="1" smtClean="0"/>
              <a:t>pre-knowledge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1529" y="3067291"/>
            <a:ext cx="2797175" cy="275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6674" y="2986268"/>
            <a:ext cx="2084388" cy="278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0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225795"/>
              </p:ext>
            </p:extLst>
          </p:nvPr>
        </p:nvGraphicFramePr>
        <p:xfrm>
          <a:off x="6329314" y="1181080"/>
          <a:ext cx="2028816" cy="911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19" r:id="rId5" imgW="1587500" imgH="711200" progId="">
                  <p:embed/>
                </p:oleObj>
              </mc:Choice>
              <mc:Fallback>
                <p:oleObj r:id="rId5" imgW="1587500" imgH="7112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314" y="1181080"/>
                        <a:ext cx="2028816" cy="9111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MC </a:t>
            </a:r>
            <a:r>
              <a:rPr lang="nl-NL" dirty="0" err="1" smtClean="0"/>
              <a:t>directional</a:t>
            </a:r>
            <a:r>
              <a:rPr lang="nl-NL" dirty="0" smtClean="0"/>
              <a:t>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nl-NL" dirty="0" smtClean="0"/>
              <a:t>Sampling in </a:t>
            </a:r>
            <a:r>
              <a:rPr lang="nl-NL" dirty="0" err="1" smtClean="0"/>
              <a:t>directions</a:t>
            </a:r>
            <a:r>
              <a:rPr lang="nl-NL" dirty="0" smtClean="0"/>
              <a:t> to </a:t>
            </a:r>
            <a:r>
              <a:rPr lang="nl-NL" dirty="0" err="1" smtClean="0"/>
              <a:t>find</a:t>
            </a:r>
            <a:r>
              <a:rPr lang="nl-NL" dirty="0" smtClean="0"/>
              <a:t> </a:t>
            </a:r>
            <a:r>
              <a:rPr lang="nl-NL" dirty="0" err="1" smtClean="0"/>
              <a:t>failure</a:t>
            </a:r>
            <a:r>
              <a:rPr lang="nl-NL" dirty="0" smtClean="0"/>
              <a:t> </a:t>
            </a:r>
            <a:r>
              <a:rPr lang="nl-NL" dirty="0" err="1" smtClean="0"/>
              <a:t>plane</a:t>
            </a:r>
            <a:endParaRPr lang="nl-NL" dirty="0" smtClean="0"/>
          </a:p>
          <a:p>
            <a:pPr lvl="1"/>
            <a:r>
              <a:rPr lang="nl-NL" dirty="0" err="1" smtClean="0"/>
              <a:t>Probability</a:t>
            </a:r>
            <a:r>
              <a:rPr lang="nl-NL" dirty="0" smtClean="0"/>
              <a:t> </a:t>
            </a:r>
            <a:r>
              <a:rPr lang="nl-NL" dirty="0" err="1" smtClean="0"/>
              <a:t>from</a:t>
            </a:r>
            <a:r>
              <a:rPr lang="nl-NL" dirty="0" smtClean="0"/>
              <a:t> transfer to </a:t>
            </a:r>
            <a:r>
              <a:rPr lang="nl-NL" dirty="0" err="1" smtClean="0"/>
              <a:t>nomally</a:t>
            </a:r>
            <a:r>
              <a:rPr lang="nl-NL" dirty="0" smtClean="0"/>
              <a:t> </a:t>
            </a:r>
            <a:r>
              <a:rPr lang="nl-NL" dirty="0" err="1" smtClean="0"/>
              <a:t>distributed</a:t>
            </a:r>
            <a:r>
              <a:rPr lang="nl-NL" dirty="0" smtClean="0"/>
              <a:t> </a:t>
            </a:r>
            <a:r>
              <a:rPr lang="nl-NL" dirty="0" err="1" smtClean="0"/>
              <a:t>PDFs</a:t>
            </a:r>
            <a:endParaRPr lang="nl-NL" dirty="0" smtClean="0"/>
          </a:p>
          <a:p>
            <a:pPr lvl="1"/>
            <a:r>
              <a:rPr lang="nl-NL" dirty="0" err="1" smtClean="0"/>
              <a:t>Assumes</a:t>
            </a:r>
            <a:r>
              <a:rPr lang="nl-NL" dirty="0" smtClean="0"/>
              <a:t> LSF </a:t>
            </a:r>
            <a:r>
              <a:rPr lang="nl-NL" dirty="0" err="1" smtClean="0"/>
              <a:t>function</a:t>
            </a:r>
            <a:r>
              <a:rPr lang="nl-NL" dirty="0" smtClean="0"/>
              <a:t>) monotone and </a:t>
            </a:r>
            <a:r>
              <a:rPr lang="nl-NL" dirty="0" err="1" smtClean="0"/>
              <a:t>smooth</a:t>
            </a:r>
            <a:endParaRPr lang="nl-NL" dirty="0" smtClean="0"/>
          </a:p>
          <a:p>
            <a:pPr lvl="1"/>
            <a:r>
              <a:rPr lang="nl-NL" dirty="0" err="1" smtClean="0"/>
              <a:t>Faster</a:t>
            </a:r>
            <a:r>
              <a:rPr lang="nl-NL" dirty="0" smtClean="0"/>
              <a:t> </a:t>
            </a:r>
            <a:r>
              <a:rPr lang="nl-NL" dirty="0" err="1" smtClean="0"/>
              <a:t>than</a:t>
            </a:r>
            <a:r>
              <a:rPr lang="nl-NL" dirty="0" smtClean="0"/>
              <a:t> </a:t>
            </a:r>
            <a:r>
              <a:rPr lang="nl-NL" dirty="0" err="1" smtClean="0"/>
              <a:t>crude</a:t>
            </a:r>
            <a:endParaRPr lang="nl-NL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192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635244"/>
              </p:ext>
            </p:extLst>
          </p:nvPr>
        </p:nvGraphicFramePr>
        <p:xfrm>
          <a:off x="5822915" y="918661"/>
          <a:ext cx="3255248" cy="590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0" r:id="rId3" imgW="2362200" imgH="431800" progId="">
                  <p:embed/>
                </p:oleObj>
              </mc:Choice>
              <mc:Fallback>
                <p:oleObj r:id="rId3" imgW="2362200" imgH="4318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15" y="918661"/>
                        <a:ext cx="3255248" cy="5906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2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74157" y="3183038"/>
            <a:ext cx="4710113" cy="309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Numerical</a:t>
            </a:r>
            <a:r>
              <a:rPr lang="nl-NL" dirty="0" smtClean="0"/>
              <a:t> </a:t>
            </a:r>
            <a:r>
              <a:rPr lang="nl-NL" dirty="0" err="1" smtClean="0"/>
              <a:t>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nl-NL" dirty="0" smtClean="0"/>
              <a:t>Sampling </a:t>
            </a:r>
            <a:r>
              <a:rPr lang="nl-NL" dirty="0" err="1" smtClean="0"/>
              <a:t>by</a:t>
            </a:r>
            <a:r>
              <a:rPr lang="nl-NL" dirty="0" smtClean="0"/>
              <a:t> </a:t>
            </a:r>
            <a:r>
              <a:rPr lang="nl-NL" dirty="0" err="1" smtClean="0"/>
              <a:t>discretizing</a:t>
            </a:r>
            <a:r>
              <a:rPr lang="nl-NL" dirty="0" smtClean="0"/>
              <a:t> the </a:t>
            </a:r>
            <a:r>
              <a:rPr lang="nl-NL" dirty="0" err="1" smtClean="0"/>
              <a:t>stochast</a:t>
            </a:r>
            <a:endParaRPr lang="nl-NL" dirty="0" smtClean="0"/>
          </a:p>
          <a:p>
            <a:pPr lvl="1"/>
            <a:r>
              <a:rPr lang="nl-NL" dirty="0" err="1" smtClean="0"/>
              <a:t>Probability</a:t>
            </a:r>
            <a:r>
              <a:rPr lang="nl-NL" dirty="0" smtClean="0"/>
              <a:t> of </a:t>
            </a:r>
            <a:r>
              <a:rPr lang="nl-NL" dirty="0" err="1" smtClean="0"/>
              <a:t>failure</a:t>
            </a:r>
            <a:r>
              <a:rPr lang="nl-NL" dirty="0" smtClean="0"/>
              <a:t> </a:t>
            </a:r>
            <a:r>
              <a:rPr lang="nl-NL" dirty="0" err="1" smtClean="0"/>
              <a:t>from</a:t>
            </a:r>
            <a:r>
              <a:rPr lang="nl-NL" dirty="0" smtClean="0"/>
              <a:t> </a:t>
            </a:r>
            <a:r>
              <a:rPr lang="nl-NL" dirty="0" err="1" smtClean="0"/>
              <a:t>summation</a:t>
            </a:r>
            <a:r>
              <a:rPr lang="nl-NL" dirty="0" smtClean="0"/>
              <a:t> of all </a:t>
            </a:r>
            <a:r>
              <a:rPr lang="nl-NL" dirty="0" err="1" smtClean="0"/>
              <a:t>failure</a:t>
            </a:r>
            <a:r>
              <a:rPr lang="nl-NL" dirty="0" smtClean="0"/>
              <a:t> </a:t>
            </a:r>
            <a:r>
              <a:rPr lang="nl-NL" dirty="0" err="1" smtClean="0"/>
              <a:t>combinations</a:t>
            </a:r>
            <a:endParaRPr lang="nl-NL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pic>
        <p:nvPicPr>
          <p:cNvPr id="82946" name="Picture 2" descr="untitle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3090440"/>
            <a:ext cx="4327525" cy="325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324091" y="2562041"/>
          <a:ext cx="8623139" cy="682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7" r:id="rId4" imgW="5892800" imgH="469900" progId="">
                  <p:embed/>
                </p:oleObj>
              </mc:Choice>
              <mc:Fallback>
                <p:oleObj r:id="rId4" imgW="5892800" imgH="4699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91" y="2562041"/>
                        <a:ext cx="8623139" cy="6826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Automatic</a:t>
            </a:r>
            <a:r>
              <a:rPr lang="nl-NL" dirty="0" smtClean="0"/>
              <a:t> switch in </a:t>
            </a:r>
            <a:r>
              <a:rPr lang="nl-NL" dirty="0" err="1" smtClean="0"/>
              <a:t>reliability</a:t>
            </a:r>
            <a:r>
              <a:rPr lang="nl-NL" dirty="0" smtClean="0"/>
              <a:t> </a:t>
            </a:r>
            <a:r>
              <a:rPr lang="nl-NL" dirty="0" err="1" smtClean="0"/>
              <a:t>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NL" dirty="0" err="1" smtClean="0"/>
              <a:t>When</a:t>
            </a:r>
            <a:r>
              <a:rPr lang="nl-NL" dirty="0" smtClean="0"/>
              <a:t>  LSF = </a:t>
            </a:r>
            <a:r>
              <a:rPr lang="nl-NL" dirty="0" err="1" smtClean="0"/>
              <a:t>Resistance</a:t>
            </a:r>
            <a:r>
              <a:rPr lang="nl-NL" dirty="0" smtClean="0"/>
              <a:t> - Response &lt; </a:t>
            </a:r>
            <a:r>
              <a:rPr lang="nl-NL" dirty="0" err="1" smtClean="0"/>
              <a:t>Threshold</a:t>
            </a:r>
            <a:r>
              <a:rPr lang="nl-NL" dirty="0" smtClean="0"/>
              <a:t> </a:t>
            </a:r>
            <a:r>
              <a:rPr lang="nl-NL" dirty="0" err="1" smtClean="0"/>
              <a:t>then</a:t>
            </a:r>
            <a:r>
              <a:rPr lang="nl-NL" dirty="0" smtClean="0"/>
              <a:t> </a:t>
            </a:r>
          </a:p>
          <a:p>
            <a:pPr marL="457200" indent="-457200">
              <a:buAutoNum type="arabicParenR"/>
            </a:pPr>
            <a:r>
              <a:rPr lang="nl-NL" dirty="0" smtClean="0"/>
              <a:t>Switch to engine</a:t>
            </a:r>
          </a:p>
          <a:p>
            <a:pPr marL="457200" indent="-457200">
              <a:buAutoNum type="arabicParenR"/>
            </a:pPr>
            <a:r>
              <a:rPr lang="nl-NL" dirty="0" smtClean="0"/>
              <a:t>Update proxy</a:t>
            </a:r>
          </a:p>
          <a:p>
            <a:pPr marL="457200" indent="-457200">
              <a:buAutoNum type="arabicParenR"/>
            </a:pPr>
            <a:r>
              <a:rPr lang="nl-NL" dirty="0" smtClean="0"/>
              <a:t>Lower threshold by 2/3 </a:t>
            </a:r>
          </a:p>
          <a:p>
            <a:pPr marL="457200" indent="-457200">
              <a:buAutoNum type="arabicParenR"/>
            </a:pPr>
            <a:endParaRPr lang="nl-NL" dirty="0" smtClean="0"/>
          </a:p>
          <a:p>
            <a:pPr marL="457200" indent="-457200"/>
            <a:r>
              <a:rPr lang="nl-NL" dirty="0" err="1" smtClean="0"/>
              <a:t>Note</a:t>
            </a:r>
            <a:r>
              <a:rPr lang="nl-NL" dirty="0" smtClean="0"/>
              <a:t>:</a:t>
            </a:r>
          </a:p>
          <a:p>
            <a:pPr marL="728663" lvl="1" indent="-457200"/>
            <a:r>
              <a:rPr lang="nl-NL" dirty="0" err="1" smtClean="0"/>
              <a:t>Threshold</a:t>
            </a:r>
            <a:r>
              <a:rPr lang="nl-NL" dirty="0" smtClean="0"/>
              <a:t> = 0 means </a:t>
            </a:r>
            <a:r>
              <a:rPr lang="nl-NL" dirty="0" err="1" smtClean="0"/>
              <a:t>only</a:t>
            </a:r>
            <a:r>
              <a:rPr lang="nl-NL" dirty="0" smtClean="0"/>
              <a:t> proxy </a:t>
            </a:r>
            <a:r>
              <a:rPr lang="nl-NL" dirty="0" err="1" smtClean="0"/>
              <a:t>calculations</a:t>
            </a:r>
            <a:endParaRPr lang="nl-NL" dirty="0" smtClean="0"/>
          </a:p>
          <a:p>
            <a:pPr marL="728663" lvl="1" indent="-457200"/>
            <a:r>
              <a:rPr lang="nl-NL" dirty="0" smtClean="0"/>
              <a:t>Factor could be made input parameter</a:t>
            </a:r>
          </a:p>
          <a:p>
            <a:pPr marL="728663" lvl="1" indent="-457200"/>
            <a:r>
              <a:rPr lang="nl-NL" dirty="0" smtClean="0"/>
              <a:t>Update proxy y/n </a:t>
            </a:r>
            <a:r>
              <a:rPr lang="nl-NL" dirty="0" err="1" smtClean="0"/>
              <a:t>could</a:t>
            </a:r>
            <a:r>
              <a:rPr lang="nl-NL" dirty="0" smtClean="0"/>
              <a:t> </a:t>
            </a:r>
            <a:r>
              <a:rPr lang="nl-NL" dirty="0" err="1" smtClean="0"/>
              <a:t>be</a:t>
            </a:r>
            <a:r>
              <a:rPr lang="nl-NL" dirty="0" smtClean="0"/>
              <a:t> </a:t>
            </a:r>
            <a:r>
              <a:rPr lang="nl-NL" dirty="0" err="1" smtClean="0"/>
              <a:t>steered</a:t>
            </a:r>
            <a:r>
              <a:rPr lang="nl-NL" dirty="0" smtClean="0"/>
              <a:t> </a:t>
            </a:r>
            <a:r>
              <a:rPr lang="nl-NL" dirty="0" err="1" smtClean="0"/>
              <a:t>from</a:t>
            </a:r>
            <a:r>
              <a:rPr lang="nl-NL" dirty="0" smtClean="0"/>
              <a:t> </a:t>
            </a:r>
            <a:r>
              <a:rPr lang="nl-NL" dirty="0" err="1" smtClean="0"/>
              <a:t>xml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Reliability</a:t>
            </a:r>
            <a:r>
              <a:rPr lang="nl-NL" dirty="0" smtClean="0"/>
              <a:t> </a:t>
            </a:r>
            <a:r>
              <a:rPr lang="nl-NL" dirty="0" err="1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NL" sz="1600" dirty="0" err="1" smtClean="0"/>
              <a:t>Reliability</a:t>
            </a:r>
            <a:r>
              <a:rPr lang="nl-NL" sz="1600" dirty="0" smtClean="0"/>
              <a:t>:</a:t>
            </a:r>
          </a:p>
          <a:p>
            <a:pPr lvl="1"/>
            <a:r>
              <a:rPr lang="nl-NL" sz="1600" dirty="0" err="1" smtClean="0"/>
              <a:t>Beta</a:t>
            </a:r>
            <a:endParaRPr lang="nl-NL" sz="1600" dirty="0" smtClean="0"/>
          </a:p>
          <a:p>
            <a:pPr lvl="1"/>
            <a:r>
              <a:rPr lang="nl-NL" sz="1600" dirty="0" err="1" smtClean="0"/>
              <a:t>Probability</a:t>
            </a:r>
            <a:r>
              <a:rPr lang="nl-NL" sz="1600" dirty="0" smtClean="0"/>
              <a:t> of </a:t>
            </a:r>
            <a:r>
              <a:rPr lang="nl-NL" sz="1600" dirty="0" err="1" smtClean="0"/>
              <a:t>failure</a:t>
            </a:r>
            <a:endParaRPr lang="nl-NL" sz="1600" dirty="0" smtClean="0"/>
          </a:p>
          <a:p>
            <a:pPr lvl="1">
              <a:buNone/>
            </a:pPr>
            <a:endParaRPr lang="nl-NL" sz="1600" dirty="0" smtClean="0"/>
          </a:p>
          <a:p>
            <a:pPr lvl="1">
              <a:buNone/>
            </a:pPr>
            <a:r>
              <a:rPr lang="nl-NL" sz="1600" dirty="0" smtClean="0"/>
              <a:t>Design point</a:t>
            </a:r>
          </a:p>
          <a:p>
            <a:pPr lvl="1"/>
            <a:r>
              <a:rPr lang="nl-NL" sz="1600" dirty="0" smtClean="0"/>
              <a:t>FORM: direct; </a:t>
            </a:r>
          </a:p>
          <a:p>
            <a:pPr lvl="1"/>
            <a:r>
              <a:rPr lang="nl-NL" sz="1600" dirty="0" smtClean="0"/>
              <a:t>MC: </a:t>
            </a:r>
            <a:r>
              <a:rPr lang="nl-NL" sz="1600" dirty="0" err="1" smtClean="0"/>
              <a:t>centre</a:t>
            </a:r>
            <a:r>
              <a:rPr lang="nl-NL" sz="1600" dirty="0" smtClean="0"/>
              <a:t> of </a:t>
            </a:r>
            <a:r>
              <a:rPr lang="nl-NL" sz="1600" dirty="0" err="1" smtClean="0"/>
              <a:t>gravity</a:t>
            </a:r>
            <a:r>
              <a:rPr lang="nl-NL" sz="1600" dirty="0" smtClean="0"/>
              <a:t> </a:t>
            </a:r>
            <a:r>
              <a:rPr lang="nl-NL" sz="1600" dirty="0" err="1" smtClean="0"/>
              <a:t>or</a:t>
            </a:r>
            <a:r>
              <a:rPr lang="nl-NL" sz="1600" dirty="0" smtClean="0"/>
              <a:t> </a:t>
            </a:r>
            <a:r>
              <a:rPr lang="nl-NL" sz="1600" dirty="0" err="1" smtClean="0"/>
              <a:t>methods</a:t>
            </a:r>
            <a:r>
              <a:rPr lang="nl-NL" sz="1600" dirty="0" smtClean="0"/>
              <a:t> of </a:t>
            </a:r>
            <a:r>
              <a:rPr lang="nl-NL" sz="1600" dirty="0" err="1" smtClean="0"/>
              <a:t>angles</a:t>
            </a:r>
            <a:endParaRPr lang="nl-NL" sz="1600" dirty="0" smtClean="0"/>
          </a:p>
          <a:p>
            <a:pPr lvl="1"/>
            <a:r>
              <a:rPr lang="nl-NL" sz="1600" dirty="0" smtClean="0"/>
              <a:t>In </a:t>
            </a:r>
            <a:r>
              <a:rPr lang="nl-NL" sz="1600" dirty="0" err="1" smtClean="0"/>
              <a:t>u-space</a:t>
            </a:r>
            <a:r>
              <a:rPr lang="nl-NL" sz="1600" dirty="0" smtClean="0"/>
              <a:t> (</a:t>
            </a:r>
            <a:r>
              <a:rPr lang="nl-NL" sz="1600" dirty="0" err="1" smtClean="0"/>
              <a:t>standard</a:t>
            </a:r>
            <a:r>
              <a:rPr lang="nl-NL" sz="1600" dirty="0" smtClean="0"/>
              <a:t> </a:t>
            </a:r>
            <a:r>
              <a:rPr lang="nl-NL" sz="1600" dirty="0" err="1" smtClean="0"/>
              <a:t>Normal</a:t>
            </a:r>
            <a:r>
              <a:rPr lang="nl-NL" sz="1600" dirty="0" smtClean="0"/>
              <a:t> </a:t>
            </a:r>
            <a:r>
              <a:rPr lang="nl-NL" sz="1600" dirty="0" err="1" smtClean="0"/>
              <a:t>distributions</a:t>
            </a:r>
            <a:r>
              <a:rPr lang="nl-NL" sz="1600" dirty="0" smtClean="0"/>
              <a:t>)</a:t>
            </a:r>
          </a:p>
          <a:p>
            <a:pPr lvl="1"/>
            <a:r>
              <a:rPr lang="nl-NL" sz="1600" dirty="0" err="1" smtClean="0"/>
              <a:t>Defined</a:t>
            </a:r>
            <a:r>
              <a:rPr lang="nl-NL" sz="1600" dirty="0" smtClean="0"/>
              <a:t> </a:t>
            </a:r>
            <a:r>
              <a:rPr lang="nl-NL" sz="1600" dirty="0" err="1" smtClean="0"/>
              <a:t>by</a:t>
            </a:r>
            <a:endParaRPr lang="nl-NL" sz="1600" dirty="0" smtClean="0"/>
          </a:p>
          <a:p>
            <a:pPr lvl="2"/>
            <a:r>
              <a:rPr lang="nl-NL" sz="1600" dirty="0" err="1" smtClean="0"/>
              <a:t>Alpha</a:t>
            </a:r>
            <a:r>
              <a:rPr lang="nl-NL" sz="1600" dirty="0" smtClean="0"/>
              <a:t>: </a:t>
            </a:r>
            <a:r>
              <a:rPr lang="nl-NL" sz="1600" dirty="0" err="1" smtClean="0"/>
              <a:t>coefficient</a:t>
            </a:r>
            <a:endParaRPr lang="nl-NL" sz="1600" dirty="0" smtClean="0"/>
          </a:p>
          <a:p>
            <a:pPr lvl="2"/>
            <a:r>
              <a:rPr lang="nl-NL" sz="1600" dirty="0" smtClean="0"/>
              <a:t>U: </a:t>
            </a:r>
            <a:r>
              <a:rPr lang="nl-NL" sz="1600" dirty="0" err="1" smtClean="0"/>
              <a:t>normalized</a:t>
            </a:r>
            <a:r>
              <a:rPr lang="nl-NL" sz="1600" dirty="0" smtClean="0"/>
              <a:t> design point</a:t>
            </a:r>
          </a:p>
          <a:p>
            <a:pPr lvl="2"/>
            <a:r>
              <a:rPr lang="nl-NL" sz="1600" dirty="0" smtClean="0"/>
              <a:t>X: design point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January 2012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57192" y="1365814"/>
            <a:ext cx="3828941" cy="1595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81287" y="3341294"/>
            <a:ext cx="3622875" cy="2576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8066" name="Object 2"/>
          <p:cNvGraphicFramePr>
            <a:graphicFrameLocks noChangeAspect="1"/>
          </p:cNvGraphicFramePr>
          <p:nvPr/>
        </p:nvGraphicFramePr>
        <p:xfrm>
          <a:off x="5486400" y="5926238"/>
          <a:ext cx="30003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5" r:id="rId6" imgW="2438400" imgH="406400" progId="">
                  <p:embed/>
                </p:oleObj>
              </mc:Choice>
              <mc:Fallback>
                <p:oleObj r:id="rId6" imgW="2438400" imgH="406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926238"/>
                        <a:ext cx="300037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945062" y="878815"/>
            <a:ext cx="3732213" cy="5072400"/>
          </a:xfrm>
        </p:spPr>
        <p:txBody>
          <a:bodyPr/>
          <a:lstStyle/>
          <a:p>
            <a:r>
              <a:rPr lang="nl-NL" altLang="en-US" sz="1800" dirty="0"/>
              <a:t>Failure occurs only if all components </a:t>
            </a:r>
            <a:r>
              <a:rPr lang="nl-NL" altLang="en-US" sz="1800" dirty="0" smtClean="0"/>
              <a:t>fail: Parallel system of components</a:t>
            </a:r>
          </a:p>
          <a:p>
            <a:endParaRPr lang="nl-NL" altLang="en-US" sz="1800" dirty="0" smtClean="0"/>
          </a:p>
          <a:p>
            <a:endParaRPr lang="nl-NL" altLang="en-US" sz="1800" dirty="0"/>
          </a:p>
          <a:p>
            <a:endParaRPr lang="nl-NL" altLang="en-US" sz="1800" dirty="0"/>
          </a:p>
          <a:p>
            <a:r>
              <a:rPr lang="nl-NL" altLang="en-US" sz="1800" dirty="0" smtClean="0"/>
              <a:t>If </a:t>
            </a:r>
            <a:r>
              <a:rPr lang="nl-NL" altLang="en-US" sz="1800" dirty="0"/>
              <a:t>components are independent</a:t>
            </a:r>
            <a:r>
              <a:rPr lang="nl-NL" altLang="en-US" sz="1800" dirty="0" smtClean="0"/>
              <a:t>:</a:t>
            </a:r>
            <a:endParaRPr lang="nl-NL" altLang="en-US" sz="1800" dirty="0"/>
          </a:p>
          <a:p>
            <a:r>
              <a:rPr lang="nl-NL" altLang="en-US" sz="1800" dirty="0"/>
              <a:t>		P</a:t>
            </a:r>
            <a:r>
              <a:rPr lang="nl-NL" altLang="en-US" sz="1800" baseline="-25000" dirty="0"/>
              <a:t>Fail</a:t>
            </a:r>
            <a:r>
              <a:rPr lang="nl-NL" altLang="en-US" sz="1800" dirty="0"/>
              <a:t> = P</a:t>
            </a:r>
            <a:r>
              <a:rPr lang="nl-NL" altLang="en-US" sz="1800" baseline="-25000" dirty="0"/>
              <a:t>F1</a:t>
            </a:r>
            <a:r>
              <a:rPr lang="nl-NL" altLang="en-US" sz="1800" dirty="0"/>
              <a:t>* P</a:t>
            </a:r>
            <a:r>
              <a:rPr lang="nl-NL" altLang="en-US" sz="1800" baseline="-25000" dirty="0"/>
              <a:t>F2</a:t>
            </a:r>
            <a:r>
              <a:rPr lang="nl-NL" altLang="en-US" sz="1800" dirty="0"/>
              <a:t>     </a:t>
            </a:r>
          </a:p>
          <a:p>
            <a:endParaRPr lang="en-GB" sz="1800" dirty="0"/>
          </a:p>
        </p:txBody>
      </p:sp>
      <p:sp>
        <p:nvSpPr>
          <p:cNvPr id="822275" name="Rectangle 3"/>
          <p:cNvSpPr>
            <a:spLocks noGrp="1" noChangeArrowheads="1"/>
          </p:cNvSpPr>
          <p:nvPr>
            <p:ph type="body" sz="quarter" idx="11"/>
          </p:nvPr>
        </p:nvSpPr>
        <p:spPr>
          <a:xfrm>
            <a:off x="900592" y="878815"/>
            <a:ext cx="3738563" cy="5073312"/>
          </a:xfrm>
          <a:prstGeom prst="rect">
            <a:avLst/>
          </a:prstGeom>
        </p:spPr>
        <p:txBody>
          <a:bodyPr/>
          <a:lstStyle/>
          <a:p>
            <a:r>
              <a:rPr lang="nl-NL" altLang="en-US" sz="1800" dirty="0"/>
              <a:t>Failure occurs if one or more components </a:t>
            </a:r>
            <a:r>
              <a:rPr lang="nl-NL" altLang="en-US" sz="1800" dirty="0" smtClean="0"/>
              <a:t>fail: series of components</a:t>
            </a:r>
          </a:p>
          <a:p>
            <a:endParaRPr lang="nl-NL" altLang="en-US" sz="1800" dirty="0"/>
          </a:p>
          <a:p>
            <a:endParaRPr lang="nl-NL" altLang="en-US" sz="1800" dirty="0" smtClean="0"/>
          </a:p>
          <a:p>
            <a:r>
              <a:rPr lang="nl-NL" altLang="en-US" sz="1800" dirty="0" smtClean="0"/>
              <a:t>If components are independent:</a:t>
            </a:r>
          </a:p>
          <a:p>
            <a:r>
              <a:rPr lang="nl-NL" altLang="en-US" sz="1800" dirty="0" smtClean="0"/>
              <a:t>	P</a:t>
            </a:r>
            <a:r>
              <a:rPr lang="nl-NL" altLang="en-US" sz="1800" baseline="-25000" dirty="0" smtClean="0"/>
              <a:t>Fail</a:t>
            </a:r>
            <a:r>
              <a:rPr lang="nl-NL" altLang="en-US" sz="1800" dirty="0" smtClean="0"/>
              <a:t> = 1 – (1-P</a:t>
            </a:r>
            <a:r>
              <a:rPr lang="nl-NL" altLang="en-US" sz="1800" baseline="-25000" dirty="0" smtClean="0"/>
              <a:t>F1</a:t>
            </a:r>
            <a:r>
              <a:rPr lang="nl-NL" altLang="en-US" sz="1800" dirty="0" smtClean="0"/>
              <a:t>) * (1-P</a:t>
            </a:r>
            <a:r>
              <a:rPr lang="nl-NL" altLang="en-US" sz="1800" baseline="-25000" dirty="0" smtClean="0"/>
              <a:t>F2</a:t>
            </a:r>
            <a:r>
              <a:rPr lang="nl-NL" altLang="en-US" sz="1800" dirty="0" smtClean="0"/>
              <a:t>)</a:t>
            </a:r>
          </a:p>
          <a:p>
            <a:endParaRPr lang="nl-NL" altLang="en-US" sz="1800" dirty="0" smtClean="0"/>
          </a:p>
          <a:p>
            <a:r>
              <a:rPr lang="nl-NL" altLang="en-US" sz="1800" dirty="0" smtClean="0"/>
              <a:t>		</a:t>
            </a:r>
            <a:endParaRPr lang="en-US" altLang="en-US" sz="1800" dirty="0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 dirty="0" smtClean="0"/>
              <a:t>System reliability</a:t>
            </a:r>
            <a:endParaRPr lang="en-US" altLang="en-US" dirty="0" smtClean="0"/>
          </a:p>
        </p:txBody>
      </p:sp>
      <p:sp>
        <p:nvSpPr>
          <p:cNvPr id="1229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406599" y="6038775"/>
            <a:ext cx="266673" cy="16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5pPr>
            <a:lvl6pPr marL="25146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6pPr>
            <a:lvl7pPr marL="29718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7pPr>
            <a:lvl8pPr marL="34290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8pPr>
            <a:lvl9pPr marL="38862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9pPr>
          </a:lstStyle>
          <a:p>
            <a:pPr eaLnBrk="1" hangingPunct="1"/>
            <a:fld id="{8D91B974-3221-4248-8FA0-70E398072ABF}" type="slidenum">
              <a:rPr lang="nl-NL" altLang="en-US" b="0" smtClean="0">
                <a:solidFill>
                  <a:srgbClr val="008BBF"/>
                </a:solidFill>
              </a:rPr>
              <a:pPr eaLnBrk="1" hangingPunct="1"/>
              <a:t>18</a:t>
            </a:fld>
            <a:endParaRPr lang="nl-NL" altLang="en-US" b="0" smtClean="0">
              <a:solidFill>
                <a:srgbClr val="008BBF"/>
              </a:solidFill>
            </a:endParaRPr>
          </a:p>
        </p:txBody>
      </p:sp>
      <p:sp>
        <p:nvSpPr>
          <p:cNvPr id="12293" name="Text Box 13"/>
          <p:cNvSpPr txBox="1">
            <a:spLocks noChangeArrowheads="1"/>
          </p:cNvSpPr>
          <p:nvPr/>
        </p:nvSpPr>
        <p:spPr bwMode="auto">
          <a:xfrm>
            <a:off x="4006361" y="2795803"/>
            <a:ext cx="33374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5pPr>
            <a:lvl6pPr marL="25146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6pPr>
            <a:lvl7pPr marL="29718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7pPr>
            <a:lvl8pPr marL="34290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8pPr>
            <a:lvl9pPr marL="38862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nl-NL" altLang="en-US" sz="1400" b="0" i="1"/>
              <a:t>   </a:t>
            </a:r>
            <a:endParaRPr lang="en-US" altLang="en-US" sz="1400" b="0" i="1"/>
          </a:p>
        </p:txBody>
      </p:sp>
      <p:grpSp>
        <p:nvGrpSpPr>
          <p:cNvPr id="2" name="Group 1"/>
          <p:cNvGrpSpPr/>
          <p:nvPr/>
        </p:nvGrpSpPr>
        <p:grpSpPr>
          <a:xfrm>
            <a:off x="1137772" y="1748672"/>
            <a:ext cx="2767830" cy="594919"/>
            <a:chOff x="2706566" y="1529065"/>
            <a:chExt cx="3097823" cy="677561"/>
          </a:xfrm>
        </p:grpSpPr>
        <p:sp>
          <p:nvSpPr>
            <p:cNvPr id="12294" name="Rectangle 14"/>
            <p:cNvSpPr>
              <a:spLocks noChangeArrowheads="1"/>
            </p:cNvSpPr>
            <p:nvPr/>
          </p:nvSpPr>
          <p:spPr bwMode="auto">
            <a:xfrm>
              <a:off x="3143250" y="1855789"/>
              <a:ext cx="855785" cy="3508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295" name="Rectangle 15"/>
            <p:cNvSpPr>
              <a:spLocks noChangeArrowheads="1"/>
            </p:cNvSpPr>
            <p:nvPr/>
          </p:nvSpPr>
          <p:spPr bwMode="auto">
            <a:xfrm>
              <a:off x="4529504" y="1855789"/>
              <a:ext cx="855785" cy="3508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296" name="Line 16"/>
            <p:cNvSpPr>
              <a:spLocks noChangeShapeType="1"/>
            </p:cNvSpPr>
            <p:nvPr/>
          </p:nvSpPr>
          <p:spPr bwMode="auto">
            <a:xfrm flipH="1">
              <a:off x="2706566" y="2028825"/>
              <a:ext cx="4308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297" name="Line 17"/>
            <p:cNvSpPr>
              <a:spLocks noChangeShapeType="1"/>
            </p:cNvSpPr>
            <p:nvPr/>
          </p:nvSpPr>
          <p:spPr bwMode="auto">
            <a:xfrm flipH="1">
              <a:off x="4007828" y="2028825"/>
              <a:ext cx="5304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298" name="Line 18"/>
            <p:cNvSpPr>
              <a:spLocks noChangeShapeType="1"/>
            </p:cNvSpPr>
            <p:nvPr/>
          </p:nvSpPr>
          <p:spPr bwMode="auto">
            <a:xfrm flipH="1">
              <a:off x="5373566" y="2028825"/>
              <a:ext cx="4308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299" name="Text Box 19"/>
            <p:cNvSpPr txBox="1">
              <a:spLocks noChangeArrowheads="1"/>
            </p:cNvSpPr>
            <p:nvPr/>
          </p:nvSpPr>
          <p:spPr bwMode="auto">
            <a:xfrm>
              <a:off x="3348405" y="1529065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nl-NL" altLang="en-US" sz="1400" b="0" dirty="0"/>
                <a:t>1</a:t>
              </a:r>
              <a:endParaRPr lang="en-US" altLang="en-US" sz="1400" b="0" dirty="0"/>
            </a:p>
          </p:txBody>
        </p:sp>
        <p:sp>
          <p:nvSpPr>
            <p:cNvPr id="12300" name="Text Box 20"/>
            <p:cNvSpPr txBox="1">
              <a:spLocks noChangeArrowheads="1"/>
            </p:cNvSpPr>
            <p:nvPr/>
          </p:nvSpPr>
          <p:spPr bwMode="auto">
            <a:xfrm>
              <a:off x="4857751" y="1539777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nl-NL" altLang="en-US" sz="1400" b="0" dirty="0"/>
                <a:t>2</a:t>
              </a:r>
              <a:endParaRPr lang="en-US" altLang="en-US" sz="1400" b="0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504202" y="3322637"/>
            <a:ext cx="2350491" cy="719889"/>
            <a:chOff x="1512382" y="3534763"/>
            <a:chExt cx="2350491" cy="719889"/>
          </a:xfrm>
        </p:grpSpPr>
        <p:sp>
          <p:nvSpPr>
            <p:cNvPr id="822294" name="Line 22"/>
            <p:cNvSpPr>
              <a:spLocks noChangeShapeType="1"/>
            </p:cNvSpPr>
            <p:nvPr/>
          </p:nvSpPr>
          <p:spPr bwMode="auto">
            <a:xfrm>
              <a:off x="1654607" y="3800891"/>
              <a:ext cx="504242" cy="1917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en-GB"/>
            </a:p>
          </p:txBody>
        </p:sp>
        <p:sp>
          <p:nvSpPr>
            <p:cNvPr id="822295" name="Text Box 23"/>
            <p:cNvSpPr txBox="1">
              <a:spLocks noChangeArrowheads="1"/>
            </p:cNvSpPr>
            <p:nvPr/>
          </p:nvSpPr>
          <p:spPr bwMode="auto">
            <a:xfrm>
              <a:off x="1918430" y="4039208"/>
              <a:ext cx="194444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defTabSz="914400" eaLnBrk="1" hangingPunct="1"/>
              <a:r>
                <a:rPr lang="en-GB" altLang="en-US" sz="1400" b="0" dirty="0"/>
                <a:t>If </a:t>
              </a:r>
              <a:r>
                <a:rPr lang="nl-NL" altLang="en-US" sz="1400" b="0" dirty="0"/>
                <a:t>P</a:t>
              </a:r>
              <a:r>
                <a:rPr lang="nl-NL" altLang="en-US" sz="1400" b="0" baseline="-25000" dirty="0"/>
                <a:t>F1</a:t>
              </a:r>
              <a:r>
                <a:rPr lang="nl-NL" altLang="en-US" sz="1400" b="0" dirty="0"/>
                <a:t> and  P</a:t>
              </a:r>
              <a:r>
                <a:rPr lang="nl-NL" altLang="en-US" sz="1400" b="0" baseline="-25000" dirty="0"/>
                <a:t>F2</a:t>
              </a:r>
              <a:r>
                <a:rPr lang="nl-NL" altLang="en-US" sz="1400" b="0" dirty="0"/>
                <a:t> are small</a:t>
              </a:r>
              <a:r>
                <a:rPr lang="en-GB" altLang="en-US" sz="1400" dirty="0"/>
                <a:t> </a:t>
              </a:r>
              <a:endParaRPr lang="en-US" altLang="en-US" sz="1400" dirty="0"/>
            </a:p>
          </p:txBody>
        </p:sp>
        <p:sp>
          <p:nvSpPr>
            <p:cNvPr id="822296" name="Text Box 24"/>
            <p:cNvSpPr txBox="1">
              <a:spLocks noChangeArrowheads="1"/>
            </p:cNvSpPr>
            <p:nvPr/>
          </p:nvSpPr>
          <p:spPr bwMode="auto">
            <a:xfrm>
              <a:off x="1512382" y="3534763"/>
              <a:ext cx="12503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defTabSz="914400" eaLnBrk="1" hangingPunct="1"/>
              <a:r>
                <a:rPr lang="nl-NL" altLang="en-US" sz="1600" b="0" dirty="0">
                  <a:sym typeface="Symbol" pitchFamily="18" charset="2"/>
                </a:rPr>
                <a:t></a:t>
              </a:r>
              <a:r>
                <a:rPr lang="nl-NL" altLang="en-US" sz="2000" b="0" dirty="0">
                  <a:sym typeface="Symbol" pitchFamily="18" charset="2"/>
                </a:rPr>
                <a:t> </a:t>
              </a:r>
              <a:r>
                <a:rPr lang="nl-NL" altLang="en-US" sz="1600" b="0" dirty="0"/>
                <a:t> </a:t>
              </a:r>
              <a:r>
                <a:rPr lang="nl-NL" altLang="en-US" b="0" dirty="0"/>
                <a:t>P</a:t>
              </a:r>
              <a:r>
                <a:rPr lang="nl-NL" altLang="en-US" b="0" baseline="-25000" dirty="0"/>
                <a:t>F1</a:t>
              </a:r>
              <a:r>
                <a:rPr lang="nl-NL" altLang="en-US" b="0" dirty="0"/>
                <a:t> + P</a:t>
              </a:r>
              <a:r>
                <a:rPr lang="nl-NL" altLang="en-US" b="0" baseline="-25000" dirty="0"/>
                <a:t>F2</a:t>
              </a:r>
              <a:endParaRPr lang="en-US" altLang="en-US" b="0" baseline="-25000" dirty="0"/>
            </a:p>
          </p:txBody>
        </p:sp>
      </p:grpSp>
      <p:grpSp>
        <p:nvGrpSpPr>
          <p:cNvPr id="18" name="Group 1"/>
          <p:cNvGrpSpPr>
            <a:grpSpLocks/>
          </p:cNvGrpSpPr>
          <p:nvPr/>
        </p:nvGrpSpPr>
        <p:grpSpPr bwMode="auto">
          <a:xfrm>
            <a:off x="5323394" y="1480137"/>
            <a:ext cx="2569708" cy="1114679"/>
            <a:chOff x="1712913" y="1213048"/>
            <a:chExt cx="3313112" cy="1385492"/>
          </a:xfrm>
        </p:grpSpPr>
        <p:sp>
          <p:nvSpPr>
            <p:cNvPr id="19" name="Rectangle 31"/>
            <p:cNvSpPr>
              <a:spLocks noChangeArrowheads="1"/>
            </p:cNvSpPr>
            <p:nvPr/>
          </p:nvSpPr>
          <p:spPr bwMode="auto">
            <a:xfrm>
              <a:off x="2932113" y="2166938"/>
              <a:ext cx="869950" cy="2143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" name="Rectangle 32"/>
            <p:cNvSpPr>
              <a:spLocks noChangeArrowheads="1"/>
            </p:cNvSpPr>
            <p:nvPr/>
          </p:nvSpPr>
          <p:spPr bwMode="auto">
            <a:xfrm>
              <a:off x="2932113" y="1520825"/>
              <a:ext cx="869950" cy="2143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" name="Freeform 33"/>
            <p:cNvSpPr>
              <a:spLocks/>
            </p:cNvSpPr>
            <p:nvPr/>
          </p:nvSpPr>
          <p:spPr bwMode="auto">
            <a:xfrm>
              <a:off x="1712913" y="1625600"/>
              <a:ext cx="1222375" cy="319088"/>
            </a:xfrm>
            <a:custGeom>
              <a:avLst/>
              <a:gdLst>
                <a:gd name="T0" fmla="*/ 0 w 510"/>
                <a:gd name="T1" fmla="*/ 2147483647 h 135"/>
                <a:gd name="T2" fmla="*/ 2147483647 w 510"/>
                <a:gd name="T3" fmla="*/ 2147483647 h 135"/>
                <a:gd name="T4" fmla="*/ 2147483647 w 510"/>
                <a:gd name="T5" fmla="*/ 2147483647 h 135"/>
                <a:gd name="T6" fmla="*/ 2147483647 w 510"/>
                <a:gd name="T7" fmla="*/ 0 h 1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0"/>
                <a:gd name="T13" fmla="*/ 0 h 135"/>
                <a:gd name="T14" fmla="*/ 510 w 510"/>
                <a:gd name="T15" fmla="*/ 135 h 1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0" h="135">
                  <a:moveTo>
                    <a:pt x="0" y="135"/>
                  </a:moveTo>
                  <a:lnTo>
                    <a:pt x="288" y="135"/>
                  </a:lnTo>
                  <a:lnTo>
                    <a:pt x="288" y="1"/>
                  </a:lnTo>
                  <a:lnTo>
                    <a:pt x="5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34"/>
            <p:cNvSpPr>
              <a:spLocks/>
            </p:cNvSpPr>
            <p:nvPr/>
          </p:nvSpPr>
          <p:spPr bwMode="auto">
            <a:xfrm>
              <a:off x="2403475" y="1944688"/>
              <a:ext cx="531813" cy="346075"/>
            </a:xfrm>
            <a:custGeom>
              <a:avLst/>
              <a:gdLst>
                <a:gd name="T0" fmla="*/ 0 w 222"/>
                <a:gd name="T1" fmla="*/ 0 h 147"/>
                <a:gd name="T2" fmla="*/ 0 w 222"/>
                <a:gd name="T3" fmla="*/ 2147483647 h 147"/>
                <a:gd name="T4" fmla="*/ 2147483647 w 222"/>
                <a:gd name="T5" fmla="*/ 2147483647 h 147"/>
                <a:gd name="T6" fmla="*/ 0 60000 65536"/>
                <a:gd name="T7" fmla="*/ 0 60000 65536"/>
                <a:gd name="T8" fmla="*/ 0 60000 65536"/>
                <a:gd name="T9" fmla="*/ 0 w 222"/>
                <a:gd name="T10" fmla="*/ 0 h 147"/>
                <a:gd name="T11" fmla="*/ 222 w 222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" h="147">
                  <a:moveTo>
                    <a:pt x="0" y="0"/>
                  </a:moveTo>
                  <a:lnTo>
                    <a:pt x="0" y="147"/>
                  </a:lnTo>
                  <a:lnTo>
                    <a:pt x="222" y="147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3" name="Group 35"/>
            <p:cNvGrpSpPr>
              <a:grpSpLocks/>
            </p:cNvGrpSpPr>
            <p:nvPr/>
          </p:nvGrpSpPr>
          <p:grpSpPr bwMode="auto">
            <a:xfrm flipH="1">
              <a:off x="3803650" y="1625600"/>
              <a:ext cx="1222375" cy="665163"/>
              <a:chOff x="2034" y="765"/>
              <a:chExt cx="510" cy="282"/>
            </a:xfrm>
          </p:grpSpPr>
          <p:sp>
            <p:nvSpPr>
              <p:cNvPr id="26" name="Freeform 36"/>
              <p:cNvSpPr>
                <a:spLocks/>
              </p:cNvSpPr>
              <p:nvPr/>
            </p:nvSpPr>
            <p:spPr bwMode="auto">
              <a:xfrm>
                <a:off x="2034" y="765"/>
                <a:ext cx="510" cy="135"/>
              </a:xfrm>
              <a:custGeom>
                <a:avLst/>
                <a:gdLst>
                  <a:gd name="T0" fmla="*/ 0 w 510"/>
                  <a:gd name="T1" fmla="*/ 135 h 135"/>
                  <a:gd name="T2" fmla="*/ 288 w 510"/>
                  <a:gd name="T3" fmla="*/ 135 h 135"/>
                  <a:gd name="T4" fmla="*/ 288 w 510"/>
                  <a:gd name="T5" fmla="*/ 1 h 135"/>
                  <a:gd name="T6" fmla="*/ 510 w 510"/>
                  <a:gd name="T7" fmla="*/ 0 h 1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0"/>
                  <a:gd name="T13" fmla="*/ 0 h 135"/>
                  <a:gd name="T14" fmla="*/ 510 w 510"/>
                  <a:gd name="T15" fmla="*/ 135 h 1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0" h="135">
                    <a:moveTo>
                      <a:pt x="0" y="135"/>
                    </a:moveTo>
                    <a:lnTo>
                      <a:pt x="288" y="135"/>
                    </a:lnTo>
                    <a:lnTo>
                      <a:pt x="288" y="1"/>
                    </a:lnTo>
                    <a:lnTo>
                      <a:pt x="51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37"/>
              <p:cNvSpPr>
                <a:spLocks/>
              </p:cNvSpPr>
              <p:nvPr/>
            </p:nvSpPr>
            <p:spPr bwMode="auto">
              <a:xfrm>
                <a:off x="2322" y="900"/>
                <a:ext cx="222" cy="147"/>
              </a:xfrm>
              <a:custGeom>
                <a:avLst/>
                <a:gdLst>
                  <a:gd name="T0" fmla="*/ 0 w 222"/>
                  <a:gd name="T1" fmla="*/ 0 h 147"/>
                  <a:gd name="T2" fmla="*/ 0 w 222"/>
                  <a:gd name="T3" fmla="*/ 147 h 147"/>
                  <a:gd name="T4" fmla="*/ 222 w 222"/>
                  <a:gd name="T5" fmla="*/ 147 h 147"/>
                  <a:gd name="T6" fmla="*/ 0 60000 65536"/>
                  <a:gd name="T7" fmla="*/ 0 60000 65536"/>
                  <a:gd name="T8" fmla="*/ 0 60000 65536"/>
                  <a:gd name="T9" fmla="*/ 0 w 222"/>
                  <a:gd name="T10" fmla="*/ 0 h 147"/>
                  <a:gd name="T11" fmla="*/ 222 w 222"/>
                  <a:gd name="T12" fmla="*/ 147 h 1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" h="147">
                    <a:moveTo>
                      <a:pt x="0" y="0"/>
                    </a:moveTo>
                    <a:lnTo>
                      <a:pt x="0" y="147"/>
                    </a:lnTo>
                    <a:lnTo>
                      <a:pt x="222" y="147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4" name="Text Box 38"/>
            <p:cNvSpPr txBox="1">
              <a:spLocks noChangeArrowheads="1"/>
            </p:cNvSpPr>
            <p:nvPr/>
          </p:nvSpPr>
          <p:spPr bwMode="auto">
            <a:xfrm>
              <a:off x="3213226" y="1213048"/>
              <a:ext cx="3077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nl-NL" altLang="en-US" sz="1400" b="0" dirty="0"/>
                <a:t>1</a:t>
              </a:r>
              <a:endParaRPr lang="en-US" altLang="en-US" sz="1400" b="0" dirty="0"/>
            </a:p>
          </p:txBody>
        </p:sp>
        <p:sp>
          <p:nvSpPr>
            <p:cNvPr id="25" name="Text Box 39"/>
            <p:cNvSpPr txBox="1">
              <a:spLocks noChangeArrowheads="1"/>
            </p:cNvSpPr>
            <p:nvPr/>
          </p:nvSpPr>
          <p:spPr bwMode="auto">
            <a:xfrm>
              <a:off x="3184525" y="2290763"/>
              <a:ext cx="3077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nl-NL" altLang="en-US" sz="1400" b="0"/>
                <a:t>2</a:t>
              </a:r>
              <a:endParaRPr lang="en-US" altLang="en-US" sz="1400" b="0"/>
            </a:p>
          </p:txBody>
        </p:sp>
      </p:grpSp>
      <p:grpSp>
        <p:nvGrpSpPr>
          <p:cNvPr id="29" name="Group 17"/>
          <p:cNvGrpSpPr>
            <a:grpSpLocks/>
          </p:cNvGrpSpPr>
          <p:nvPr/>
        </p:nvGrpSpPr>
        <p:grpSpPr bwMode="auto">
          <a:xfrm>
            <a:off x="3048618" y="4373619"/>
            <a:ext cx="2708310" cy="1219360"/>
            <a:chOff x="5605463" y="906384"/>
            <a:chExt cx="2471737" cy="993897"/>
          </a:xfrm>
        </p:grpSpPr>
        <p:sp>
          <p:nvSpPr>
            <p:cNvPr id="30" name="Rectangle 35"/>
            <p:cNvSpPr>
              <a:spLocks noChangeArrowheads="1"/>
            </p:cNvSpPr>
            <p:nvPr/>
          </p:nvSpPr>
          <p:spPr bwMode="auto">
            <a:xfrm>
              <a:off x="6175375" y="1544638"/>
              <a:ext cx="576263" cy="1444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eaLnBrk="1" hangingPunct="1"/>
              <a:endParaRPr lang="en-US" altLang="en-US" sz="14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6"/>
            <p:cNvSpPr>
              <a:spLocks noChangeArrowheads="1"/>
            </p:cNvSpPr>
            <p:nvPr/>
          </p:nvSpPr>
          <p:spPr bwMode="auto">
            <a:xfrm>
              <a:off x="6580188" y="1109663"/>
              <a:ext cx="576262" cy="1444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eaLnBrk="1" hangingPunct="1"/>
              <a:endParaRPr lang="en-US" altLang="en-US" sz="14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37"/>
            <p:cNvSpPr>
              <a:spLocks/>
            </p:cNvSpPr>
            <p:nvPr/>
          </p:nvSpPr>
          <p:spPr bwMode="auto">
            <a:xfrm>
              <a:off x="5605463" y="1181100"/>
              <a:ext cx="962025" cy="214313"/>
            </a:xfrm>
            <a:custGeom>
              <a:avLst/>
              <a:gdLst>
                <a:gd name="T0" fmla="*/ 0 w 606"/>
                <a:gd name="T1" fmla="*/ 2147483647 h 135"/>
                <a:gd name="T2" fmla="*/ 2147483647 w 606"/>
                <a:gd name="T3" fmla="*/ 2147483647 h 135"/>
                <a:gd name="T4" fmla="*/ 2147483647 w 606"/>
                <a:gd name="T5" fmla="*/ 2147483647 h 135"/>
                <a:gd name="T6" fmla="*/ 2147483647 w 606"/>
                <a:gd name="T7" fmla="*/ 0 h 1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6"/>
                <a:gd name="T13" fmla="*/ 0 h 135"/>
                <a:gd name="T14" fmla="*/ 606 w 606"/>
                <a:gd name="T15" fmla="*/ 135 h 1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6" h="135">
                  <a:moveTo>
                    <a:pt x="0" y="132"/>
                  </a:moveTo>
                  <a:lnTo>
                    <a:pt x="199" y="135"/>
                  </a:lnTo>
                  <a:lnTo>
                    <a:pt x="199" y="1"/>
                  </a:lnTo>
                  <a:lnTo>
                    <a:pt x="60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38"/>
            <p:cNvSpPr>
              <a:spLocks/>
            </p:cNvSpPr>
            <p:nvPr/>
          </p:nvSpPr>
          <p:spPr bwMode="auto">
            <a:xfrm>
              <a:off x="5919788" y="1395413"/>
              <a:ext cx="257175" cy="233362"/>
            </a:xfrm>
            <a:custGeom>
              <a:avLst/>
              <a:gdLst>
                <a:gd name="T0" fmla="*/ 0 w 222"/>
                <a:gd name="T1" fmla="*/ 0 h 147"/>
                <a:gd name="T2" fmla="*/ 0 w 222"/>
                <a:gd name="T3" fmla="*/ 2147483647 h 147"/>
                <a:gd name="T4" fmla="*/ 2147483647 w 222"/>
                <a:gd name="T5" fmla="*/ 2147483647 h 147"/>
                <a:gd name="T6" fmla="*/ 0 60000 65536"/>
                <a:gd name="T7" fmla="*/ 0 60000 65536"/>
                <a:gd name="T8" fmla="*/ 0 60000 65536"/>
                <a:gd name="T9" fmla="*/ 0 w 222"/>
                <a:gd name="T10" fmla="*/ 0 h 147"/>
                <a:gd name="T11" fmla="*/ 222 w 222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" h="147">
                  <a:moveTo>
                    <a:pt x="0" y="0"/>
                  </a:moveTo>
                  <a:lnTo>
                    <a:pt x="0" y="147"/>
                  </a:lnTo>
                  <a:lnTo>
                    <a:pt x="222" y="147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40"/>
            <p:cNvSpPr>
              <a:spLocks/>
            </p:cNvSpPr>
            <p:nvPr/>
          </p:nvSpPr>
          <p:spPr bwMode="auto">
            <a:xfrm>
              <a:off x="7154863" y="1181100"/>
              <a:ext cx="922337" cy="214313"/>
            </a:xfrm>
            <a:custGeom>
              <a:avLst/>
              <a:gdLst>
                <a:gd name="T0" fmla="*/ 2147483647 w 773"/>
                <a:gd name="T1" fmla="*/ 2147483647 h 135"/>
                <a:gd name="T2" fmla="*/ 2147483647 w 773"/>
                <a:gd name="T3" fmla="*/ 2147483647 h 135"/>
                <a:gd name="T4" fmla="*/ 2147483647 w 773"/>
                <a:gd name="T5" fmla="*/ 2147483647 h 135"/>
                <a:gd name="T6" fmla="*/ 0 w 773"/>
                <a:gd name="T7" fmla="*/ 0 h 1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3"/>
                <a:gd name="T13" fmla="*/ 0 h 135"/>
                <a:gd name="T14" fmla="*/ 773 w 773"/>
                <a:gd name="T15" fmla="*/ 135 h 1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3" h="135">
                  <a:moveTo>
                    <a:pt x="773" y="135"/>
                  </a:moveTo>
                  <a:lnTo>
                    <a:pt x="555" y="135"/>
                  </a:lnTo>
                  <a:lnTo>
                    <a:pt x="555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41"/>
            <p:cNvSpPr>
              <a:spLocks/>
            </p:cNvSpPr>
            <p:nvPr/>
          </p:nvSpPr>
          <p:spPr bwMode="auto">
            <a:xfrm flipH="1">
              <a:off x="7624763" y="1390650"/>
              <a:ext cx="188912" cy="233363"/>
            </a:xfrm>
            <a:custGeom>
              <a:avLst/>
              <a:gdLst>
                <a:gd name="T0" fmla="*/ 0 w 222"/>
                <a:gd name="T1" fmla="*/ 0 h 147"/>
                <a:gd name="T2" fmla="*/ 0 w 222"/>
                <a:gd name="T3" fmla="*/ 2147483647 h 147"/>
                <a:gd name="T4" fmla="*/ 2147483647 w 222"/>
                <a:gd name="T5" fmla="*/ 2147483647 h 147"/>
                <a:gd name="T6" fmla="*/ 0 60000 65536"/>
                <a:gd name="T7" fmla="*/ 0 60000 65536"/>
                <a:gd name="T8" fmla="*/ 0 60000 65536"/>
                <a:gd name="T9" fmla="*/ 0 w 222"/>
                <a:gd name="T10" fmla="*/ 0 h 147"/>
                <a:gd name="T11" fmla="*/ 222 w 222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" h="147">
                  <a:moveTo>
                    <a:pt x="0" y="0"/>
                  </a:moveTo>
                  <a:lnTo>
                    <a:pt x="0" y="147"/>
                  </a:lnTo>
                  <a:lnTo>
                    <a:pt x="222" y="147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 Box 42"/>
            <p:cNvSpPr txBox="1">
              <a:spLocks noChangeArrowheads="1"/>
            </p:cNvSpPr>
            <p:nvPr/>
          </p:nvSpPr>
          <p:spPr bwMode="auto">
            <a:xfrm>
              <a:off x="6733894" y="906384"/>
              <a:ext cx="259240" cy="250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eaLnBrk="1" hangingPunct="1"/>
              <a:r>
                <a:rPr lang="nl-NL" altLang="en-US" sz="1400" b="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en-US" sz="14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 Box 43"/>
            <p:cNvSpPr txBox="1">
              <a:spLocks noChangeArrowheads="1"/>
            </p:cNvSpPr>
            <p:nvPr/>
          </p:nvSpPr>
          <p:spPr bwMode="auto">
            <a:xfrm>
              <a:off x="6380163" y="1649413"/>
              <a:ext cx="259240" cy="250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eaLnBrk="1" hangingPunct="1"/>
              <a:r>
                <a:rPr lang="nl-NL" altLang="en-US" sz="1400" b="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en-US" sz="14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45"/>
            <p:cNvSpPr>
              <a:spLocks noChangeArrowheads="1"/>
            </p:cNvSpPr>
            <p:nvPr/>
          </p:nvSpPr>
          <p:spPr bwMode="auto">
            <a:xfrm>
              <a:off x="7051675" y="1539875"/>
              <a:ext cx="576263" cy="1444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eaLnBrk="1" hangingPunct="1"/>
              <a:endParaRPr lang="en-US" altLang="en-US" sz="14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ine 47"/>
            <p:cNvSpPr>
              <a:spLocks noChangeShapeType="1"/>
            </p:cNvSpPr>
            <p:nvPr/>
          </p:nvSpPr>
          <p:spPr bwMode="auto">
            <a:xfrm>
              <a:off x="6757988" y="161925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Box 48"/>
            <p:cNvSpPr txBox="1">
              <a:spLocks noChangeArrowheads="1"/>
            </p:cNvSpPr>
            <p:nvPr/>
          </p:nvSpPr>
          <p:spPr bwMode="auto">
            <a:xfrm>
              <a:off x="7223125" y="1649413"/>
              <a:ext cx="259240" cy="250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5pPr>
              <a:lvl6pPr marL="25146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6pPr>
              <a:lvl7pPr marL="29718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7pPr>
              <a:lvl8pPr marL="34290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8pPr>
              <a:lvl9pPr marL="3886200" indent="-228600" algn="ctr" defTabSz="457200" eaLnBrk="0" fontAlgn="base" hangingPunct="0">
                <a:spcBef>
                  <a:spcPct val="2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MS Gothic" pitchFamily="49" charset="-128"/>
                </a:defRPr>
              </a:lvl9pPr>
            </a:lstStyle>
            <a:p>
              <a:pPr eaLnBrk="1" hangingPunct="1"/>
              <a:r>
                <a:rPr lang="nl-NL" altLang="en-US" sz="1400" b="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altLang="en-US" sz="14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Down Arrow 4"/>
          <p:cNvSpPr/>
          <p:nvPr/>
        </p:nvSpPr>
        <p:spPr>
          <a:xfrm rot="2700000">
            <a:off x="6016847" y="4034543"/>
            <a:ext cx="264158" cy="692237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1"/>
          <p:cNvSpPr>
            <a:spLocks noChangeArrowheads="1"/>
          </p:cNvSpPr>
          <p:nvPr/>
        </p:nvSpPr>
        <p:spPr bwMode="auto">
          <a:xfrm>
            <a:off x="2910345" y="5900756"/>
            <a:ext cx="324159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5pPr>
            <a:lvl6pPr marL="25146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6pPr>
            <a:lvl7pPr marL="29718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7pPr>
            <a:lvl8pPr marL="34290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8pPr>
            <a:lvl9pPr marL="38862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9pPr>
          </a:lstStyle>
          <a:p>
            <a:pPr eaLnBrk="1" hangingPunct="1"/>
            <a:r>
              <a:rPr lang="nl-NL" altLang="en-US" b="0" dirty="0">
                <a:latin typeface="+mn-lt"/>
              </a:rPr>
              <a:t>P</a:t>
            </a:r>
            <a:r>
              <a:rPr lang="nl-NL" altLang="en-US" b="0" baseline="-25000" dirty="0">
                <a:latin typeface="+mn-lt"/>
              </a:rPr>
              <a:t>Fail</a:t>
            </a:r>
            <a:r>
              <a:rPr lang="nl-NL" altLang="en-US" b="0" dirty="0">
                <a:latin typeface="+mn-lt"/>
              </a:rPr>
              <a:t> = P</a:t>
            </a:r>
            <a:r>
              <a:rPr lang="nl-NL" altLang="en-US" b="0" baseline="-25000" dirty="0">
                <a:latin typeface="+mn-lt"/>
              </a:rPr>
              <a:t>F1</a:t>
            </a:r>
            <a:r>
              <a:rPr lang="nl-NL" altLang="en-US" b="0" dirty="0">
                <a:latin typeface="+mn-lt"/>
              </a:rPr>
              <a:t>* [1 – (1-P</a:t>
            </a:r>
            <a:r>
              <a:rPr lang="nl-NL" altLang="en-US" b="0" baseline="-25000" dirty="0">
                <a:latin typeface="+mn-lt"/>
              </a:rPr>
              <a:t>F2</a:t>
            </a:r>
            <a:r>
              <a:rPr lang="nl-NL" altLang="en-US" b="0" dirty="0">
                <a:latin typeface="+mn-lt"/>
              </a:rPr>
              <a:t>) * (1-P</a:t>
            </a:r>
            <a:r>
              <a:rPr lang="nl-NL" altLang="en-US" b="0" baseline="-25000" dirty="0">
                <a:latin typeface="+mn-lt"/>
              </a:rPr>
              <a:t>F3</a:t>
            </a:r>
            <a:r>
              <a:rPr lang="nl-NL" altLang="en-US" b="0" dirty="0">
                <a:latin typeface="+mn-lt"/>
              </a:rPr>
              <a:t>)]</a:t>
            </a:r>
          </a:p>
          <a:p>
            <a:pPr eaLnBrk="1" hangingPunct="1"/>
            <a:r>
              <a:rPr lang="nl-NL" altLang="en-US" b="0" dirty="0">
                <a:latin typeface="+mn-lt"/>
              </a:rPr>
              <a:t> </a:t>
            </a:r>
            <a:endParaRPr lang="en-GB" altLang="en-US" b="0" dirty="0">
              <a:latin typeface="+mn-lt"/>
            </a:endParaRPr>
          </a:p>
        </p:txBody>
      </p: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2882471" y="5592979"/>
            <a:ext cx="32447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5pPr>
            <a:lvl6pPr marL="25146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6pPr>
            <a:lvl7pPr marL="29718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7pPr>
            <a:lvl8pPr marL="34290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8pPr>
            <a:lvl9pPr marL="3886200" indent="-228600" algn="ctr" defTabSz="457200" eaLnBrk="0" fontAlgn="base" hangingPunct="0"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Gothic" pitchFamily="49" charset="-128"/>
              </a:defRPr>
            </a:lvl9pPr>
          </a:lstStyle>
          <a:p>
            <a:pPr eaLnBrk="1" hangingPunct="1"/>
            <a:r>
              <a:rPr lang="nl-NL" altLang="en-US" b="0" dirty="0">
                <a:latin typeface="+mn-lt"/>
              </a:rPr>
              <a:t>If components are independent:</a:t>
            </a:r>
          </a:p>
        </p:txBody>
      </p:sp>
      <p:sp>
        <p:nvSpPr>
          <p:cNvPr id="45" name="Down Arrow 44"/>
          <p:cNvSpPr/>
          <p:nvPr/>
        </p:nvSpPr>
        <p:spPr>
          <a:xfrm rot="18900000">
            <a:off x="2589588" y="4034544"/>
            <a:ext cx="264158" cy="692237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7333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7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System </a:t>
            </a:r>
            <a:r>
              <a:rPr lang="nl-NL" dirty="0" err="1" smtClean="0"/>
              <a:t>reliability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NL" dirty="0" smtClean="0"/>
              <a:t>System </a:t>
            </a:r>
            <a:r>
              <a:rPr lang="nl-NL" dirty="0" err="1" smtClean="0"/>
              <a:t>reliability</a:t>
            </a:r>
            <a:r>
              <a:rPr lang="nl-NL" dirty="0" smtClean="0"/>
              <a:t> </a:t>
            </a:r>
            <a:r>
              <a:rPr lang="nl-NL" dirty="0" err="1" smtClean="0"/>
              <a:t>based</a:t>
            </a:r>
            <a:r>
              <a:rPr lang="nl-NL" dirty="0" smtClean="0"/>
              <a:t> </a:t>
            </a:r>
            <a:r>
              <a:rPr lang="nl-NL" dirty="0" err="1" smtClean="0"/>
              <a:t>on</a:t>
            </a:r>
            <a:r>
              <a:rPr lang="nl-NL" dirty="0" smtClean="0"/>
              <a:t> </a:t>
            </a:r>
            <a:r>
              <a:rPr lang="nl-NL" dirty="0" err="1" smtClean="0"/>
              <a:t>combined</a:t>
            </a:r>
            <a:r>
              <a:rPr lang="nl-NL" dirty="0" smtClean="0"/>
              <a:t> response surfaces</a:t>
            </a:r>
          </a:p>
          <a:p>
            <a:pPr lvl="1"/>
            <a:r>
              <a:rPr lang="nl-NL" sz="1800" dirty="0" err="1" smtClean="0"/>
              <a:t>Directional</a:t>
            </a:r>
            <a:r>
              <a:rPr lang="nl-NL" sz="1800" dirty="0" smtClean="0"/>
              <a:t> sampling</a:t>
            </a:r>
          </a:p>
          <a:p>
            <a:pPr lvl="1"/>
            <a:r>
              <a:rPr lang="nl-NL" sz="1800" dirty="0" smtClean="0"/>
              <a:t>Using design point per component</a:t>
            </a:r>
          </a:p>
          <a:p>
            <a:pPr lvl="1"/>
            <a:endParaRPr lang="nl-NL" sz="1800" dirty="0"/>
          </a:p>
          <a:p>
            <a:pPr lvl="1"/>
            <a:endParaRPr lang="nl-NL" sz="1800" dirty="0" smtClean="0"/>
          </a:p>
          <a:p>
            <a:pPr lvl="1"/>
            <a:endParaRPr lang="nl-NL" sz="1800" dirty="0"/>
          </a:p>
          <a:p>
            <a:pPr lvl="1"/>
            <a:endParaRPr lang="nl-NL" sz="1800" dirty="0" smtClean="0"/>
          </a:p>
          <a:p>
            <a:pPr lvl="1"/>
            <a:endParaRPr lang="nl-NL" sz="1800" dirty="0" smtClean="0"/>
          </a:p>
          <a:p>
            <a:pPr marL="0" lvl="1" indent="0">
              <a:buNone/>
            </a:pPr>
            <a:r>
              <a:rPr lang="nl-NL" dirty="0" smtClean="0"/>
              <a:t>When components are independent and have probability of non-failure of P1, P2, ..., then system failure equals</a:t>
            </a:r>
          </a:p>
          <a:p>
            <a:pPr lvl="1"/>
            <a:r>
              <a:rPr lang="en-US" sz="1600" dirty="0"/>
              <a:t>Probability of failure = 1-(</a:t>
            </a:r>
            <a:r>
              <a:rPr lang="en-US" sz="1600" dirty="0" smtClean="0"/>
              <a:t>1-PF1)*(1-PF2)</a:t>
            </a:r>
            <a:r>
              <a:rPr lang="en-US" sz="1600" dirty="0"/>
              <a:t> </a:t>
            </a:r>
            <a:r>
              <a:rPr lang="en-US" sz="1600" dirty="0" smtClean="0"/>
              <a:t>*… = </a:t>
            </a:r>
            <a:r>
              <a:rPr lang="nl-NL" altLang="en-US" sz="1600" dirty="0"/>
              <a:t>P</a:t>
            </a:r>
            <a:r>
              <a:rPr lang="nl-NL" altLang="en-US" sz="1600" baseline="-25000" dirty="0"/>
              <a:t>F1</a:t>
            </a:r>
            <a:r>
              <a:rPr lang="nl-NL" altLang="en-US" sz="1600" dirty="0"/>
              <a:t> + </a:t>
            </a:r>
            <a:r>
              <a:rPr lang="nl-NL" altLang="en-US" sz="1600" dirty="0" smtClean="0"/>
              <a:t>P</a:t>
            </a:r>
            <a:r>
              <a:rPr lang="nl-NL" altLang="en-US" sz="1600" baseline="-25000" dirty="0" smtClean="0"/>
              <a:t>F2</a:t>
            </a:r>
            <a:r>
              <a:rPr lang="nl-NL" altLang="en-US" sz="1600" dirty="0"/>
              <a:t>+ </a:t>
            </a:r>
            <a:r>
              <a:rPr lang="nl-NL" altLang="en-US" sz="1600" dirty="0" smtClean="0"/>
              <a:t>...</a:t>
            </a:r>
            <a:endParaRPr lang="en-US" sz="1600" dirty="0"/>
          </a:p>
          <a:p>
            <a:pPr lvl="1"/>
            <a:r>
              <a:rPr lang="en-US" sz="1600" dirty="0"/>
              <a:t>Probability of non failure = </a:t>
            </a:r>
            <a:r>
              <a:rPr lang="en-US" sz="1600" dirty="0" smtClean="0"/>
              <a:t>P1*P2*…</a:t>
            </a:r>
            <a:endParaRPr lang="en-US" sz="1600" dirty="0"/>
          </a:p>
          <a:p>
            <a:pPr marL="0" lvl="1" indent="0">
              <a:buNone/>
            </a:pPr>
            <a:endParaRPr lang="nl-NL" dirty="0" smtClean="0"/>
          </a:p>
          <a:p>
            <a:pPr marL="0" lvl="1" indent="0">
              <a:buNone/>
            </a:pPr>
            <a:endParaRPr lang="nl-NL" dirty="0" smtClean="0"/>
          </a:p>
          <a:p>
            <a:pPr marL="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485726"/>
              </p:ext>
            </p:extLst>
          </p:nvPr>
        </p:nvGraphicFramePr>
        <p:xfrm>
          <a:off x="1221640" y="2618022"/>
          <a:ext cx="7498080" cy="1561697"/>
        </p:xfrm>
        <a:graphic>
          <a:graphicData uri="http://schemas.openxmlformats.org/drawingml/2006/table">
            <a:tbl>
              <a:tblPr/>
              <a:tblGrid>
                <a:gridCol w="1589089"/>
                <a:gridCol w="1948710"/>
                <a:gridCol w="1986427"/>
                <a:gridCol w="1973854"/>
              </a:tblGrid>
              <a:tr h="36942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Reliability (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Test03dualzoneproducinginterval1.Initial.Initial.Resistance=0Test03dualzoneproducinginterval2</a:t>
                      </a:r>
                    </a:p>
                    <a:p>
                      <a:pPr algn="l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Initial.Initial.Resistance=0, (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MonteCarlo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5560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2257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Test03dualzoneproducinginterval1</a:t>
                      </a:r>
                    </a:p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Initial.Initial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D1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Test03dualzoneproducinginterval2</a:t>
                      </a:r>
                    </a:p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Initial.Initial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D1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System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D117"/>
                    </a:solidFill>
                  </a:tcPr>
                </a:tc>
              </a:tr>
              <a:tr h="185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Beta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2E1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0.410664445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-0.25696902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-1.751071457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5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Probability of failure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2E1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0.340659341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0.601398601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0.960033242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5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Probability of non failure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2E1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0.659340659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0.398601399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0.039966758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ell layouts with footer">
  <a:themeElements>
    <a:clrScheme name="Shell - Colours">
      <a:dk1>
        <a:srgbClr val="595959"/>
      </a:dk1>
      <a:lt1>
        <a:srgbClr val="FFFFFF"/>
      </a:lt1>
      <a:dk2>
        <a:srgbClr val="999999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1744</TotalTime>
  <Words>823</Words>
  <Application>Microsoft Office PowerPoint</Application>
  <PresentationFormat>On-screen Show (4:3)</PresentationFormat>
  <Paragraphs>273</Paragraphs>
  <Slides>20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Wingdings</vt:lpstr>
      <vt:lpstr>Calibri</vt:lpstr>
      <vt:lpstr>Futura Medium</vt:lpstr>
      <vt:lpstr>Symbol</vt:lpstr>
      <vt:lpstr>Futura Light</vt:lpstr>
      <vt:lpstr>MS Gothic</vt:lpstr>
      <vt:lpstr>Shell layouts with footer</vt:lpstr>
      <vt:lpstr>Acrobat Document</vt:lpstr>
      <vt:lpstr>CORA methodologies</vt:lpstr>
      <vt:lpstr>PowerPoint Presentation</vt:lpstr>
      <vt:lpstr>PowerPoint Presentation</vt:lpstr>
      <vt:lpstr>DiStribution functions</vt:lpstr>
      <vt:lpstr>Proxys for responses</vt:lpstr>
      <vt:lpstr>correlations</vt:lpstr>
      <vt:lpstr>PowerPoint Presentation</vt:lpstr>
      <vt:lpstr>Material &amp; Operational failure</vt:lpstr>
      <vt:lpstr>Reliability methods</vt:lpstr>
      <vt:lpstr>Reliability methods</vt:lpstr>
      <vt:lpstr>form</vt:lpstr>
      <vt:lpstr>Crude monte carlo</vt:lpstr>
      <vt:lpstr>MC Importance sampling</vt:lpstr>
      <vt:lpstr>MC directional sampling</vt:lpstr>
      <vt:lpstr>Numerical integration</vt:lpstr>
      <vt:lpstr>Automatic switch in reliability methods</vt:lpstr>
      <vt:lpstr>Reliability results</vt:lpstr>
      <vt:lpstr>System reliability</vt:lpstr>
      <vt:lpstr>System reliability</vt:lpstr>
      <vt:lpstr>PowerPoint Presentation</vt:lpstr>
    </vt:vector>
  </TitlesOfParts>
  <Company>Shell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Shell</dc:creator>
  <cp:lastModifiedBy>Kraaijeveld, Famke GSNL-PTI/RC</cp:lastModifiedBy>
  <cp:revision>463</cp:revision>
  <dcterms:created xsi:type="dcterms:W3CDTF">2009-11-25T14:32:06Z</dcterms:created>
  <dcterms:modified xsi:type="dcterms:W3CDTF">2016-02-08T11:17:49Z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Onscreen</vt:lpwstr>
  </property>
  <property fmtid="{D5CDD505-2E9C-101B-9397-08002B2CF9AE}" pid="3" name="WizKit Template Version">
    <vt:i4>4</vt:i4>
  </property>
</Properties>
</file>