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58" r:id="rId2"/>
    <p:sldId id="370" r:id="rId3"/>
    <p:sldId id="375" r:id="rId4"/>
    <p:sldId id="363" r:id="rId5"/>
    <p:sldId id="374" r:id="rId6"/>
    <p:sldId id="372" r:id="rId7"/>
    <p:sldId id="373" r:id="rId8"/>
    <p:sldId id="365" r:id="rId9"/>
    <p:sldId id="366" r:id="rId10"/>
    <p:sldId id="367" r:id="rId11"/>
    <p:sldId id="368" r:id="rId12"/>
    <p:sldId id="369" r:id="rId13"/>
    <p:sldId id="360" r:id="rId14"/>
    <p:sldId id="354" r:id="rId15"/>
  </p:sldIdLst>
  <p:sldSz cx="9144000" cy="6858000" type="screen4x3"/>
  <p:notesSz cx="6797675" cy="9926638"/>
  <p:embeddedFontLst>
    <p:embeddedFont>
      <p:font typeface="Futura Light" panose="00000400000000000000" pitchFamily="2" charset="0"/>
      <p:regular r:id="rId18"/>
    </p:embeddedFont>
    <p:embeddedFont>
      <p:font typeface="Futura Medium" panose="00000400000000000000" pitchFamily="2" charset="0"/>
      <p:regular r:id="rId19"/>
      <p:bold r:id="rId20"/>
      <p:italic r:id="rId21"/>
      <p:boldItalic r:id="rId22"/>
    </p:embeddedFont>
    <p:embeddedFont>
      <p:font typeface="Garamond" panose="02020404030301010803" pitchFamily="18" charset="0"/>
      <p:regular r:id="rId23"/>
      <p:bold r:id="rId24"/>
      <p: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9DB"/>
    <a:srgbClr val="99CDB7"/>
    <a:srgbClr val="66B492"/>
    <a:srgbClr val="339B6E"/>
    <a:srgbClr val="DFD1DE"/>
    <a:srgbClr val="C0A2BD"/>
    <a:srgbClr val="A0749B"/>
    <a:srgbClr val="81457A"/>
    <a:srgbClr val="CCD7E6"/>
    <a:srgbClr val="99A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>
    <p:restoredLeft sz="9262" autoAdjust="0"/>
    <p:restoredTop sz="95994" autoAdjust="0"/>
  </p:normalViewPr>
  <p:slideViewPr>
    <p:cSldViewPr snapToGrid="0" showGuides="1">
      <p:cViewPr>
        <p:scale>
          <a:sx n="160" d="100"/>
          <a:sy n="160" d="100"/>
        </p:scale>
        <p:origin x="-714" y="648"/>
      </p:cViewPr>
      <p:guideLst>
        <p:guide orient="horz" pos="4144"/>
        <p:guide orient="horz" pos="149"/>
        <p:guide orient="horz" pos="831"/>
        <p:guide orient="horz" pos="465"/>
        <p:guide orient="horz" pos="4021"/>
        <p:guide orient="horz" pos="2095"/>
        <p:guide orient="horz" pos="1787"/>
        <p:guide pos="574"/>
        <p:guide pos="5466"/>
        <p:guide pos="2930"/>
        <p:guide pos="300"/>
        <p:guide pos="31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notesViewPr>
    <p:cSldViewPr snapToGrid="0" showGuides="1">
      <p:cViewPr varScale="1">
        <p:scale>
          <a:sx n="52" d="100"/>
          <a:sy n="52" d="100"/>
        </p:scale>
        <p:origin x="-2640" y="-11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12/11/2015</a:t>
            </a:fld>
            <a:endParaRPr lang="en-GB" dirty="0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 dirty="0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/>
              <a:pPr/>
              <a:t>12/11/2015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289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utura Medium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utura Medium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>
                <a:latin typeface="Futura Medium" pitchFamily="2" charset="0"/>
              </a:rPr>
              <a:pPr/>
              <a:t>1</a:t>
            </a:fld>
            <a:endParaRPr lang="en-GB">
              <a:latin typeface="Futura Medium" pitchFamily="2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799493-6412-4470-9830-D005B358D66E}" type="slidenum">
              <a:rPr lang="en-GB" smtClean="0"/>
              <a:pPr/>
              <a:t>14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468313" y="226142"/>
            <a:ext cx="8208961" cy="6167226"/>
            <a:chOff x="468313" y="226142"/>
            <a:chExt cx="8208961" cy="6167226"/>
          </a:xfrm>
        </p:grpSpPr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 flipH="1">
              <a:off x="468313" y="1307018"/>
              <a:ext cx="7020000" cy="50863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GB" smtClean="0"/>
                <a:t> </a:t>
              </a:r>
              <a:endParaRPr lang="en-GB" dirty="0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 flipH="1">
              <a:off x="1548071" y="226142"/>
              <a:ext cx="7129203" cy="504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 flipH="1">
              <a:off x="1548072" y="1307018"/>
              <a:ext cx="5942197" cy="3960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pic>
          <p:nvPicPr>
            <p:cNvPr id="23" name="Picture 22" descr="Shell-2010-Pecten-RGBpc.wm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flipH="1">
              <a:off x="468313" y="290934"/>
              <a:ext cx="720000" cy="667868"/>
            </a:xfrm>
            <a:prstGeom prst="rect">
              <a:avLst/>
            </a:prstGeom>
            <a:noFill/>
          </p:spPr>
        </p:pic>
      </p:grpSp>
      <p:sp>
        <p:nvSpPr>
          <p:cNvPr id="28" name="Rectangle 2"/>
          <p:cNvSpPr>
            <a:spLocks noGrp="1" noChangeArrowheads="1"/>
          </p:cNvSpPr>
          <p:nvPr userDrawn="1">
            <p:ph type="ctrTitle"/>
          </p:nvPr>
        </p:nvSpPr>
        <p:spPr>
          <a:xfrm>
            <a:off x="1697782" y="1400847"/>
            <a:ext cx="5694536" cy="1206000"/>
          </a:xfrm>
          <a:noFill/>
        </p:spPr>
        <p:txBody>
          <a:bodyPr lIns="0" tIns="0" rIns="0"/>
          <a:lstStyle>
            <a:lvl1pPr>
              <a:defRPr kern="1200" cap="all" spc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 dirty="0"/>
              <a:t>Click to edit Master title </a:t>
            </a:r>
            <a:r>
              <a:rPr lang="en-GB" dirty="0" smtClean="0"/>
              <a:t>style</a:t>
            </a:r>
            <a:endParaRPr lang="en-GB" dirty="0"/>
          </a:p>
        </p:txBody>
      </p:sp>
      <p:sp>
        <p:nvSpPr>
          <p:cNvPr id="29" name="Rectangle 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1697782" y="2851200"/>
            <a:ext cx="2700000" cy="1620000"/>
          </a:xfrm>
        </p:spPr>
        <p:txBody>
          <a:bodyPr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16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32" name="Text Placeholder 3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578064" y="5402511"/>
            <a:ext cx="5857896" cy="196455"/>
          </a:xfrm>
        </p:spPr>
        <p:txBody>
          <a:bodyPr anchor="t" anchorCtr="0"/>
          <a:lstStyle>
            <a:lvl1pPr>
              <a:buNone/>
              <a:defRPr sz="1200">
                <a:latin typeface="+mn-lt"/>
              </a:defRPr>
            </a:lvl1pPr>
          </a:lstStyle>
          <a:p>
            <a:pPr lvl="0"/>
            <a:r>
              <a:rPr lang="en-GB" smtClean="0"/>
              <a:t>Click to insert Author’s Name</a:t>
            </a:r>
            <a:endParaRPr lang="en-GB" dirty="0"/>
          </a:p>
        </p:txBody>
      </p:sp>
      <p:sp>
        <p:nvSpPr>
          <p:cNvPr id="33" name="Text Placeholder 3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578064" y="5627540"/>
            <a:ext cx="5857896" cy="196455"/>
          </a:xfrm>
        </p:spPr>
        <p:txBody>
          <a:bodyPr anchor="t" anchorCtr="0"/>
          <a:lstStyle>
            <a:lvl1pPr>
              <a:buNone/>
              <a:defRPr sz="1200">
                <a:latin typeface="+mn-lt"/>
              </a:defRPr>
            </a:lvl1pPr>
          </a:lstStyle>
          <a:p>
            <a:pPr lvl="0"/>
            <a:r>
              <a:rPr lang="en-GB" smtClean="0"/>
              <a:t>Click to insert Role in Organisation</a:t>
            </a:r>
            <a:endParaRPr lang="en-GB" dirty="0"/>
          </a:p>
        </p:txBody>
      </p:sp>
      <p:sp>
        <p:nvSpPr>
          <p:cNvPr id="24" name="Text Box 11" descr="Text Box 11"/>
          <p:cNvSpPr txBox="1">
            <a:spLocks noChangeArrowheads="1"/>
          </p:cNvSpPr>
          <p:nvPr userDrawn="1"/>
        </p:nvSpPr>
        <p:spPr bwMode="auto">
          <a:xfrm>
            <a:off x="468000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25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6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20799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2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64400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8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5862638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GB" sz="800" smtClean="0">
                <a:solidFill>
                  <a:schemeClr val="accent2"/>
                </a:solidFill>
                <a:latin typeface="Futura Medium" pitchFamily="2" charset="0"/>
              </a:rPr>
              <a:t>RESTRICTED</a:t>
            </a:r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906511" y="1312201"/>
            <a:ext cx="7770763" cy="5071137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20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1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2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GB" sz="800" smtClean="0">
                <a:solidFill>
                  <a:schemeClr val="accent2"/>
                </a:solidFill>
                <a:latin typeface="Futura Medium" pitchFamily="2" charset="0"/>
              </a:rPr>
              <a:t>RESTRICTED</a:t>
            </a:r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906512" y="1312202"/>
            <a:ext cx="7766050" cy="5071136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20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5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GB" sz="800" smtClean="0">
                <a:solidFill>
                  <a:schemeClr val="accent2"/>
                </a:solidFill>
                <a:latin typeface="Futura Medium" pitchFamily="2" charset="0"/>
              </a:rPr>
              <a:t>RESTRICTED</a:t>
            </a:r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ig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906512" y="1312202"/>
            <a:ext cx="7766050" cy="5071136"/>
          </a:xfrm>
        </p:spPr>
        <p:txBody>
          <a:bodyPr/>
          <a:lstStyle>
            <a:lvl1pPr marL="0" indent="0" defTabSz="268288">
              <a:lnSpc>
                <a:spcPct val="120000"/>
              </a:lnSpc>
              <a:spcBef>
                <a:spcPts val="0"/>
              </a:spcBef>
              <a:defRPr sz="1600"/>
            </a:lvl1pPr>
            <a:lvl2pPr marL="271463" indent="-271463" defTabSz="268288">
              <a:lnSpc>
                <a:spcPct val="120000"/>
              </a:lnSpc>
              <a:spcBef>
                <a:spcPts val="0"/>
              </a:spcBef>
              <a:defRPr sz="1600"/>
            </a:lvl2pPr>
            <a:lvl3pPr marL="450850" indent="-180975"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600"/>
            </a:lvl3pPr>
            <a:lvl4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4pPr>
            <a:lvl5pPr defTabSz="268288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itchFamily="2" charset="2"/>
              <a:buChar char=""/>
              <a:defRPr sz="1400"/>
            </a:lvl5pPr>
            <a:lvl6pPr defTabSz="268288">
              <a:lnSpc>
                <a:spcPct val="120000"/>
              </a:lnSpc>
              <a:buClr>
                <a:schemeClr val="tx1"/>
              </a:buClr>
              <a:buSzPct val="75000"/>
              <a:buFont typeface="Wingdings" pitchFamily="2" charset="2"/>
              <a:buChar char="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9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4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GB" sz="800" smtClean="0">
                <a:solidFill>
                  <a:schemeClr val="accent2"/>
                </a:solidFill>
                <a:latin typeface="Futura Medium" pitchFamily="2" charset="0"/>
              </a:rPr>
              <a:t>RESTRICTED</a:t>
            </a:r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69875" indent="-26987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54025" indent="-1841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2000"/>
            </a:lvl3pPr>
            <a:lvl4pPr marL="635000" indent="-17462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  <a:p>
            <a:pPr lvl="0"/>
            <a:endParaRPr lang="en-GB" dirty="0" smtClean="0"/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76225" indent="-27622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47675" indent="-171450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2000"/>
            </a:lvl3pPr>
            <a:lvl4pPr marL="635000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3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GB" sz="800" smtClean="0">
                <a:solidFill>
                  <a:schemeClr val="accent2"/>
                </a:solidFill>
                <a:latin typeface="Futura Medium" pitchFamily="2" charset="0"/>
              </a:rPr>
              <a:t>RESTRICTED</a:t>
            </a:r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69875" indent="-269875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54025" indent="-1841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2000"/>
            </a:lvl3pPr>
            <a:lvl4pPr marL="635000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5pPr>
            <a:lvl6pPr marL="996950" indent="-185738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tabLst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/>
            </a:lvl1pPr>
            <a:lvl2pPr marL="276225" indent="-276225"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2000"/>
            </a:lvl2pPr>
            <a:lvl3pPr marL="449263" indent="-173038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2000"/>
            </a:lvl3pPr>
            <a:lvl4pPr marL="635000" indent="-180975"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4pPr>
            <a:lvl5pPr marL="811213" indent="-169863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5pPr>
            <a:lvl6pPr marL="992188" indent="-1809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GB" sz="800" smtClean="0">
                <a:solidFill>
                  <a:schemeClr val="accent2"/>
                </a:solidFill>
                <a:latin typeface="Futura Medium" pitchFamily="2" charset="0"/>
              </a:rPr>
              <a:t>RESTRICTED</a:t>
            </a:r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Hig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4945062" y="1310400"/>
            <a:ext cx="3732213" cy="5072400"/>
          </a:xfr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600"/>
            </a:lvl1pPr>
            <a:lvl2pPr marL="269875" indent="-2698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1600"/>
            </a:lvl2pPr>
            <a:lvl3pPr marL="454025" indent="-1841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600"/>
            </a:lvl3pPr>
            <a:lvl4pPr marL="635000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4pPr>
            <a:lvl5pPr marL="811213" indent="-16986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5pPr>
            <a:lvl6pPr marL="992188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Xx</a:t>
            </a:r>
          </a:p>
          <a:p>
            <a:pPr lvl="5"/>
            <a:r>
              <a:rPr lang="en-GB" smtClean="0"/>
              <a:t>xx</a:t>
            </a:r>
            <a:endParaRPr lang="en-GB" dirty="0" smtClean="0"/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900592" y="1310400"/>
            <a:ext cx="3738563" cy="5073312"/>
          </a:xfr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600"/>
            </a:lvl1pPr>
            <a:lvl2pPr marL="276225" indent="-276225">
              <a:lnSpc>
                <a:spcPct val="12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Wingdings" pitchFamily="2" charset="2"/>
              <a:buChar char="n"/>
              <a:defRPr sz="1600"/>
            </a:lvl2pPr>
            <a:lvl3pPr marL="447675" indent="-171450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"/>
              <a:defRPr sz="1600"/>
            </a:lvl3pPr>
            <a:lvl4pPr marL="635000" indent="-174625">
              <a:lnSpc>
                <a:spcPct val="12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400"/>
            </a:lvl4pPr>
            <a:lvl5pPr marL="811213" indent="-16986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5pPr>
            <a:lvl6pPr marL="992188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n"/>
              <a:defRPr sz="1200"/>
            </a:lvl6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GB" sz="800" smtClean="0">
                <a:solidFill>
                  <a:schemeClr val="accent2"/>
                </a:solidFill>
                <a:latin typeface="Futura Medium" pitchFamily="2" charset="0"/>
              </a:rPr>
              <a:t>RESTRICTED</a:t>
            </a:r>
            <a:endParaRPr lang="en-GB" sz="800" dirty="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ntent Placeholder 51"/>
          <p:cNvSpPr>
            <a:spLocks noGrp="1"/>
          </p:cNvSpPr>
          <p:nvPr>
            <p:ph sz="quarter" idx="29" hasCustomPrompt="1"/>
          </p:nvPr>
        </p:nvSpPr>
        <p:spPr>
          <a:xfrm>
            <a:off x="904072" y="6267688"/>
            <a:ext cx="3747304" cy="99509"/>
          </a:xfrm>
        </p:spPr>
        <p:txBody>
          <a:bodyPr wrap="square">
            <a:noAutofit/>
          </a:bodyPr>
          <a:lstStyle>
            <a:lvl1pPr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smtClean="0"/>
              <a:t>CLICK TO EDIT SOURCE</a:t>
            </a:r>
            <a:endParaRPr lang="en-GB" dirty="0"/>
          </a:p>
        </p:txBody>
      </p:sp>
      <p:sp>
        <p:nvSpPr>
          <p:cNvPr id="31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39" name="Content Placeholder 51"/>
          <p:cNvSpPr>
            <a:spLocks noGrp="1"/>
          </p:cNvSpPr>
          <p:nvPr>
            <p:ph sz="quarter" idx="45" hasCustomPrompt="1"/>
          </p:nvPr>
        </p:nvSpPr>
        <p:spPr>
          <a:xfrm>
            <a:off x="911225" y="4179607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Click to edit Unit of measure</a:t>
            </a:r>
            <a:endParaRPr lang="en-GB" dirty="0"/>
          </a:p>
        </p:txBody>
      </p:sp>
      <p:sp>
        <p:nvSpPr>
          <p:cNvPr id="40" name="Content Placeholder 51"/>
          <p:cNvSpPr>
            <a:spLocks noGrp="1"/>
          </p:cNvSpPr>
          <p:nvPr>
            <p:ph sz="quarter" idx="46" hasCustomPrompt="1"/>
          </p:nvPr>
        </p:nvSpPr>
        <p:spPr>
          <a:xfrm>
            <a:off x="911225" y="3844644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CHART TITLE APPEARS HERE</a:t>
            </a:r>
            <a:endParaRPr lang="en-GB" dirty="0"/>
          </a:p>
        </p:txBody>
      </p:sp>
      <p:cxnSp>
        <p:nvCxnSpPr>
          <p:cNvPr id="41" name="Straight Connector 40"/>
          <p:cNvCxnSpPr/>
          <p:nvPr userDrawn="1"/>
        </p:nvCxnSpPr>
        <p:spPr>
          <a:xfrm flipV="1">
            <a:off x="911225" y="4122457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hart Placeholder 16"/>
          <p:cNvSpPr>
            <a:spLocks noGrp="1"/>
          </p:cNvSpPr>
          <p:nvPr>
            <p:ph type="chart" sz="quarter" idx="47"/>
          </p:nvPr>
        </p:nvSpPr>
        <p:spPr>
          <a:xfrm>
            <a:off x="911225" y="4436262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43" name="Straight Connector 42"/>
          <p:cNvCxnSpPr/>
          <p:nvPr userDrawn="1"/>
        </p:nvCxnSpPr>
        <p:spPr>
          <a:xfrm>
            <a:off x="904071" y="5944860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ontent Placeholder 51"/>
          <p:cNvSpPr>
            <a:spLocks noGrp="1"/>
          </p:cNvSpPr>
          <p:nvPr>
            <p:ph sz="quarter" idx="54" hasCustomPrompt="1"/>
          </p:nvPr>
        </p:nvSpPr>
        <p:spPr>
          <a:xfrm>
            <a:off x="911225" y="1654176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Click to edit Unit of measure</a:t>
            </a:r>
            <a:endParaRPr lang="en-GB" dirty="0"/>
          </a:p>
        </p:txBody>
      </p:sp>
      <p:sp>
        <p:nvSpPr>
          <p:cNvPr id="100" name="Content Placeholder 51"/>
          <p:cNvSpPr>
            <a:spLocks noGrp="1"/>
          </p:cNvSpPr>
          <p:nvPr>
            <p:ph sz="quarter" idx="55" hasCustomPrompt="1"/>
          </p:nvPr>
        </p:nvSpPr>
        <p:spPr>
          <a:xfrm>
            <a:off x="911225" y="1319213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CHART TITLE APPEARS HERE</a:t>
            </a:r>
            <a:endParaRPr lang="en-GB" dirty="0"/>
          </a:p>
        </p:txBody>
      </p:sp>
      <p:cxnSp>
        <p:nvCxnSpPr>
          <p:cNvPr id="101" name="Straight Connector 100"/>
          <p:cNvCxnSpPr/>
          <p:nvPr userDrawn="1"/>
        </p:nvCxnSpPr>
        <p:spPr>
          <a:xfrm flipV="1">
            <a:off x="911225" y="1597026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hart Placeholder 16"/>
          <p:cNvSpPr>
            <a:spLocks noGrp="1"/>
          </p:cNvSpPr>
          <p:nvPr>
            <p:ph type="chart" sz="quarter" idx="56"/>
          </p:nvPr>
        </p:nvSpPr>
        <p:spPr>
          <a:xfrm>
            <a:off x="911225" y="1910831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03" name="Straight Connector 102"/>
          <p:cNvCxnSpPr/>
          <p:nvPr userDrawn="1"/>
        </p:nvCxnSpPr>
        <p:spPr>
          <a:xfrm>
            <a:off x="904071" y="3419429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Content Placeholder 51"/>
          <p:cNvSpPr>
            <a:spLocks noGrp="1"/>
          </p:cNvSpPr>
          <p:nvPr>
            <p:ph sz="quarter" idx="57" hasCustomPrompt="1"/>
          </p:nvPr>
        </p:nvSpPr>
        <p:spPr>
          <a:xfrm>
            <a:off x="4965700" y="4179607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Click to edit Unit of measure</a:t>
            </a:r>
            <a:endParaRPr lang="en-GB" dirty="0"/>
          </a:p>
        </p:txBody>
      </p:sp>
      <p:sp>
        <p:nvSpPr>
          <p:cNvPr id="105" name="Content Placeholder 51"/>
          <p:cNvSpPr>
            <a:spLocks noGrp="1"/>
          </p:cNvSpPr>
          <p:nvPr>
            <p:ph sz="quarter" idx="58" hasCustomPrompt="1"/>
          </p:nvPr>
        </p:nvSpPr>
        <p:spPr>
          <a:xfrm>
            <a:off x="4965700" y="3844644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CHART TITLE APPEARS HERE</a:t>
            </a:r>
            <a:endParaRPr lang="en-GB" dirty="0"/>
          </a:p>
        </p:txBody>
      </p:sp>
      <p:cxnSp>
        <p:nvCxnSpPr>
          <p:cNvPr id="106" name="Straight Connector 105"/>
          <p:cNvCxnSpPr/>
          <p:nvPr userDrawn="1"/>
        </p:nvCxnSpPr>
        <p:spPr>
          <a:xfrm flipV="1">
            <a:off x="4965700" y="4122457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hart Placeholder 16"/>
          <p:cNvSpPr>
            <a:spLocks noGrp="1"/>
          </p:cNvSpPr>
          <p:nvPr>
            <p:ph type="chart" sz="quarter" idx="59"/>
          </p:nvPr>
        </p:nvSpPr>
        <p:spPr>
          <a:xfrm>
            <a:off x="4965700" y="4436262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08" name="Straight Connector 107"/>
          <p:cNvCxnSpPr/>
          <p:nvPr userDrawn="1"/>
        </p:nvCxnSpPr>
        <p:spPr>
          <a:xfrm>
            <a:off x="4958546" y="5944860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Content Placeholder 51"/>
          <p:cNvSpPr>
            <a:spLocks noGrp="1"/>
          </p:cNvSpPr>
          <p:nvPr>
            <p:ph sz="quarter" idx="60" hasCustomPrompt="1"/>
          </p:nvPr>
        </p:nvSpPr>
        <p:spPr>
          <a:xfrm>
            <a:off x="4965700" y="1654176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Click to edit Unit of measure</a:t>
            </a:r>
            <a:endParaRPr lang="en-GB" dirty="0"/>
          </a:p>
        </p:txBody>
      </p:sp>
      <p:sp>
        <p:nvSpPr>
          <p:cNvPr id="110" name="Content Placeholder 51"/>
          <p:cNvSpPr>
            <a:spLocks noGrp="1"/>
          </p:cNvSpPr>
          <p:nvPr>
            <p:ph sz="quarter" idx="61" hasCustomPrompt="1"/>
          </p:nvPr>
        </p:nvSpPr>
        <p:spPr>
          <a:xfrm>
            <a:off x="4965700" y="1319213"/>
            <a:ext cx="3697200" cy="2197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nl-NL" sz="12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smtClean="0"/>
              <a:t>CHART TITLE APPEARS HERE</a:t>
            </a:r>
            <a:endParaRPr lang="en-GB" dirty="0"/>
          </a:p>
        </p:txBody>
      </p:sp>
      <p:cxnSp>
        <p:nvCxnSpPr>
          <p:cNvPr id="111" name="Straight Connector 110"/>
          <p:cNvCxnSpPr/>
          <p:nvPr userDrawn="1"/>
        </p:nvCxnSpPr>
        <p:spPr>
          <a:xfrm flipV="1">
            <a:off x="4965700" y="1597026"/>
            <a:ext cx="3697200" cy="794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Chart Placeholder 16"/>
          <p:cNvSpPr>
            <a:spLocks noGrp="1"/>
          </p:cNvSpPr>
          <p:nvPr>
            <p:ph type="chart" sz="quarter" idx="62"/>
          </p:nvPr>
        </p:nvSpPr>
        <p:spPr>
          <a:xfrm>
            <a:off x="4965700" y="1910831"/>
            <a:ext cx="3697200" cy="170327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nl-NL" dirty="0"/>
          </a:p>
        </p:txBody>
      </p:sp>
      <p:cxnSp>
        <p:nvCxnSpPr>
          <p:cNvPr id="113" name="Straight Connector 112"/>
          <p:cNvCxnSpPr/>
          <p:nvPr userDrawn="1"/>
        </p:nvCxnSpPr>
        <p:spPr>
          <a:xfrm>
            <a:off x="4958546" y="3419429"/>
            <a:ext cx="3697200" cy="1588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3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29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GB" sz="800" smtClean="0">
                <a:solidFill>
                  <a:schemeClr val="accent2"/>
                </a:solidFill>
                <a:latin typeface="Futura Medium" pitchFamily="2" charset="0"/>
              </a:rPr>
              <a:t>RESTRICTED</a:t>
            </a:r>
            <a:endParaRPr lang="en-GB" sz="800" dirty="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00000" y="648000"/>
            <a:ext cx="7380000" cy="5633999"/>
            <a:chOff x="900000" y="648000"/>
            <a:chExt cx="7380000" cy="5633999"/>
          </a:xfrm>
        </p:grpSpPr>
        <p:sp>
          <p:nvSpPr>
            <p:cNvPr id="15" name="Rectangle 4"/>
            <p:cNvSpPr>
              <a:spLocks noChangeArrowheads="1"/>
            </p:cNvSpPr>
            <p:nvPr userDrawn="1"/>
          </p:nvSpPr>
          <p:spPr bwMode="auto">
            <a:xfrm flipH="1">
              <a:off x="900000" y="1367999"/>
              <a:ext cx="6661152" cy="4914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  <p:sp>
          <p:nvSpPr>
            <p:cNvPr id="21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648000"/>
              <a:ext cx="6660000" cy="4914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  <p:sp>
          <p:nvSpPr>
            <p:cNvPr id="22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1367999"/>
              <a:ext cx="5940000" cy="4194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noProof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782070" y="3198783"/>
            <a:ext cx="5603468" cy="13620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mtClean="0"/>
              <a:t>Click to edit Master title style</a:t>
            </a:r>
            <a:endParaRPr lang="en-GB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1782070" y="2379407"/>
            <a:ext cx="5603468" cy="7416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4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smtClean="0"/>
              <a:t>Click to edit Master text styles</a:t>
            </a:r>
            <a:endParaRPr lang="en-GB" dirty="0" smtClean="0"/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82070" y="1415008"/>
            <a:ext cx="2243127" cy="96462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6000">
                <a:solidFill>
                  <a:schemeClr val="accent2"/>
                </a:solidFill>
                <a:latin typeface="Futura Light" pitchFamily="2" charset="0"/>
              </a:defRPr>
            </a:lvl1pPr>
          </a:lstStyle>
          <a:p>
            <a:pPr lvl="0"/>
            <a:r>
              <a:rPr lang="en-GB" dirty="0" smtClean="0"/>
              <a:t>0.0</a:t>
            </a:r>
            <a:endParaRPr lang="en-GB" dirty="0"/>
          </a:p>
        </p:txBody>
      </p:sp>
      <p:sp>
        <p:nvSpPr>
          <p:cNvPr id="12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6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3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GB" sz="800" smtClean="0">
                <a:solidFill>
                  <a:schemeClr val="accent2"/>
                </a:solidFill>
                <a:latin typeface="Futura Medium" pitchFamily="2" charset="0"/>
              </a:rPr>
              <a:t>RESTRICTED</a:t>
            </a:r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0" y="228599"/>
            <a:ext cx="8675688" cy="516467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18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419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  <p:sp>
        <p:nvSpPr>
          <p:cNvPr id="8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0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GB" sz="800" smtClean="0">
                <a:solidFill>
                  <a:schemeClr val="accent2"/>
                </a:solidFill>
                <a:latin typeface="Futura Medium" pitchFamily="2" charset="0"/>
              </a:rPr>
              <a:t>RESTRICTED</a:t>
            </a:r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2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 userDrawn="1"/>
        </p:nvSpPr>
        <p:spPr bwMode="auto">
          <a:xfrm>
            <a:off x="0" y="228600"/>
            <a:ext cx="8675688" cy="893763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28800" tIns="133200" rIns="3600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Futura Medium" pitchFamily="2" charset="0"/>
            </a:endParaRP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00"/>
            <a:ext cx="7700400" cy="74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  <p:sp>
        <p:nvSpPr>
          <p:cNvPr id="11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8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GB" sz="800" smtClean="0">
                <a:solidFill>
                  <a:schemeClr val="accent2"/>
                </a:solidFill>
                <a:latin typeface="Futura Medium" pitchFamily="2" charset="0"/>
              </a:rPr>
              <a:t>RESTRICTED</a:t>
            </a:r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900000" y="648000"/>
            <a:ext cx="7380000" cy="5633999"/>
            <a:chOff x="900000" y="648000"/>
            <a:chExt cx="7380000" cy="5633999"/>
          </a:xfrm>
        </p:grpSpPr>
        <p:sp>
          <p:nvSpPr>
            <p:cNvPr id="12" name="Rectangle 4"/>
            <p:cNvSpPr>
              <a:spLocks noChangeArrowheads="1"/>
            </p:cNvSpPr>
            <p:nvPr userDrawn="1"/>
          </p:nvSpPr>
          <p:spPr bwMode="auto">
            <a:xfrm flipH="1">
              <a:off x="900000" y="1367999"/>
              <a:ext cx="6661152" cy="4914000"/>
            </a:xfrm>
            <a:prstGeom prst="rect">
              <a:avLst/>
            </a:prstGeom>
            <a:solidFill>
              <a:srgbClr val="FCEC8B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648000"/>
              <a:ext cx="6660000" cy="4914000"/>
            </a:xfrm>
            <a:prstGeom prst="rect">
              <a:avLst/>
            </a:prstGeom>
            <a:solidFill>
              <a:srgbClr val="FAE37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" name="Rectangle 4"/>
            <p:cNvSpPr>
              <a:spLocks noChangeArrowheads="1"/>
            </p:cNvSpPr>
            <p:nvPr userDrawn="1"/>
          </p:nvSpPr>
          <p:spPr bwMode="auto">
            <a:xfrm flipH="1">
              <a:off x="1620000" y="1367999"/>
              <a:ext cx="5940000" cy="4194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82070" y="1415008"/>
            <a:ext cx="2243127" cy="96462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6000">
                <a:solidFill>
                  <a:schemeClr val="accent2"/>
                </a:solidFill>
                <a:latin typeface="Futura Light" pitchFamily="2" charset="0"/>
              </a:defRPr>
            </a:lvl1pPr>
          </a:lstStyle>
          <a:p>
            <a:pPr lvl="0"/>
            <a:r>
              <a:rPr lang="en-GB" dirty="0" smtClean="0"/>
              <a:t>Q &amp; A</a:t>
            </a:r>
            <a:endParaRPr lang="en-GB" dirty="0"/>
          </a:p>
        </p:txBody>
      </p:sp>
      <p:sp>
        <p:nvSpPr>
          <p:cNvPr id="10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13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GB" sz="800" smtClean="0">
                <a:solidFill>
                  <a:schemeClr val="accent2"/>
                </a:solidFill>
                <a:latin typeface="Futura Medium" pitchFamily="2" charset="0"/>
              </a:rPr>
              <a:t>RESTRICTED</a:t>
            </a:r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1" descr="Text Box 11"/>
          <p:cNvSpPr txBox="1">
            <a:spLocks noChangeArrowheads="1"/>
          </p:cNvSpPr>
          <p:nvPr userDrawn="1"/>
        </p:nvSpPr>
        <p:spPr bwMode="auto">
          <a:xfrm>
            <a:off x="911225" y="6470359"/>
            <a:ext cx="2520000" cy="324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00" smtClean="0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GSI</a:t>
            </a:r>
            <a:endParaRPr lang="en-GB" sz="80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6599" y="6470360"/>
            <a:ext cx="26667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52757" y="6469200"/>
            <a:ext cx="1080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069" y="6469199"/>
            <a:ext cx="252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6" name="Text Box 11" descr="CONFIDENTIAL_TAG_0xFFEE"/>
          <p:cNvSpPr txBox="1">
            <a:spLocks noChangeArrowheads="1"/>
          </p:cNvSpPr>
          <p:nvPr userDrawn="1"/>
        </p:nvSpPr>
        <p:spPr bwMode="auto">
          <a:xfrm>
            <a:off x="6099175" y="6470650"/>
            <a:ext cx="10795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GB" sz="800" smtClean="0">
                <a:solidFill>
                  <a:schemeClr val="accent2"/>
                </a:solidFill>
                <a:latin typeface="Futura Medium" pitchFamily="2" charset="0"/>
              </a:rPr>
              <a:t>RESTRICTED</a:t>
            </a:r>
            <a:endParaRPr lang="en-GB" sz="800">
              <a:solidFill>
                <a:schemeClr val="accent2"/>
              </a:solidFill>
              <a:latin typeface="Futura Medium" pitchFamily="2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(Mandator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" name="Picture 2" descr="Shell-2010-Pecten-RGBpc.wmf"/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3418626" y="2285524"/>
              <a:ext cx="2340000" cy="217057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9704" y="1310400"/>
            <a:ext cx="7747176" cy="507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Xx</a:t>
            </a:r>
          </a:p>
          <a:p>
            <a:pPr lvl="5"/>
            <a:r>
              <a:rPr lang="en-GB" dirty="0" smtClean="0"/>
              <a:t>xx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2" y="295253"/>
            <a:ext cx="7700963" cy="419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GB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3" r:id="rId2"/>
    <p:sldLayoutId id="2147483689" r:id="rId3"/>
    <p:sldLayoutId id="2147483691" r:id="rId4"/>
    <p:sldLayoutId id="2147483667" r:id="rId5"/>
    <p:sldLayoutId id="2147483690" r:id="rId6"/>
    <p:sldLayoutId id="2147483692" r:id="rId7"/>
    <p:sldLayoutId id="2147483694" r:id="rId8"/>
    <p:sldLayoutId id="2147483680" r:id="rId9"/>
    <p:sldLayoutId id="2147483678" r:id="rId10"/>
    <p:sldLayoutId id="2147483679" r:id="rId11"/>
    <p:sldLayoutId id="2147483681" r:id="rId12"/>
    <p:sldLayoutId id="2147483682" r:id="rId13"/>
    <p:sldLayoutId id="2147483683" r:id="rId14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 descr="&lt;TITLE&gt;{94.96063,448.3887,110.3029,133.6836}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Guideline GEOMEC</a:t>
            </a:r>
            <a:endParaRPr lang="en-GB" dirty="0"/>
          </a:p>
        </p:txBody>
      </p:sp>
      <p:sp>
        <p:nvSpPr>
          <p:cNvPr id="24" name="Text Placeholder 23" descr="&lt;NAME&gt;{15.4689,461.2516,425.3946,124.257}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mtClean="0"/>
              <a:t>Famke Kraaijeveld, PTI/RC+ Peter Fokker, PTI/RC</a:t>
            </a:r>
            <a:endParaRPr lang="en-GB" dirty="0" smtClean="0"/>
          </a:p>
        </p:txBody>
      </p:sp>
      <p:sp>
        <p:nvSpPr>
          <p:cNvPr id="25" name="Text Placeholder 24" descr="&lt;ROLE&gt;{15.4689,461.2516,443.1134,124.257}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86563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Geomec as engine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 smtClean="0"/>
              <a:t>Although the CORA workflow is the same as for the other engines with some differences accounting for the complexity of Geomec:</a:t>
            </a:r>
          </a:p>
          <a:p>
            <a:pPr lvl="1"/>
            <a:r>
              <a:rPr lang="en-GB" dirty="0" smtClean="0"/>
              <a:t>Name convention of objects: avoid characters like .,()</a:t>
            </a:r>
          </a:p>
          <a:p>
            <a:pPr lvl="1"/>
            <a:r>
              <a:rPr lang="en-GB" dirty="0" smtClean="0"/>
              <a:t>Supported material models</a:t>
            </a:r>
          </a:p>
          <a:p>
            <a:pPr lvl="1"/>
            <a:r>
              <a:rPr lang="en-GB" dirty="0" smtClean="0"/>
              <a:t>Handling distributed parameters: linear correlations</a:t>
            </a:r>
          </a:p>
          <a:p>
            <a:pPr lvl="1"/>
            <a:r>
              <a:rPr lang="en-GB" dirty="0"/>
              <a:t>Objects of interest in the model</a:t>
            </a:r>
          </a:p>
          <a:p>
            <a:pPr lvl="1"/>
            <a:r>
              <a:rPr lang="en-GB" dirty="0" smtClean="0"/>
              <a:t>Calculating failure: weighted over the elements </a:t>
            </a:r>
          </a:p>
          <a:p>
            <a:pPr lvl="1"/>
            <a:r>
              <a:rPr lang="en-GB" dirty="0" smtClean="0"/>
              <a:t>Re-run option: analyse cases of interest or calculations with errors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876595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Supported material models</a:t>
            </a:r>
            <a:endParaRPr lang="en-GB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4029317441"/>
              </p:ext>
            </p:extLst>
          </p:nvPr>
        </p:nvGraphicFramePr>
        <p:xfrm>
          <a:off x="170121" y="1279451"/>
          <a:ext cx="4922871" cy="49375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2825"/>
                <a:gridCol w="1026073"/>
                <a:gridCol w="933526"/>
                <a:gridCol w="910476"/>
                <a:gridCol w="695255"/>
                <a:gridCol w="124716"/>
              </a:tblGrid>
              <a:tr h="1323920">
                <a:tc rowSpan="5">
                  <a:txBody>
                    <a:bodyPr/>
                    <a:lstStyle/>
                    <a:p>
                      <a:pPr marL="0" marR="0" indent="-90043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 dirty="0">
                          <a:effectLst/>
                        </a:rPr>
                        <a:t>Elasticity parameters</a:t>
                      </a:r>
                      <a:endParaRPr lang="en-US" sz="1000" b="1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 dirty="0">
                          <a:effectLst/>
                        </a:rPr>
                        <a:t>Young’s &amp; Poisson’s</a:t>
                      </a:r>
                      <a:endParaRPr lang="en-US" sz="1000" dirty="0">
                        <a:effectLst/>
                      </a:endParaRPr>
                    </a:p>
                    <a:p>
                      <a:pPr marL="71755" marR="71755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 dirty="0">
                          <a:effectLst/>
                        </a:rPr>
                        <a:t>(Manual)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 vert="vert270"/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 dirty="0">
                          <a:effectLst/>
                        </a:rPr>
                        <a:t>Bulk &amp; Shear modulus</a:t>
                      </a:r>
                      <a:endParaRPr lang="en-US" sz="1000" dirty="0">
                        <a:effectLst/>
                      </a:endParaRPr>
                    </a:p>
                    <a:p>
                      <a:pPr marL="71755" marR="71755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 dirty="0">
                          <a:effectLst/>
                        </a:rPr>
                        <a:t>(Bulk stiffness)</a:t>
                      </a:r>
                      <a:endParaRPr lang="en-US" sz="1000" dirty="0">
                        <a:effectLst/>
                      </a:endParaRPr>
                    </a:p>
                    <a:p>
                      <a:pPr marL="71755" marR="71755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 dirty="0">
                          <a:effectLst/>
                        </a:rPr>
                        <a:t> 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 vert="vert270"/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 dirty="0">
                          <a:effectLst/>
                        </a:rPr>
                        <a:t>Compressibility and Poisson’s ratio</a:t>
                      </a:r>
                      <a:endParaRPr lang="en-US" sz="1000" dirty="0">
                        <a:effectLst/>
                      </a:endParaRPr>
                    </a:p>
                    <a:p>
                      <a:pPr marL="71755" marR="71755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 dirty="0">
                          <a:effectLst/>
                        </a:rPr>
                        <a:t>(Manual)</a:t>
                      </a:r>
                      <a:endParaRPr lang="en-US" sz="1000" dirty="0">
                        <a:effectLst/>
                      </a:endParaRPr>
                    </a:p>
                    <a:p>
                      <a:pPr marL="71755" marR="71755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 dirty="0">
                          <a:effectLst/>
                        </a:rPr>
                        <a:t> 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 vert="vert270"/>
                </a:tc>
                <a:tc gridSpan="2">
                  <a:txBody>
                    <a:bodyPr/>
                    <a:lstStyle/>
                    <a:p>
                      <a:pPr marL="71755" marR="71755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 dirty="0">
                          <a:effectLst/>
                        </a:rPr>
                        <a:t>Compressibility and Shear modulus</a:t>
                      </a:r>
                      <a:endParaRPr lang="en-US" sz="1000" dirty="0">
                        <a:effectLst/>
                      </a:endParaRPr>
                    </a:p>
                    <a:p>
                      <a:pPr marL="71755" marR="71755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 dirty="0">
                          <a:effectLst/>
                        </a:rPr>
                        <a:t>(Bulk stiffness)</a:t>
                      </a:r>
                      <a:endParaRPr lang="en-US" sz="1000" dirty="0">
                        <a:effectLst/>
                      </a:endParaRPr>
                    </a:p>
                    <a:p>
                      <a:pPr marL="71755" marR="71755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 dirty="0">
                          <a:effectLst/>
                        </a:rPr>
                        <a:t> 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 vert="vert27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8037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 dirty="0">
                          <a:effectLst/>
                        </a:rPr>
                        <a:t>Young’s Modulus </a:t>
                      </a:r>
                      <a:endParaRPr lang="en-US" sz="1000" b="1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Bulk Stiffness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Poisson’s ratio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 gridSpan="2"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Shear modulus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76075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Poisson’s Ratio 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 dirty="0">
                          <a:effectLst/>
                        </a:rPr>
                        <a:t>Shear Modulus</a:t>
                      </a:r>
                      <a:endParaRPr lang="en-US" sz="1000" b="1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Uniaxial Elastic Compressibility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 gridSpan="2"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Uniaxial Elastic Compressibility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57056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>
                          <a:effectLst/>
                        </a:rPr>
                        <a:t>Young’s modulus in decompaction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 gridSpan="2"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57056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>
                          <a:effectLst/>
                        </a:rPr>
                        <a:t>Poisson’s ratio in decompaction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 gridSpan="2"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190189">
                <a:tc rowSpan="4"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In situ stress parameters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 gridSpan="4"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Density 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19018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LatRatioMin (Shtot/Svtot)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19018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LatRatioMax (SHtot/Svtot)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19018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LatRatioMaxAzimuth (SHtot azimuth)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190189">
                <a:tc rowSpan="3"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 dirty="0">
                          <a:effectLst/>
                        </a:rPr>
                        <a:t>Post-processing parameters</a:t>
                      </a:r>
                      <a:endParaRPr lang="en-US" sz="1000" b="1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 gridSpan="4"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Cohesion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19018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 dirty="0">
                          <a:effectLst/>
                        </a:rPr>
                        <a:t>Friction Angle</a:t>
                      </a:r>
                      <a:endParaRPr lang="en-US" sz="1000" b="1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43478" marR="43478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  <a:tr h="19018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 dirty="0"/>
                        <a:t>Pc,0</a:t>
                      </a:r>
                      <a:endParaRPr lang="en-US" sz="1000" dirty="0"/>
                    </a:p>
                  </a:txBody>
                  <a:tcPr marL="43478" marR="43478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1605516" y="956929"/>
            <a:ext cx="1881963" cy="3189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13000"/>
              </a:lnSpc>
              <a:spcAft>
                <a:spcPts val="60"/>
              </a:spcAft>
            </a:pPr>
            <a:r>
              <a:rPr lang="en-GB" sz="1600" dirty="0" smtClean="0"/>
              <a:t>Linear model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160297"/>
              </p:ext>
            </p:extLst>
          </p:nvPr>
        </p:nvGraphicFramePr>
        <p:xfrm>
          <a:off x="5167423" y="1279451"/>
          <a:ext cx="3795159" cy="25750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65053"/>
                <a:gridCol w="1265053"/>
                <a:gridCol w="1265053"/>
              </a:tblGrid>
              <a:tr h="244084"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 dirty="0">
                          <a:effectLst/>
                        </a:rPr>
                        <a:t>Type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000" dirty="0">
                          <a:effectLst/>
                        </a:rPr>
                        <a:t>Included nonlinear material parameters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1243087">
                <a:tc rowSpan="3"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 dirty="0">
                          <a:effectLst/>
                        </a:rPr>
                        <a:t>Cam-Clay</a:t>
                      </a:r>
                      <a:endParaRPr lang="en-US" sz="1000" b="1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71755" indent="0" algn="l" defTabSz="914400" rtl="0" eaLnBrk="1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Hardening</a:t>
                      </a:r>
                      <a:endParaRPr lang="en-US" sz="10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vert="vert27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indent="0" algn="l" defTabSz="914400" rtl="0" eaLnBrk="1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Compressibility</a:t>
                      </a:r>
                      <a:endParaRPr lang="en-US" sz="10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vert="vert270">
                    <a:solidFill>
                      <a:schemeClr val="accent1"/>
                    </a:solidFill>
                  </a:tcPr>
                </a:tc>
              </a:tr>
              <a:tr h="48816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Hardening Parameter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Uniaxial Plastic Compressibility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4408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Preconsolidation Stress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Preconsolidation Stress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44084"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Mohr Coulomb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Garamond"/>
                        <a:buChar char="-"/>
                        <a:tabLst>
                          <a:tab pos="899795" algn="l"/>
                        </a:tabLst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 b="1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Garamond"/>
                        <a:buChar char="-"/>
                        <a:tabLst>
                          <a:tab pos="899795" algn="l"/>
                        </a:tabLst>
                      </a:pPr>
                      <a:r>
                        <a:rPr lang="en-GB" sz="1000" dirty="0">
                          <a:effectLst/>
                        </a:rPr>
                        <a:t> </a:t>
                      </a:r>
                      <a:endParaRPr lang="en-US" sz="1000" b="1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72715" y="960474"/>
            <a:ext cx="1881963" cy="3189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13000"/>
              </a:lnSpc>
              <a:spcAft>
                <a:spcPts val="60"/>
              </a:spcAft>
            </a:pPr>
            <a:r>
              <a:rPr lang="en-GB" sz="1600" dirty="0" smtClean="0"/>
              <a:t>Nonlinear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3748" y="4518837"/>
            <a:ext cx="3561907" cy="170121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1600" dirty="0" smtClean="0"/>
              <a:t>Note: please use parameters from a single </a:t>
            </a:r>
          </a:p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1600" dirty="0" smtClean="0"/>
              <a:t>column. Using more than two elasticity </a:t>
            </a:r>
          </a:p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1600" dirty="0" smtClean="0"/>
              <a:t>parameters per formation, because Geomec</a:t>
            </a:r>
          </a:p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1600" dirty="0" smtClean="0"/>
              <a:t>will be confused.</a:t>
            </a:r>
          </a:p>
        </p:txBody>
      </p:sp>
    </p:spTree>
    <p:extLst>
      <p:ext uri="{BB962C8B-B14F-4D97-AF65-F5344CB8AC3E}">
        <p14:creationId xmlns:p14="http://schemas.microsoft.com/office/powerpoint/2010/main" val="333651479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Handling distributed properties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1">
              <a:buNone/>
            </a:pPr>
            <a:r>
              <a:rPr lang="nl-NL" sz="1800" dirty="0" smtClean="0"/>
              <a:t>Parameter &amp; uncertainty distribution</a:t>
            </a:r>
          </a:p>
          <a:p>
            <a:pPr lvl="1"/>
            <a:r>
              <a:rPr lang="nl-NL" sz="1800" dirty="0" smtClean="0"/>
              <a:t>Keeps spatial correlation by shift, factor as stochasts:</a:t>
            </a:r>
          </a:p>
          <a:p>
            <a:pPr marL="0" lvl="1" indent="0">
              <a:buNone/>
            </a:pPr>
            <a:r>
              <a:rPr lang="nl-NL" sz="1800" dirty="0" smtClean="0"/>
              <a:t>	e.g. factor * &lt;parameter&gt; + shift </a:t>
            </a:r>
          </a:p>
          <a:p>
            <a:pPr lvl="1"/>
            <a:r>
              <a:rPr lang="nl-NL" sz="1800" u="sng" dirty="0" smtClean="0"/>
              <a:t>Example</a:t>
            </a:r>
            <a:r>
              <a:rPr lang="nl-NL" sz="1800" dirty="0" smtClean="0"/>
              <a:t>: </a:t>
            </a:r>
            <a:r>
              <a:rPr lang="nl-NL" sz="1800" dirty="0" smtClean="0">
                <a:solidFill>
                  <a:schemeClr val="accent5">
                    <a:lumMod val="75000"/>
                  </a:schemeClr>
                </a:solidFill>
              </a:rPr>
              <a:t>factor*Cohesion</a:t>
            </a:r>
            <a:r>
              <a:rPr lang="nl-NL" sz="1800" dirty="0" smtClean="0"/>
              <a:t>, </a:t>
            </a:r>
          </a:p>
          <a:p>
            <a:pPr lvl="1">
              <a:buNone/>
            </a:pPr>
            <a:r>
              <a:rPr lang="nl-NL" sz="1800" dirty="0" smtClean="0"/>
              <a:t>	factor uniform distributed </a:t>
            </a:r>
          </a:p>
          <a:p>
            <a:pPr lvl="1">
              <a:buNone/>
            </a:pPr>
            <a:r>
              <a:rPr lang="nl-NL" sz="1800" dirty="0" smtClean="0"/>
              <a:t>	between 0.5 and 1.5</a:t>
            </a:r>
          </a:p>
          <a:p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grpSp>
        <p:nvGrpSpPr>
          <p:cNvPr id="7" name="Group 6"/>
          <p:cNvGrpSpPr/>
          <p:nvPr/>
        </p:nvGrpSpPr>
        <p:grpSpPr>
          <a:xfrm>
            <a:off x="4699592" y="2817629"/>
            <a:ext cx="3735284" cy="3251514"/>
            <a:chOff x="5169159" y="1296956"/>
            <a:chExt cx="3237723" cy="2784767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r="3015" b="1775"/>
            <a:stretch>
              <a:fillRect/>
            </a:stretch>
          </p:blipFill>
          <p:spPr bwMode="auto">
            <a:xfrm>
              <a:off x="5169159" y="1296956"/>
              <a:ext cx="3237723" cy="2784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Freeform 8"/>
            <p:cNvSpPr/>
            <p:nvPr/>
          </p:nvSpPr>
          <p:spPr>
            <a:xfrm>
              <a:off x="5598368" y="1838130"/>
              <a:ext cx="2705877" cy="1091683"/>
            </a:xfrm>
            <a:custGeom>
              <a:avLst/>
              <a:gdLst>
                <a:gd name="connsiteX0" fmla="*/ 0 w 2174033"/>
                <a:gd name="connsiteY0" fmla="*/ 0 h 951722"/>
                <a:gd name="connsiteX1" fmla="*/ 671804 w 2174033"/>
                <a:gd name="connsiteY1" fmla="*/ 513184 h 951722"/>
                <a:gd name="connsiteX2" fmla="*/ 1380930 w 2174033"/>
                <a:gd name="connsiteY2" fmla="*/ 830424 h 951722"/>
                <a:gd name="connsiteX3" fmla="*/ 2174033 w 2174033"/>
                <a:gd name="connsiteY3" fmla="*/ 951722 h 95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4033" h="951722">
                  <a:moveTo>
                    <a:pt x="0" y="0"/>
                  </a:moveTo>
                  <a:cubicBezTo>
                    <a:pt x="220824" y="187390"/>
                    <a:pt x="441649" y="374780"/>
                    <a:pt x="671804" y="513184"/>
                  </a:cubicBezTo>
                  <a:cubicBezTo>
                    <a:pt x="901959" y="651588"/>
                    <a:pt x="1130559" y="757334"/>
                    <a:pt x="1380930" y="830424"/>
                  </a:cubicBezTo>
                  <a:cubicBezTo>
                    <a:pt x="1631302" y="903514"/>
                    <a:pt x="1902667" y="927618"/>
                    <a:pt x="2174033" y="951722"/>
                  </a:cubicBezTo>
                </a:path>
              </a:pathLst>
            </a:cu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Freeform 9"/>
            <p:cNvSpPr/>
            <p:nvPr/>
          </p:nvSpPr>
          <p:spPr>
            <a:xfrm>
              <a:off x="5620139" y="2531707"/>
              <a:ext cx="2684106" cy="883297"/>
            </a:xfrm>
            <a:custGeom>
              <a:avLst/>
              <a:gdLst>
                <a:gd name="connsiteX0" fmla="*/ 0 w 2174033"/>
                <a:gd name="connsiteY0" fmla="*/ 0 h 951722"/>
                <a:gd name="connsiteX1" fmla="*/ 671804 w 2174033"/>
                <a:gd name="connsiteY1" fmla="*/ 513184 h 951722"/>
                <a:gd name="connsiteX2" fmla="*/ 1380930 w 2174033"/>
                <a:gd name="connsiteY2" fmla="*/ 830424 h 951722"/>
                <a:gd name="connsiteX3" fmla="*/ 2174033 w 2174033"/>
                <a:gd name="connsiteY3" fmla="*/ 951722 h 95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4033" h="951722">
                  <a:moveTo>
                    <a:pt x="0" y="0"/>
                  </a:moveTo>
                  <a:cubicBezTo>
                    <a:pt x="220824" y="187390"/>
                    <a:pt x="441649" y="374780"/>
                    <a:pt x="671804" y="513184"/>
                  </a:cubicBezTo>
                  <a:cubicBezTo>
                    <a:pt x="901959" y="651588"/>
                    <a:pt x="1130559" y="757334"/>
                    <a:pt x="1380930" y="830424"/>
                  </a:cubicBezTo>
                  <a:cubicBezTo>
                    <a:pt x="1631302" y="903514"/>
                    <a:pt x="1902667" y="927618"/>
                    <a:pt x="2174033" y="951722"/>
                  </a:cubicBezTo>
                </a:path>
              </a:pathLst>
            </a:custGeom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872252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Available objects and failure mechanisms</a:t>
            </a:r>
            <a:endParaRPr lang="en-GB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184318663"/>
              </p:ext>
            </p:extLst>
          </p:nvPr>
        </p:nvGraphicFramePr>
        <p:xfrm>
          <a:off x="999461" y="1010092"/>
          <a:ext cx="7419982" cy="53599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4641"/>
                <a:gridCol w="2223983"/>
                <a:gridCol w="1752058"/>
                <a:gridCol w="1094650"/>
                <a:gridCol w="1094650"/>
              </a:tblGrid>
              <a:tr h="304730"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Object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Type of failure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Geomec export type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Analysis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LSF type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169537">
                <a:tc rowSpan="3"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Fault 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Shear failure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FaultShearCap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L, 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Max, Area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16953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Total slip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FaultDisplacementL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Max, Area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16953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Plastic slip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FaultDisplacementL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L, 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Max, Area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339073">
                <a:tc rowSpan="9"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Formation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Shear failure/ Shear capacity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ShearCap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L, 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Max, Vol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30484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Compressive failure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EPStress1L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L,N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Max, Vol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16953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Tensile failure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EPStress3L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L, 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Min, Vol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16953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Compaction failure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PStrain1L 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L, 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Max, Vol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16953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Extension failure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PStrain3L 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L, 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Min, Vol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45989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Volumetric Compaction / extension failure 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StrainInvVolumetric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L, 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nl-NL" sz="1100">
                          <a:effectLst/>
                        </a:rPr>
                        <a:t>Max, Vol Max, min, Vol min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30484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Compressive Plastic Strain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PStrain1PlasticL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Max, Vol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30484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Extensional Plastic Strain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PStrain3PlasticL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Min, Vol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33907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PCU / Compaction Capacity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CompactionCap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L,N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Max, Vol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304841">
                <a:tc rowSpan="2"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Well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Shear failure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ShearCap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L,N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Max, Length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61494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Axial compression &amp; extension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WPAxialStrain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L, 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Max, Length Max, Min, Length Min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508610">
                <a:tc rowSpan="2"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Top surface / seabed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Subsidence &amp; upheave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DisplacementV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L, 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Max, Area Max,, Min, Area Min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30484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 smtClean="0">
                          <a:effectLst/>
                        </a:rPr>
                        <a:t>Penalty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Not available yet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L, N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Max, Area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  <a:tr h="169537"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All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User defined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GB" sz="1100" dirty="0">
                          <a:effectLst/>
                        </a:rPr>
                        <a:t>Max</a:t>
                      </a:r>
                      <a:r>
                        <a:rPr lang="en-GB" sz="700" dirty="0">
                          <a:effectLst/>
                        </a:rPr>
                        <a:t> </a:t>
                      </a:r>
                      <a:r>
                        <a:rPr lang="en-GB" sz="1100" dirty="0">
                          <a:effectLst/>
                        </a:rPr>
                        <a:t>, Min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Garamond"/>
                        <a:ea typeface="Times New Roman"/>
                        <a:cs typeface="Times New Roman"/>
                      </a:endParaRPr>
                    </a:p>
                  </a:txBody>
                  <a:tcPr marL="63089" marR="63089" marT="0" marB="0"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77479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Calculating failure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552894" y="1105786"/>
            <a:ext cx="5659540" cy="4840987"/>
          </a:xfrm>
        </p:spPr>
        <p:txBody>
          <a:bodyPr/>
          <a:lstStyle/>
          <a:p>
            <a:r>
              <a:rPr lang="en-US" sz="1800" b="1" dirty="0" smtClean="0"/>
              <a:t>Fault analysis by for instance</a:t>
            </a:r>
          </a:p>
          <a:p>
            <a:pPr lvl="1"/>
            <a:r>
              <a:rPr lang="nl-NL" sz="1800" dirty="0" smtClean="0"/>
              <a:t>A: Elements SCU &gt; 1 </a:t>
            </a:r>
          </a:p>
          <a:p>
            <a:pPr lvl="1"/>
            <a:r>
              <a:rPr lang="nl-NL" sz="1800" dirty="0" smtClean="0"/>
              <a:t>B: </a:t>
            </a:r>
            <a:r>
              <a:rPr lang="nl-NL" sz="1800" dirty="0" err="1" smtClean="0"/>
              <a:t>Elements</a:t>
            </a:r>
            <a:r>
              <a:rPr lang="nl-NL" sz="1800" dirty="0" smtClean="0"/>
              <a:t> slip_plastic &gt; 20 cm </a:t>
            </a:r>
          </a:p>
          <a:p>
            <a:pPr lvl="1"/>
            <a:r>
              <a:rPr lang="nl-NL" sz="1800" dirty="0" smtClean="0"/>
              <a:t>% surface failed &gt; 10% </a:t>
            </a:r>
          </a:p>
          <a:p>
            <a:pPr lvl="1">
              <a:buNone/>
            </a:pPr>
            <a:endParaRPr lang="nl-NL" sz="1800" dirty="0" smtClean="0"/>
          </a:p>
          <a:p>
            <a:pPr lvl="1">
              <a:buNone/>
            </a:pPr>
            <a:endParaRPr lang="nl-NL" sz="1800" dirty="0" smtClean="0"/>
          </a:p>
          <a:p>
            <a:pPr lvl="1">
              <a:buNone/>
            </a:pPr>
            <a:r>
              <a:rPr lang="nl-NL" sz="1800" b="1" dirty="0" smtClean="0"/>
              <a:t>Requires:</a:t>
            </a:r>
          </a:p>
          <a:p>
            <a:pPr lvl="1"/>
            <a:r>
              <a:rPr lang="nl-NL" sz="1800" dirty="0" smtClean="0"/>
              <a:t>Critical value in Geomec as material/object parameter, provided as </a:t>
            </a:r>
            <a:r>
              <a:rPr lang="nl-NL" sz="1800" u="sng" dirty="0" smtClean="0"/>
              <a:t>limiter</a:t>
            </a:r>
          </a:p>
          <a:p>
            <a:pPr lvl="1"/>
            <a:r>
              <a:rPr lang="nl-NL" sz="1800" u="sng" dirty="0" smtClean="0"/>
              <a:t>Weighted</a:t>
            </a:r>
            <a:r>
              <a:rPr lang="nl-NL" sz="1800" dirty="0" smtClean="0"/>
              <a:t> average over surface or nonweigted over points</a:t>
            </a:r>
          </a:p>
          <a:p>
            <a:pPr lvl="1"/>
            <a:r>
              <a:rPr lang="nl-NL" sz="1800" dirty="0" smtClean="0"/>
              <a:t>Distribution of response Z (failed area, or failed # elements, %), available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smtClean="0"/>
              <a:t>February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US" dirty="0"/>
          </a:p>
        </p:txBody>
      </p:sp>
      <p:pic>
        <p:nvPicPr>
          <p:cNvPr id="45058" name="Picture 2" descr="C:\Apps\0TRAINING\00_CORAworkshop\00Example_CORA_r1.0.55\CompartRM\QuickBlocks11182013 14353 PMhist_cdf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1748" y="4085864"/>
            <a:ext cx="2932252" cy="2199189"/>
          </a:xfrm>
          <a:prstGeom prst="rect">
            <a:avLst/>
          </a:prstGeom>
          <a:noFill/>
        </p:spPr>
      </p:pic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55043" y="902672"/>
            <a:ext cx="4411166" cy="29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7"/>
          <p:cNvCxnSpPr/>
          <p:nvPr/>
        </p:nvCxnSpPr>
        <p:spPr>
          <a:xfrm flipH="1" flipV="1">
            <a:off x="8208335" y="4189228"/>
            <a:ext cx="42530" cy="20095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4774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Geomec workflow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810879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Define failure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563527" y="1084521"/>
            <a:ext cx="8113748" cy="5298817"/>
          </a:xfrm>
        </p:spPr>
        <p:txBody>
          <a:bodyPr/>
          <a:lstStyle/>
          <a:p>
            <a:r>
              <a:rPr lang="en-GB" sz="1800" dirty="0" smtClean="0"/>
              <a:t>The model including objects of failure and failure mechanism are defined here.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1</a:t>
            </a:r>
            <a:r>
              <a:rPr lang="en-GB" sz="1800" dirty="0" smtClean="0"/>
              <a:t>: Choose your engine: Geomec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2</a:t>
            </a:r>
            <a:r>
              <a:rPr lang="en-GB" sz="1800" dirty="0" smtClean="0"/>
              <a:t>: Browse to the Geomec file, which has to be built on forehand</a:t>
            </a:r>
          </a:p>
          <a:p>
            <a:r>
              <a:rPr lang="en-GB" sz="1800" dirty="0">
                <a:solidFill>
                  <a:srgbClr val="FF0000"/>
                </a:solidFill>
              </a:rPr>
              <a:t>Step </a:t>
            </a:r>
            <a:r>
              <a:rPr lang="en-GB" sz="1800" dirty="0" smtClean="0">
                <a:solidFill>
                  <a:srgbClr val="FF0000"/>
                </a:solidFill>
              </a:rPr>
              <a:t>3</a:t>
            </a:r>
            <a:r>
              <a:rPr lang="en-GB" sz="1800" dirty="0" smtClean="0"/>
              <a:t>: Select the analysis mode (Linear / Nonlinear)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4</a:t>
            </a:r>
            <a:r>
              <a:rPr lang="en-GB" sz="1800" dirty="0" smtClean="0"/>
              <a:t>: Select the object of failure and appropriate failure mechanisms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5</a:t>
            </a:r>
            <a:r>
              <a:rPr lang="en-GB" sz="1800" dirty="0" smtClean="0"/>
              <a:t>: Press &lt;Add&gt; </a:t>
            </a:r>
          </a:p>
          <a:p>
            <a:r>
              <a:rPr lang="en-GB" sz="1800" dirty="0" smtClean="0"/>
              <a:t>Repeat until &lt;Done&gt; </a:t>
            </a:r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3520" y="3157870"/>
            <a:ext cx="3022148" cy="3320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093381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Define uncertainties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356261" y="902525"/>
            <a:ext cx="8321014" cy="5480813"/>
          </a:xfrm>
        </p:spPr>
        <p:txBody>
          <a:bodyPr/>
          <a:lstStyle/>
          <a:p>
            <a:r>
              <a:rPr lang="en-GB" sz="1800" dirty="0" smtClean="0"/>
              <a:t>Only uncertainties need to be inputted.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1</a:t>
            </a:r>
            <a:r>
              <a:rPr lang="en-GB" sz="1800" dirty="0" smtClean="0"/>
              <a:t>: Go to sheet &lt;Geomec&gt;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2</a:t>
            </a:r>
            <a:r>
              <a:rPr lang="en-GB" sz="1800" dirty="0" smtClean="0"/>
              <a:t>: Fill in calculation path and number of parallel threads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3</a:t>
            </a:r>
            <a:r>
              <a:rPr lang="en-GB" sz="1800" dirty="0" smtClean="0"/>
              <a:t>: Select the failure mechanisms  and define the failure limits 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4</a:t>
            </a:r>
            <a:r>
              <a:rPr lang="en-GB" sz="1800" dirty="0" smtClean="0"/>
              <a:t>: Define the uncertainty distributions and correlations (Button right top corner)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6</a:t>
            </a:r>
            <a:r>
              <a:rPr lang="en-GB" sz="1800" dirty="0" smtClean="0"/>
              <a:t>: Define min, max and step size for the control parameters (reliability analysis) when wanted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7</a:t>
            </a:r>
            <a:r>
              <a:rPr lang="en-GB" sz="1800" dirty="0" smtClean="0"/>
              <a:t>: When satisfied press &lt;Validate and continue&gt;</a:t>
            </a:r>
          </a:p>
          <a:p>
            <a:endParaRPr lang="en-GB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grpSp>
        <p:nvGrpSpPr>
          <p:cNvPr id="13" name="Group 12"/>
          <p:cNvGrpSpPr/>
          <p:nvPr/>
        </p:nvGrpSpPr>
        <p:grpSpPr>
          <a:xfrm>
            <a:off x="1540704" y="4317818"/>
            <a:ext cx="5848924" cy="2130917"/>
            <a:chOff x="859962" y="1658118"/>
            <a:chExt cx="5432081" cy="1825509"/>
          </a:xfrm>
        </p:grpSpPr>
        <p:grpSp>
          <p:nvGrpSpPr>
            <p:cNvPr id="14" name="Group 13"/>
            <p:cNvGrpSpPr/>
            <p:nvPr/>
          </p:nvGrpSpPr>
          <p:grpSpPr>
            <a:xfrm>
              <a:off x="859962" y="1658118"/>
              <a:ext cx="5432081" cy="1825509"/>
              <a:chOff x="845834" y="2053192"/>
              <a:chExt cx="5432081" cy="1825509"/>
            </a:xfrm>
          </p:grpSpPr>
          <p:pic>
            <p:nvPicPr>
              <p:cNvPr id="16" name="Picture 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845834" y="2053192"/>
                <a:ext cx="5432081" cy="18255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" name="Oval 16"/>
              <p:cNvSpPr/>
              <p:nvPr/>
            </p:nvSpPr>
            <p:spPr>
              <a:xfrm>
                <a:off x="1914923" y="2667882"/>
                <a:ext cx="1209056" cy="462304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2975563" y="3123106"/>
                <a:ext cx="1209056" cy="462304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378780" y="2600969"/>
                <a:ext cx="536143" cy="5961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marL="177800" indent="-177800">
                  <a:lnSpc>
                    <a:spcPct val="113000"/>
                  </a:lnSpc>
                  <a:spcAft>
                    <a:spcPts val="60"/>
                  </a:spcAft>
                </a:pPr>
                <a:r>
                  <a:rPr lang="en-GB" sz="1600" b="1" dirty="0" smtClean="0">
                    <a:solidFill>
                      <a:srgbClr val="C00000"/>
                    </a:solidFill>
                  </a:rPr>
                  <a:t>LSFs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4184619" y="3123106"/>
                <a:ext cx="536143" cy="5961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marL="177800" indent="-177800">
                  <a:lnSpc>
                    <a:spcPct val="113000"/>
                  </a:lnSpc>
                  <a:spcAft>
                    <a:spcPts val="60"/>
                  </a:spcAft>
                </a:pPr>
                <a:r>
                  <a:rPr lang="en-GB" sz="1600" b="1" dirty="0" smtClean="0">
                    <a:solidFill>
                      <a:srgbClr val="C00000"/>
                    </a:solidFill>
                  </a:rPr>
                  <a:t>PDFs</a:t>
                </a:r>
              </a:p>
            </p:txBody>
          </p:sp>
        </p:grpSp>
        <p:pic>
          <p:nvPicPr>
            <p:cNvPr id="1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9589" y="1658118"/>
              <a:ext cx="612922" cy="1156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5760727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Further analysis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sz="1800" dirty="0"/>
              <a:t>The rest of the workflow is the same as for the other engines</a:t>
            </a:r>
            <a:r>
              <a:rPr lang="en-GB" sz="1800" dirty="0" smtClean="0"/>
              <a:t>.</a:t>
            </a:r>
          </a:p>
          <a:p>
            <a:endParaRPr lang="en-GB" sz="1800" dirty="0" smtClean="0"/>
          </a:p>
          <a:p>
            <a:r>
              <a:rPr lang="en-GB" sz="1800" dirty="0" smtClean="0"/>
              <a:t>Quick screening:</a:t>
            </a:r>
          </a:p>
          <a:p>
            <a:pPr lvl="1"/>
            <a:r>
              <a:rPr lang="en-GB" sz="1800" dirty="0" smtClean="0"/>
              <a:t>In the quick screening, all LSFs associated with the failure mechanisms will be calculated, namely: min/max, weighted mean, failure area/volume and failure area/volume percentage</a:t>
            </a:r>
          </a:p>
          <a:p>
            <a:pPr lvl="1"/>
            <a:r>
              <a:rPr lang="en-GB" sz="1800" dirty="0" smtClean="0"/>
              <a:t>The relation between the parameters and the responses can be analysed by examining the different proxies.</a:t>
            </a:r>
          </a:p>
          <a:p>
            <a:pPr marL="0" lvl="1" indent="0">
              <a:buNone/>
            </a:pPr>
            <a:endParaRPr lang="en-GB" sz="1800" dirty="0" smtClean="0"/>
          </a:p>
          <a:p>
            <a:pPr marL="0" lvl="1" indent="0">
              <a:buNone/>
            </a:pPr>
            <a:r>
              <a:rPr lang="en-GB" sz="1800" dirty="0" smtClean="0"/>
              <a:t>Reliability analysis</a:t>
            </a:r>
            <a:endParaRPr lang="en-GB" sz="1800" dirty="0"/>
          </a:p>
          <a:p>
            <a:pPr lvl="1"/>
            <a:r>
              <a:rPr lang="en-GB" sz="1800" dirty="0" smtClean="0"/>
              <a:t>The limit function of choice can be selected or all</a:t>
            </a:r>
          </a:p>
          <a:p>
            <a:pPr lvl="1"/>
            <a:r>
              <a:rPr lang="en-GB" sz="1800" dirty="0" smtClean="0"/>
              <a:t>The limit of failure should be given (e.g. maximum % failure area)</a:t>
            </a:r>
          </a:p>
          <a:p>
            <a:endParaRPr lang="en-GB" sz="1800" dirty="0"/>
          </a:p>
          <a:p>
            <a:r>
              <a:rPr lang="en-GB" dirty="0"/>
              <a:t> </a:t>
            </a:r>
          </a:p>
          <a:p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987268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Geomec best practice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364252" y="941746"/>
            <a:ext cx="4983925" cy="5071137"/>
          </a:xfrm>
        </p:spPr>
        <p:txBody>
          <a:bodyPr/>
          <a:lstStyle/>
          <a:p>
            <a:pPr lvl="1"/>
            <a:r>
              <a:rPr lang="en-GB" sz="1800" dirty="0" smtClean="0"/>
              <a:t>Check your model before starting probabilistic analysis</a:t>
            </a:r>
          </a:p>
          <a:p>
            <a:pPr lvl="1"/>
            <a:r>
              <a:rPr lang="en-GB" sz="1800" dirty="0" smtClean="0"/>
              <a:t>Reduce the number of parameters and objects of interest as much as you can.</a:t>
            </a:r>
          </a:p>
          <a:p>
            <a:pPr lvl="1"/>
            <a:r>
              <a:rPr lang="en-GB" sz="1800" dirty="0" smtClean="0"/>
              <a:t>Only non-meshed faults which are dragged to the model tree can be </a:t>
            </a:r>
            <a:r>
              <a:rPr lang="en-GB" sz="1800" dirty="0" err="1" smtClean="0"/>
              <a:t>analyzed</a:t>
            </a:r>
            <a:endParaRPr lang="en-GB" sz="1800" dirty="0" smtClean="0"/>
          </a:p>
          <a:p>
            <a:pPr lvl="1"/>
            <a:r>
              <a:rPr lang="en-GB" sz="1800" dirty="0" smtClean="0"/>
              <a:t>Only wells in new format can be used for analysis. To convert them to the new format, you can open your model in Geomec and select &lt;Convert </a:t>
            </a:r>
            <a:r>
              <a:rPr lang="en-GB" sz="1800" dirty="0" err="1" smtClean="0"/>
              <a:t>wellpaths</a:t>
            </a:r>
            <a:r>
              <a:rPr lang="en-GB" sz="1800" dirty="0" smtClean="0"/>
              <a:t> during load&gt; when selecting your file.</a:t>
            </a:r>
          </a:p>
          <a:p>
            <a:pPr lvl="1"/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9548" y="457200"/>
            <a:ext cx="2332687" cy="384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Group 8"/>
          <p:cNvGrpSpPr/>
          <p:nvPr/>
        </p:nvGrpSpPr>
        <p:grpSpPr>
          <a:xfrm>
            <a:off x="4269318" y="1820708"/>
            <a:ext cx="3799478" cy="2987281"/>
            <a:chOff x="5231219" y="3477315"/>
            <a:chExt cx="3799478" cy="2987281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8177" y="3477315"/>
              <a:ext cx="3682520" cy="2919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Oval 7"/>
            <p:cNvSpPr/>
            <p:nvPr/>
          </p:nvSpPr>
          <p:spPr>
            <a:xfrm>
              <a:off x="5231219" y="5943601"/>
              <a:ext cx="1456660" cy="520995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4544068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 smtClean="0"/>
              <a:t>ExamplE</a:t>
            </a:r>
            <a:r>
              <a:rPr lang="en-GB" dirty="0" smtClean="0"/>
              <a:t> use of Geomec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026118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Example: Subsidence for Flat reservoir</a:t>
            </a:r>
            <a:endParaRPr lang="en-GB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1"/>
          </p:nvPr>
        </p:nvSpPr>
        <p:spPr>
          <a:xfrm>
            <a:off x="699797" y="849087"/>
            <a:ext cx="7977478" cy="5534252"/>
          </a:xfrm>
        </p:spPr>
        <p:txBody>
          <a:bodyPr/>
          <a:lstStyle/>
          <a:p>
            <a:r>
              <a:rPr lang="en-GB" sz="1800" dirty="0" smtClean="0">
                <a:solidFill>
                  <a:srgbClr val="FF0000"/>
                </a:solidFill>
              </a:rPr>
              <a:t>Step 1:</a:t>
            </a:r>
            <a:r>
              <a:rPr lang="en-GB" sz="1800" dirty="0" smtClean="0"/>
              <a:t> Base case model (results: subsidence)</a:t>
            </a:r>
          </a:p>
          <a:p>
            <a:r>
              <a:rPr lang="en-GB" sz="1800" dirty="0" smtClean="0">
                <a:solidFill>
                  <a:srgbClr val="FF0000"/>
                </a:solidFill>
              </a:rPr>
              <a:t>Step 2: </a:t>
            </a:r>
            <a:r>
              <a:rPr lang="en-GB" sz="1800" dirty="0" smtClean="0"/>
              <a:t>Prescribing reliability analysis case &amp; quick screening</a:t>
            </a:r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r>
              <a:rPr lang="en-GB" sz="1800" dirty="0" smtClean="0">
                <a:solidFill>
                  <a:srgbClr val="FF0000"/>
                </a:solidFill>
              </a:rPr>
              <a:t>Step 3: </a:t>
            </a:r>
            <a:r>
              <a:rPr lang="en-GB" sz="1800" dirty="0" smtClean="0"/>
              <a:t>Do failure analysis</a:t>
            </a:r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smtClean="0"/>
              <a:t>June 2014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 </a:t>
            </a:r>
            <a:endParaRPr lang="en-GB" dirty="0"/>
          </a:p>
        </p:txBody>
      </p:sp>
      <p:grpSp>
        <p:nvGrpSpPr>
          <p:cNvPr id="12" name="Group 11"/>
          <p:cNvGrpSpPr/>
          <p:nvPr/>
        </p:nvGrpSpPr>
        <p:grpSpPr>
          <a:xfrm>
            <a:off x="6961432" y="447443"/>
            <a:ext cx="2088937" cy="840381"/>
            <a:chOff x="301592" y="1313932"/>
            <a:chExt cx="7341540" cy="1841500"/>
          </a:xfrm>
        </p:grpSpPr>
        <p:pic>
          <p:nvPicPr>
            <p:cNvPr id="47109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01592" y="1314763"/>
              <a:ext cx="825168" cy="18280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710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08982" y="1313932"/>
              <a:ext cx="6534150" cy="1841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7108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188002" y="2447058"/>
              <a:ext cx="846072" cy="6214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74090" y="4057177"/>
            <a:ext cx="7721600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6" cstate="print"/>
          <a:srcRect l="1" t="14100" r="1539" b="-7690"/>
          <a:stretch/>
        </p:blipFill>
        <p:spPr bwMode="auto">
          <a:xfrm>
            <a:off x="2854514" y="4603996"/>
            <a:ext cx="4599872" cy="2644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21923" y="1634069"/>
            <a:ext cx="2975486" cy="2394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" name="Group 7"/>
          <p:cNvGrpSpPr/>
          <p:nvPr/>
        </p:nvGrpSpPr>
        <p:grpSpPr>
          <a:xfrm>
            <a:off x="287079" y="1660490"/>
            <a:ext cx="5834843" cy="2031380"/>
            <a:chOff x="859962" y="1658118"/>
            <a:chExt cx="5432081" cy="1825509"/>
          </a:xfrm>
        </p:grpSpPr>
        <p:pic>
          <p:nvPicPr>
            <p:cNvPr id="47106" name="Picture 2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859962" y="1658118"/>
              <a:ext cx="5432081" cy="18255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8747" y="1660250"/>
              <a:ext cx="533763" cy="1067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744410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hell layouts with footer">
  <a:themeElements>
    <a:clrScheme name="Shell - Colours">
      <a:dk1>
        <a:srgbClr val="595959"/>
      </a:dk1>
      <a:lt1>
        <a:srgbClr val="FFFFFF"/>
      </a:lt1>
      <a:dk2>
        <a:srgbClr val="999999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1238</TotalTime>
  <Words>908</Words>
  <Application>Microsoft Office PowerPoint</Application>
  <PresentationFormat>On-screen Show (4:3)</PresentationFormat>
  <Paragraphs>258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Futura Light</vt:lpstr>
      <vt:lpstr>Futura Medium</vt:lpstr>
      <vt:lpstr>Garamond</vt:lpstr>
      <vt:lpstr>Wingdings</vt:lpstr>
      <vt:lpstr>Times New Roman</vt:lpstr>
      <vt:lpstr>Shell layouts with footer</vt:lpstr>
      <vt:lpstr>Guideline GEOMEC</vt:lpstr>
      <vt:lpstr>Geomec as engine</vt:lpstr>
      <vt:lpstr>Supported material models</vt:lpstr>
      <vt:lpstr>Handling distributed properties</vt:lpstr>
      <vt:lpstr>Available objects and failure mechanisms</vt:lpstr>
      <vt:lpstr>Calculating failure</vt:lpstr>
      <vt:lpstr>PowerPoint Presentation</vt:lpstr>
      <vt:lpstr>Define failure model</vt:lpstr>
      <vt:lpstr>Define uncertainties</vt:lpstr>
      <vt:lpstr>Further analysis</vt:lpstr>
      <vt:lpstr>Geomec best practice</vt:lpstr>
      <vt:lpstr>PowerPoint Presentation</vt:lpstr>
      <vt:lpstr>Example: Subsidence for Flat reservoir</vt:lpstr>
      <vt:lpstr>PowerPoint Presentation</vt:lpstr>
    </vt:vector>
  </TitlesOfParts>
  <Company>Shell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Shell</dc:creator>
  <cp:lastModifiedBy>Kraaijeveld, Famke GSNL-PTI/RC</cp:lastModifiedBy>
  <cp:revision>422</cp:revision>
  <dcterms:created xsi:type="dcterms:W3CDTF">2009-11-25T14:32:06Z</dcterms:created>
  <dcterms:modified xsi:type="dcterms:W3CDTF">2015-11-12T14:12:05Z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Onscreen</vt:lpwstr>
  </property>
  <property fmtid="{D5CDD505-2E9C-101B-9397-08002B2CF9AE}" pid="3" name="WizKit Template Version">
    <vt:i4>4</vt:i4>
  </property>
</Properties>
</file>