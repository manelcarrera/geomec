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408" r:id="rId3"/>
    <p:sldId id="400" r:id="rId4"/>
    <p:sldId id="398" r:id="rId5"/>
    <p:sldId id="370" r:id="rId6"/>
    <p:sldId id="385" r:id="rId7"/>
    <p:sldId id="386" r:id="rId8"/>
    <p:sldId id="387" r:id="rId9"/>
    <p:sldId id="388" r:id="rId10"/>
    <p:sldId id="409" r:id="rId11"/>
    <p:sldId id="393" r:id="rId12"/>
    <p:sldId id="401" r:id="rId13"/>
    <p:sldId id="389" r:id="rId14"/>
    <p:sldId id="390" r:id="rId15"/>
    <p:sldId id="392" r:id="rId16"/>
    <p:sldId id="368" r:id="rId17"/>
    <p:sldId id="354" r:id="rId18"/>
  </p:sldIdLst>
  <p:sldSz cx="9144000" cy="6858000" type="screen4x3"/>
  <p:notesSz cx="6797675" cy="9926638"/>
  <p:embeddedFontLst>
    <p:embeddedFont>
      <p:font typeface="Futura Medium" panose="00000400000000000000" pitchFamily="2" charset="0"/>
      <p:regular r:id="rId21"/>
      <p:bold r:id="rId22"/>
      <p:italic r:id="rId23"/>
      <p:boldItalic r:id="rId24"/>
    </p:embeddedFont>
    <p:embeddedFont>
      <p:font typeface="Futura Light" panose="000004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5994" autoAdjust="0"/>
  </p:normalViewPr>
  <p:slideViewPr>
    <p:cSldViewPr snapToGrid="0" showGuides="1">
      <p:cViewPr>
        <p:scale>
          <a:sx n="79" d="100"/>
          <a:sy n="79" d="100"/>
        </p:scale>
        <p:origin x="-192" y="-876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08/02/2016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15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08/02/2016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28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5</a:t>
            </a:fld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February 2013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Xx</a:t>
            </a:r>
          </a:p>
          <a:p>
            <a:pPr lvl="5"/>
            <a:r>
              <a:rPr lang="en-US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SOURCE</a:t>
            </a:r>
            <a:endParaRPr lang="nl-NL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Click to edit Unit of measure</a:t>
            </a:r>
            <a:endParaRPr lang="nl-NL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US" dirty="0" smtClean="0"/>
              <a:t>CHART TITLE APPEARS HERE</a:t>
            </a:r>
            <a:endParaRPr lang="nl-NL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MY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MY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>
            <a:spAutoFit/>
          </a:bodyPr>
          <a:lstStyle/>
          <a:p>
            <a:pPr algn="ctr">
              <a:defRPr/>
            </a:pPr>
            <a:r>
              <a:rPr lang="en-GB" sz="800" smtClean="0">
                <a:solidFill>
                  <a:schemeClr val="accent2"/>
                </a:solidFill>
                <a:latin typeface="+mn-lt"/>
              </a:rPr>
              <a:t>RESTRICTED</a:t>
            </a:r>
            <a:endParaRPr lang="en-GB" sz="800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CORA </a:t>
            </a:r>
            <a:r>
              <a:rPr lang="en-GB" dirty="0" smtClean="0"/>
              <a:t>engine QuickBlocks</a:t>
            </a:r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F. Kraaijeveld PTI/RC</a:t>
            </a:r>
          </a:p>
        </p:txBody>
      </p:sp>
      <p:sp>
        <p:nvSpPr>
          <p:cNvPr id="25" name="Text Placeholder 24" descr="&lt;ROLE&gt;{15.4689,461.2516,443.1134,124.257}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 smtClean="0"/>
              <a:t>Geomechanicist</a:t>
            </a:r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 smtClean="0"/>
              <a:t>February 2013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 </a:t>
            </a:r>
            <a:endParaRPr lang="en-GB" dirty="0"/>
          </a:p>
        </p:txBody>
      </p:sp>
      <p:grpSp>
        <p:nvGrpSpPr>
          <p:cNvPr id="13" name="Group 15"/>
          <p:cNvGrpSpPr/>
          <p:nvPr/>
        </p:nvGrpSpPr>
        <p:grpSpPr>
          <a:xfrm>
            <a:off x="3878898" y="2369820"/>
            <a:ext cx="4564062" cy="2549718"/>
            <a:chOff x="716598" y="1892235"/>
            <a:chExt cx="7634193" cy="4005645"/>
          </a:xfrm>
        </p:grpSpPr>
        <p:grpSp>
          <p:nvGrpSpPr>
            <p:cNvPr id="14" name="Group 13"/>
            <p:cNvGrpSpPr/>
            <p:nvPr/>
          </p:nvGrpSpPr>
          <p:grpSpPr>
            <a:xfrm>
              <a:off x="716598" y="2553018"/>
              <a:ext cx="7633974" cy="3344862"/>
              <a:chOff x="541338" y="2903538"/>
              <a:chExt cx="7650162" cy="3344862"/>
            </a:xfrm>
          </p:grpSpPr>
          <p:pic>
            <p:nvPicPr>
              <p:cNvPr id="16" name="Picture 1150" descr="Leakage path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41338" y="2905125"/>
                <a:ext cx="4433887" cy="2947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" name="AutoShape 6"/>
              <p:cNvSpPr>
                <a:spLocks/>
              </p:cNvSpPr>
              <p:nvPr/>
            </p:nvSpPr>
            <p:spPr bwMode="auto">
              <a:xfrm flipH="1">
                <a:off x="5473700" y="4776788"/>
                <a:ext cx="2717800" cy="835025"/>
              </a:xfrm>
              <a:prstGeom prst="accentCallout2">
                <a:avLst>
                  <a:gd name="adj1" fmla="val 13685"/>
                  <a:gd name="adj2" fmla="val 102801"/>
                  <a:gd name="adj3" fmla="val 13685"/>
                  <a:gd name="adj4" fmla="val 119213"/>
                  <a:gd name="adj5" fmla="val 43912"/>
                  <a:gd name="adj6" fmla="val 13668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along fault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planes</a:t>
                </a:r>
                <a:endParaRPr lang="en-US" sz="1600" dirty="0"/>
              </a:p>
            </p:txBody>
          </p:sp>
          <p:sp>
            <p:nvSpPr>
              <p:cNvPr id="20" name="AutoShape 7"/>
              <p:cNvSpPr>
                <a:spLocks/>
              </p:cNvSpPr>
              <p:nvPr/>
            </p:nvSpPr>
            <p:spPr bwMode="auto">
              <a:xfrm>
                <a:off x="5473700" y="3724275"/>
                <a:ext cx="2717800" cy="857250"/>
              </a:xfrm>
              <a:prstGeom prst="accentCallout2">
                <a:avLst>
                  <a:gd name="adj1" fmla="val 13333"/>
                  <a:gd name="adj2" fmla="val -2319"/>
                  <a:gd name="adj3" fmla="val 13333"/>
                  <a:gd name="adj4" fmla="val -31065"/>
                  <a:gd name="adj5" fmla="val 131667"/>
                  <a:gd name="adj6" fmla="val -8449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through the cap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rock</a:t>
                </a:r>
                <a:endParaRPr lang="en-US" sz="1200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21" name="AutoShape 8"/>
              <p:cNvSpPr>
                <a:spLocks/>
              </p:cNvSpPr>
              <p:nvPr/>
            </p:nvSpPr>
            <p:spPr bwMode="auto">
              <a:xfrm>
                <a:off x="5468938" y="2903538"/>
                <a:ext cx="2722562" cy="623887"/>
              </a:xfrm>
              <a:prstGeom prst="accentCallout2">
                <a:avLst>
                  <a:gd name="adj1" fmla="val 18319"/>
                  <a:gd name="adj2" fmla="val -3199"/>
                  <a:gd name="adj3" fmla="val 18319"/>
                  <a:gd name="adj4" fmla="val -17801"/>
                  <a:gd name="adj5" fmla="val 134736"/>
                  <a:gd name="adj6" fmla="val -57593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rgbClr val="003F87"/>
                    </a:solidFill>
                  </a:rPr>
                  <a:t>Leakage along </a:t>
                </a:r>
                <a:r>
                  <a:rPr lang="en-US" sz="1200" dirty="0" smtClean="0">
                    <a:solidFill>
                      <a:srgbClr val="003F87"/>
                    </a:solidFill>
                  </a:rPr>
                  <a:t>wells</a:t>
                </a:r>
                <a:endParaRPr lang="en-US" sz="1200" dirty="0">
                  <a:solidFill>
                    <a:srgbClr val="003F87"/>
                  </a:solidFill>
                </a:endParaRPr>
              </a:p>
            </p:txBody>
          </p:sp>
          <p:sp>
            <p:nvSpPr>
              <p:cNvPr id="26" name="AutoShape 8"/>
              <p:cNvSpPr>
                <a:spLocks/>
              </p:cNvSpPr>
              <p:nvPr/>
            </p:nvSpPr>
            <p:spPr bwMode="auto">
              <a:xfrm>
                <a:off x="5468938" y="5751513"/>
                <a:ext cx="2722562" cy="496887"/>
              </a:xfrm>
              <a:prstGeom prst="accentCallout2">
                <a:avLst>
                  <a:gd name="adj1" fmla="val 23005"/>
                  <a:gd name="adj2" fmla="val -2319"/>
                  <a:gd name="adj3" fmla="val 23005"/>
                  <a:gd name="adj4" fmla="val -7921"/>
                  <a:gd name="adj5" fmla="val 1315"/>
                  <a:gd name="adj6" fmla="val -27111"/>
                </a:avLst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92075" indent="-92075">
                  <a:spcBef>
                    <a:spcPct val="0"/>
                  </a:spcBef>
                </a:pPr>
                <a:r>
                  <a:rPr lang="en-US" sz="1200" dirty="0">
                    <a:solidFill>
                      <a:schemeClr val="bg1">
                        <a:lumMod val="75000"/>
                      </a:schemeClr>
                    </a:solidFill>
                  </a:rPr>
                  <a:t>Lateral Migration:</a:t>
                </a:r>
              </a:p>
            </p:txBody>
          </p:sp>
        </p:grpSp>
        <p:sp>
          <p:nvSpPr>
            <p:cNvPr id="15" name="AutoShape 8"/>
            <p:cNvSpPr>
              <a:spLocks/>
            </p:cNvSpPr>
            <p:nvPr/>
          </p:nvSpPr>
          <p:spPr bwMode="auto">
            <a:xfrm>
              <a:off x="5633990" y="1892235"/>
              <a:ext cx="2716801" cy="623887"/>
            </a:xfrm>
            <a:prstGeom prst="accentCallout2">
              <a:avLst>
                <a:gd name="adj1" fmla="val 18319"/>
                <a:gd name="adj2" fmla="val -3199"/>
                <a:gd name="adj3" fmla="val 18319"/>
                <a:gd name="adj4" fmla="val -17801"/>
                <a:gd name="adj5" fmla="val 206936"/>
                <a:gd name="adj6" fmla="val -87353"/>
              </a:avLst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92075" indent="-92075">
                <a:spcBef>
                  <a:spcPct val="0"/>
                </a:spcBef>
              </a:pPr>
              <a:r>
                <a:rPr lang="en-US" sz="1200" dirty="0" smtClean="0">
                  <a:solidFill>
                    <a:srgbClr val="003F87"/>
                  </a:solidFill>
                </a:rPr>
                <a:t>Subsidence</a:t>
              </a:r>
              <a:endParaRPr lang="en-US" sz="1200" dirty="0">
                <a:solidFill>
                  <a:srgbClr val="003F87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Quickblocks</a:t>
            </a:r>
            <a:r>
              <a:rPr lang="nl-NL" dirty="0" smtClean="0"/>
              <a:t> </a:t>
            </a:r>
            <a:r>
              <a:rPr lang="nl-NL" dirty="0" err="1" smtClean="0"/>
              <a:t>setup</a:t>
            </a:r>
            <a:r>
              <a:rPr lang="nl-NL" dirty="0" smtClean="0"/>
              <a:t> model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nl-NL" sz="1800" dirty="0" smtClean="0"/>
              <a:t>All </a:t>
            </a:r>
            <a:r>
              <a:rPr lang="nl-NL" sz="1800" dirty="0" err="1" smtClean="0"/>
              <a:t>components</a:t>
            </a:r>
            <a:r>
              <a:rPr lang="nl-NL" sz="1800" dirty="0" smtClean="0"/>
              <a:t> </a:t>
            </a:r>
            <a:r>
              <a:rPr lang="nl-NL" sz="1800" dirty="0" err="1" smtClean="0"/>
              <a:t>need</a:t>
            </a:r>
            <a:r>
              <a:rPr lang="nl-NL" sz="1800" dirty="0" smtClean="0"/>
              <a:t> to </a:t>
            </a:r>
            <a:r>
              <a:rPr lang="nl-NL" sz="1800" dirty="0" err="1" smtClean="0"/>
              <a:t>be</a:t>
            </a:r>
            <a:r>
              <a:rPr lang="nl-NL" sz="1800" dirty="0" smtClean="0"/>
              <a:t> </a:t>
            </a:r>
            <a:r>
              <a:rPr lang="nl-NL" sz="1800" dirty="0" err="1" smtClean="0"/>
              <a:t>added</a:t>
            </a:r>
            <a:r>
              <a:rPr lang="nl-NL" sz="1800" dirty="0" smtClean="0"/>
              <a:t> </a:t>
            </a:r>
            <a:r>
              <a:rPr lang="nl-NL" sz="1800" dirty="0" err="1" smtClean="0"/>
              <a:t>upfront</a:t>
            </a:r>
            <a:r>
              <a:rPr lang="nl-NL" sz="1800" dirty="0" smtClean="0"/>
              <a:t>. No update </a:t>
            </a:r>
            <a:r>
              <a:rPr lang="nl-NL" sz="1800" dirty="0" err="1" smtClean="0"/>
              <a:t>possible</a:t>
            </a:r>
            <a:r>
              <a:rPr lang="nl-NL" sz="1800" dirty="0" smtClean="0"/>
              <a:t>.</a:t>
            </a:r>
          </a:p>
          <a:p>
            <a:pPr lvl="1"/>
            <a:r>
              <a:rPr lang="nl-NL" sz="1800" dirty="0" smtClean="0"/>
              <a:t>Model </a:t>
            </a:r>
            <a:r>
              <a:rPr lang="nl-NL" sz="1800" dirty="0" err="1" smtClean="0"/>
              <a:t>setup</a:t>
            </a:r>
            <a:r>
              <a:rPr lang="nl-NL" sz="1800" dirty="0" smtClean="0"/>
              <a:t>:</a:t>
            </a:r>
          </a:p>
          <a:p>
            <a:pPr lvl="2"/>
            <a:r>
              <a:rPr lang="nl-NL" sz="1800" dirty="0" smtClean="0"/>
              <a:t>To </a:t>
            </a:r>
            <a:r>
              <a:rPr lang="nl-NL" sz="1800" dirty="0" err="1" smtClean="0"/>
              <a:t>generate</a:t>
            </a:r>
            <a:r>
              <a:rPr lang="nl-NL" sz="1800" dirty="0" smtClean="0"/>
              <a:t> input </a:t>
            </a:r>
            <a:r>
              <a:rPr lang="nl-NL" sz="1800" dirty="0" err="1" smtClean="0"/>
              <a:t>form</a:t>
            </a:r>
            <a:endParaRPr lang="nl-NL" sz="1800" dirty="0" smtClean="0"/>
          </a:p>
          <a:p>
            <a:pPr lvl="3"/>
            <a:r>
              <a:rPr lang="nl-NL" sz="1400" dirty="0" err="1" smtClean="0"/>
              <a:t>Choose</a:t>
            </a:r>
            <a:r>
              <a:rPr lang="nl-NL" sz="1400" dirty="0" smtClean="0"/>
              <a:t> </a:t>
            </a:r>
            <a:r>
              <a:rPr lang="nl-NL" sz="1400" dirty="0" err="1" smtClean="0"/>
              <a:t>template</a:t>
            </a:r>
            <a:r>
              <a:rPr lang="nl-NL" sz="1400" dirty="0" smtClean="0"/>
              <a:t> </a:t>
            </a:r>
            <a:r>
              <a:rPr lang="nl-NL" sz="1400" dirty="0" err="1" smtClean="0"/>
              <a:t>or</a:t>
            </a:r>
            <a:r>
              <a:rPr lang="nl-NL" sz="1400" dirty="0" smtClean="0"/>
              <a:t> model (</a:t>
            </a:r>
            <a:r>
              <a:rPr lang="nl-NL" sz="1400" dirty="0" err="1" smtClean="0"/>
              <a:t>filename</a:t>
            </a:r>
            <a:r>
              <a:rPr lang="nl-NL" sz="1400" dirty="0" smtClean="0"/>
              <a:t> </a:t>
            </a:r>
            <a:r>
              <a:rPr lang="nl-NL" sz="1400" dirty="0" err="1" smtClean="0"/>
              <a:t>will</a:t>
            </a:r>
            <a:r>
              <a:rPr lang="nl-NL" sz="1400" dirty="0" smtClean="0"/>
              <a:t> </a:t>
            </a:r>
            <a:r>
              <a:rPr lang="nl-NL" sz="1400" dirty="0" err="1" smtClean="0"/>
              <a:t>be</a:t>
            </a:r>
            <a:r>
              <a:rPr lang="nl-NL" sz="1400" dirty="0" smtClean="0"/>
              <a:t> </a:t>
            </a:r>
            <a:r>
              <a:rPr lang="nl-NL" sz="1400" dirty="0" err="1" smtClean="0"/>
              <a:t>asked</a:t>
            </a:r>
            <a:r>
              <a:rPr lang="nl-NL" sz="1400" dirty="0" smtClean="0"/>
              <a:t> </a:t>
            </a:r>
            <a:r>
              <a:rPr lang="nl-NL" sz="1400" dirty="0" err="1" smtClean="0"/>
              <a:t>after</a:t>
            </a:r>
            <a:r>
              <a:rPr lang="nl-NL" sz="1400" dirty="0" smtClean="0"/>
              <a:t> “</a:t>
            </a:r>
            <a:r>
              <a:rPr lang="nl-NL" sz="1400" dirty="0" err="1" smtClean="0"/>
              <a:t>Generate</a:t>
            </a:r>
            <a:r>
              <a:rPr lang="nl-NL" sz="1400" dirty="0" smtClean="0"/>
              <a:t> input </a:t>
            </a:r>
            <a:r>
              <a:rPr lang="nl-NL" sz="1400" dirty="0" err="1" smtClean="0"/>
              <a:t>form</a:t>
            </a:r>
            <a:r>
              <a:rPr lang="nl-NL" sz="1400" dirty="0" smtClean="0"/>
              <a:t>”)</a:t>
            </a:r>
          </a:p>
          <a:p>
            <a:pPr lvl="3"/>
            <a:r>
              <a:rPr lang="nl-NL" sz="1400" dirty="0" err="1" smtClean="0"/>
              <a:t>Choose</a:t>
            </a:r>
            <a:r>
              <a:rPr lang="nl-NL" sz="1400" dirty="0" smtClean="0"/>
              <a:t> component input </a:t>
            </a:r>
            <a:r>
              <a:rPr lang="nl-NL" sz="1400" dirty="0" err="1" smtClean="0"/>
              <a:t>forms</a:t>
            </a:r>
            <a:endParaRPr lang="nl-NL" sz="1400" dirty="0" smtClean="0"/>
          </a:p>
          <a:p>
            <a:pPr lvl="3"/>
            <a:r>
              <a:rPr lang="nl-NL" sz="1400" dirty="0" err="1" smtClean="0"/>
              <a:t>Choose</a:t>
            </a:r>
            <a:r>
              <a:rPr lang="nl-NL" sz="1400" dirty="0" smtClean="0"/>
              <a:t> name output folder (</a:t>
            </a:r>
            <a:r>
              <a:rPr lang="nl-NL" sz="1400" dirty="0" err="1" smtClean="0"/>
              <a:t>will</a:t>
            </a:r>
            <a:r>
              <a:rPr lang="nl-NL" sz="1400" dirty="0" smtClean="0"/>
              <a:t> </a:t>
            </a:r>
            <a:r>
              <a:rPr lang="nl-NL" sz="1400" dirty="0" err="1" smtClean="0"/>
              <a:t>be</a:t>
            </a:r>
            <a:r>
              <a:rPr lang="nl-NL" sz="1400" dirty="0" smtClean="0"/>
              <a:t> </a:t>
            </a:r>
            <a:r>
              <a:rPr lang="nl-NL" sz="1400" dirty="0" err="1" smtClean="0"/>
              <a:t>created</a:t>
            </a:r>
            <a:r>
              <a:rPr lang="nl-NL" sz="1400" dirty="0" smtClean="0"/>
              <a:t> at level of Excel sheet)</a:t>
            </a:r>
          </a:p>
          <a:p>
            <a:pPr lvl="3"/>
            <a:r>
              <a:rPr lang="nl-NL" sz="1400" dirty="0" err="1" smtClean="0"/>
              <a:t>Generate</a:t>
            </a:r>
            <a:r>
              <a:rPr lang="nl-NL" sz="1400" dirty="0" smtClean="0"/>
              <a:t> input </a:t>
            </a:r>
            <a:r>
              <a:rPr lang="nl-NL" sz="1400" dirty="0" err="1" smtClean="0"/>
              <a:t>form</a:t>
            </a:r>
            <a:r>
              <a:rPr lang="nl-NL" sz="1400" dirty="0" smtClean="0"/>
              <a:t> (and </a:t>
            </a:r>
            <a:r>
              <a:rPr lang="nl-NL" sz="1400" dirty="0" err="1" smtClean="0"/>
              <a:t>choose</a:t>
            </a:r>
            <a:r>
              <a:rPr lang="nl-NL" sz="1400" dirty="0" smtClean="0"/>
              <a:t> model)</a:t>
            </a:r>
          </a:p>
          <a:p>
            <a:pPr lvl="2"/>
            <a:r>
              <a:rPr lang="nl-NL" sz="1800" dirty="0" err="1" smtClean="0"/>
              <a:t>Fill</a:t>
            </a:r>
            <a:r>
              <a:rPr lang="nl-NL" sz="1800" dirty="0" smtClean="0"/>
              <a:t> in base case, </a:t>
            </a:r>
            <a:r>
              <a:rPr lang="nl-NL" sz="1800" dirty="0" err="1" smtClean="0"/>
              <a:t>including</a:t>
            </a:r>
            <a:r>
              <a:rPr lang="nl-NL" sz="1800" dirty="0" smtClean="0"/>
              <a:t> component details</a:t>
            </a:r>
          </a:p>
          <a:p>
            <a:pPr lvl="2"/>
            <a:r>
              <a:rPr lang="nl-NL" sz="1800" dirty="0" err="1" smtClean="0"/>
              <a:t>Fill</a:t>
            </a:r>
            <a:r>
              <a:rPr lang="nl-NL" sz="1800" dirty="0" smtClean="0"/>
              <a:t> in </a:t>
            </a:r>
            <a:r>
              <a:rPr lang="nl-NL" sz="1800" dirty="0" err="1" smtClean="0"/>
              <a:t>uncertainties</a:t>
            </a:r>
            <a:endParaRPr lang="nl-NL" sz="1800" dirty="0" smtClean="0"/>
          </a:p>
          <a:p>
            <a:pPr lvl="2"/>
            <a:r>
              <a:rPr lang="nl-NL" sz="1800" dirty="0" smtClean="0"/>
              <a:t>Set up </a:t>
            </a:r>
            <a:r>
              <a:rPr lang="nl-NL" sz="1800" dirty="0" err="1" smtClean="0"/>
              <a:t>correlation</a:t>
            </a:r>
            <a:r>
              <a:rPr lang="nl-NL" sz="1800" dirty="0" smtClean="0"/>
              <a:t> matrix</a:t>
            </a:r>
          </a:p>
          <a:p>
            <a:pPr lvl="2"/>
            <a:r>
              <a:rPr lang="nl-NL" sz="1800" dirty="0" err="1" smtClean="0"/>
              <a:t>Validate</a:t>
            </a:r>
            <a:r>
              <a:rPr lang="nl-NL" sz="1800" dirty="0" smtClean="0"/>
              <a:t> &amp; continue</a:t>
            </a:r>
          </a:p>
          <a:p>
            <a:pPr lvl="1"/>
            <a:r>
              <a:rPr lang="nl-NL" sz="1800" dirty="0" err="1" smtClean="0"/>
              <a:t>You</a:t>
            </a:r>
            <a:r>
              <a:rPr lang="nl-NL" sz="1800" dirty="0" smtClean="0"/>
              <a:t> </a:t>
            </a:r>
            <a:r>
              <a:rPr lang="nl-NL" sz="1800" dirty="0" err="1" smtClean="0"/>
              <a:t>can</a:t>
            </a:r>
            <a:r>
              <a:rPr lang="nl-NL" sz="1800" dirty="0" smtClean="0"/>
              <a:t> select and </a:t>
            </a:r>
            <a:r>
              <a:rPr lang="nl-NL" sz="1800" dirty="0" err="1" smtClean="0"/>
              <a:t>deselect</a:t>
            </a:r>
            <a:r>
              <a:rPr lang="nl-NL" sz="1800" dirty="0" smtClean="0"/>
              <a:t> </a:t>
            </a:r>
            <a:r>
              <a:rPr lang="nl-NL" sz="1800" dirty="0" err="1" smtClean="0"/>
              <a:t>uncertainties</a:t>
            </a:r>
            <a:r>
              <a:rPr lang="nl-NL" sz="1800" dirty="0" smtClean="0"/>
              <a:t> &amp; </a:t>
            </a:r>
            <a:r>
              <a:rPr lang="nl-NL" sz="1800" dirty="0" err="1" smtClean="0"/>
              <a:t>components</a:t>
            </a:r>
            <a:r>
              <a:rPr lang="nl-NL" sz="1800" dirty="0" smtClean="0"/>
              <a:t> </a:t>
            </a:r>
          </a:p>
          <a:p>
            <a:pPr lvl="1"/>
            <a:r>
              <a:rPr lang="nl-NL" sz="1800" dirty="0" smtClean="0"/>
              <a:t>Always </a:t>
            </a:r>
            <a:r>
              <a:rPr lang="nl-NL" sz="1800" dirty="0" err="1" smtClean="0"/>
              <a:t>validate</a:t>
            </a:r>
            <a:r>
              <a:rPr lang="nl-NL" sz="1800" dirty="0" smtClean="0"/>
              <a:t> </a:t>
            </a:r>
            <a:r>
              <a:rPr lang="nl-NL" sz="1800" dirty="0" err="1" smtClean="0"/>
              <a:t>after</a:t>
            </a:r>
            <a:r>
              <a:rPr lang="nl-NL" sz="1800" dirty="0" smtClean="0"/>
              <a:t> a </a:t>
            </a:r>
            <a:r>
              <a:rPr lang="nl-NL" sz="1800" dirty="0" err="1" smtClean="0"/>
              <a:t>change</a:t>
            </a:r>
            <a:endParaRPr lang="nl-NL" sz="1800" dirty="0" smtClean="0"/>
          </a:p>
          <a:p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Quickblocks</a:t>
            </a:r>
            <a:r>
              <a:rPr lang="nl-NL" dirty="0" smtClean="0"/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dirty="0" smtClean="0"/>
              <a:t>Input model</a:t>
            </a:r>
          </a:p>
          <a:p>
            <a:pPr lvl="1"/>
            <a:r>
              <a:rPr lang="nl-NL" dirty="0" smtClean="0"/>
              <a:t>via </a:t>
            </a:r>
            <a:r>
              <a:rPr lang="nl-NL" dirty="0" err="1" smtClean="0"/>
              <a:t>template</a:t>
            </a:r>
            <a:r>
              <a:rPr lang="nl-NL" dirty="0" smtClean="0"/>
              <a:t> (4 </a:t>
            </a:r>
            <a:r>
              <a:rPr lang="nl-NL" dirty="0" err="1" smtClean="0"/>
              <a:t>layers</a:t>
            </a:r>
            <a:r>
              <a:rPr lang="nl-NL" dirty="0" smtClean="0"/>
              <a:t>, </a:t>
            </a:r>
            <a:r>
              <a:rPr lang="nl-NL" dirty="0" err="1" smtClean="0"/>
              <a:t>dP</a:t>
            </a:r>
            <a:r>
              <a:rPr lang="nl-NL" dirty="0" smtClean="0"/>
              <a:t>): </a:t>
            </a:r>
            <a:r>
              <a:rPr lang="nl-NL" dirty="0" err="1" smtClean="0"/>
              <a:t>basecase</a:t>
            </a:r>
            <a:r>
              <a:rPr lang="nl-NL" dirty="0" smtClean="0"/>
              <a:t> + </a:t>
            </a:r>
            <a:r>
              <a:rPr lang="nl-NL" dirty="0" err="1" smtClean="0"/>
              <a:t>uncertainties</a:t>
            </a:r>
            <a:r>
              <a:rPr lang="nl-NL" dirty="0" smtClean="0"/>
              <a:t> </a:t>
            </a:r>
          </a:p>
          <a:p>
            <a:pPr lvl="1"/>
            <a:r>
              <a:rPr lang="nl-NL" dirty="0" smtClean="0"/>
              <a:t>QB 2.* model: only uncertainties. </a:t>
            </a:r>
            <a:r>
              <a:rPr lang="nl-NL" dirty="0" err="1" smtClean="0"/>
              <a:t>Note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even </a:t>
            </a:r>
            <a:r>
              <a:rPr lang="nl-NL" dirty="0" err="1" smtClean="0"/>
              <a:t>if</a:t>
            </a:r>
            <a:r>
              <a:rPr lang="nl-NL" dirty="0" smtClean="0"/>
              <a:t> </a:t>
            </a:r>
            <a:r>
              <a:rPr lang="nl-NL" dirty="0" err="1" smtClean="0"/>
              <a:t>mean</a:t>
            </a:r>
            <a:r>
              <a:rPr lang="nl-NL" dirty="0" smtClean="0"/>
              <a:t> distribution is </a:t>
            </a:r>
            <a:r>
              <a:rPr lang="nl-NL" dirty="0" err="1" smtClean="0"/>
              <a:t>not</a:t>
            </a:r>
            <a:r>
              <a:rPr lang="nl-NL" dirty="0" smtClean="0"/>
              <a:t> </a:t>
            </a:r>
            <a:r>
              <a:rPr lang="nl-NL" dirty="0" err="1" smtClean="0"/>
              <a:t>equal</a:t>
            </a:r>
            <a:r>
              <a:rPr lang="nl-NL" dirty="0" smtClean="0"/>
              <a:t> to </a:t>
            </a:r>
            <a:r>
              <a:rPr lang="nl-NL" dirty="0" err="1" smtClean="0"/>
              <a:t>basecase</a:t>
            </a:r>
            <a:r>
              <a:rPr lang="nl-NL" dirty="0" smtClean="0"/>
              <a:t> </a:t>
            </a:r>
            <a:r>
              <a:rPr lang="nl-NL" dirty="0" err="1" smtClean="0"/>
              <a:t>value</a:t>
            </a:r>
            <a:r>
              <a:rPr lang="nl-NL" dirty="0" smtClean="0"/>
              <a:t>, the </a:t>
            </a:r>
            <a:r>
              <a:rPr lang="nl-NL" dirty="0" err="1" smtClean="0"/>
              <a:t>mean</a:t>
            </a:r>
            <a:r>
              <a:rPr lang="nl-NL" dirty="0" smtClean="0"/>
              <a:t> is </a:t>
            </a:r>
            <a:r>
              <a:rPr lang="nl-NL" dirty="0" err="1" smtClean="0"/>
              <a:t>used</a:t>
            </a:r>
            <a:r>
              <a:rPr lang="nl-NL" dirty="0" smtClean="0"/>
              <a:t>.</a:t>
            </a:r>
          </a:p>
          <a:p>
            <a:pPr lvl="1"/>
            <a:endParaRPr lang="nl-NL" dirty="0" smtClean="0"/>
          </a:p>
          <a:p>
            <a:pPr lvl="1">
              <a:buNone/>
            </a:pPr>
            <a:r>
              <a:rPr lang="nl-NL" dirty="0" smtClean="0"/>
              <a:t>Settings sheet to set </a:t>
            </a:r>
            <a:r>
              <a:rPr lang="nl-NL" dirty="0" err="1" smtClean="0"/>
              <a:t>path</a:t>
            </a:r>
            <a:r>
              <a:rPr lang="nl-NL" dirty="0" smtClean="0"/>
              <a:t> to EPD &amp; QB</a:t>
            </a:r>
          </a:p>
          <a:p>
            <a:pPr lvl="1">
              <a:buNone/>
            </a:pPr>
            <a:endParaRPr lang="nl-NL" dirty="0" smtClean="0"/>
          </a:p>
          <a:p>
            <a:pPr lvl="1">
              <a:buNone/>
            </a:pPr>
            <a:endParaRPr lang="nl-NL" dirty="0" smtClean="0"/>
          </a:p>
          <a:p>
            <a:pPr lvl="1"/>
            <a:endParaRPr lang="nl-NL" dirty="0" smtClean="0"/>
          </a:p>
          <a:p>
            <a:pPr lvl="1"/>
            <a:endParaRPr lang="nl-NL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4319" y="3381555"/>
            <a:ext cx="2914291" cy="21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QuickBlocks</a:t>
            </a:r>
            <a:r>
              <a:rPr lang="nl-NL" dirty="0" smtClean="0"/>
              <a:t> </a:t>
            </a:r>
            <a:r>
              <a:rPr lang="nl-NL" dirty="0" err="1" smtClean="0"/>
              <a:t>limitations</a:t>
            </a:r>
            <a:r>
              <a:rPr lang="nl-NL" dirty="0" smtClean="0"/>
              <a:t> in cora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>
              <a:buNone/>
            </a:pPr>
            <a:r>
              <a:rPr lang="nl-NL" sz="1800" dirty="0" err="1" smtClean="0"/>
              <a:t>Template</a:t>
            </a:r>
            <a:endParaRPr lang="nl-NL" sz="1800" dirty="0" smtClean="0"/>
          </a:p>
          <a:p>
            <a:pPr lvl="1"/>
            <a:r>
              <a:rPr lang="nl-NL" sz="1400" dirty="0" smtClean="0"/>
              <a:t>4 Horizontal </a:t>
            </a:r>
            <a:r>
              <a:rPr lang="nl-NL" sz="1400" dirty="0" err="1" smtClean="0"/>
              <a:t>layers</a:t>
            </a:r>
            <a:endParaRPr lang="nl-NL" sz="1400" dirty="0" smtClean="0"/>
          </a:p>
          <a:p>
            <a:pPr lvl="1"/>
            <a:r>
              <a:rPr lang="nl-NL" sz="1400" dirty="0" err="1" smtClean="0"/>
              <a:t>Only</a:t>
            </a:r>
            <a:r>
              <a:rPr lang="nl-NL" sz="1400" dirty="0" smtClean="0"/>
              <a:t> </a:t>
            </a:r>
            <a:r>
              <a:rPr lang="nl-NL" sz="1400" dirty="0" err="1" smtClean="0"/>
              <a:t>pressure</a:t>
            </a:r>
            <a:r>
              <a:rPr lang="nl-NL" sz="1400" dirty="0" smtClean="0"/>
              <a:t> </a:t>
            </a:r>
            <a:r>
              <a:rPr lang="nl-NL" sz="1400" dirty="0" err="1" smtClean="0"/>
              <a:t>depletion</a:t>
            </a:r>
            <a:r>
              <a:rPr lang="nl-NL" sz="1400" dirty="0" smtClean="0"/>
              <a:t>, </a:t>
            </a:r>
            <a:r>
              <a:rPr lang="nl-NL" sz="1400" dirty="0" err="1" smtClean="0"/>
              <a:t>temperature</a:t>
            </a:r>
            <a:r>
              <a:rPr lang="nl-NL" sz="1400" dirty="0" smtClean="0"/>
              <a:t> </a:t>
            </a:r>
            <a:r>
              <a:rPr lang="nl-NL" sz="1400" dirty="0" err="1" smtClean="0"/>
              <a:t>changes</a:t>
            </a:r>
            <a:r>
              <a:rPr lang="nl-NL" sz="1400" dirty="0" smtClean="0"/>
              <a:t> </a:t>
            </a:r>
            <a:r>
              <a:rPr lang="nl-NL" sz="1400" dirty="0" err="1" smtClean="0"/>
              <a:t>not</a:t>
            </a:r>
            <a:r>
              <a:rPr lang="nl-NL" sz="1400" dirty="0" smtClean="0"/>
              <a:t> </a:t>
            </a:r>
            <a:r>
              <a:rPr lang="nl-NL" sz="1400" dirty="0" err="1" smtClean="0"/>
              <a:t>supported</a:t>
            </a:r>
            <a:endParaRPr lang="nl-NL" sz="1800" dirty="0" smtClean="0"/>
          </a:p>
          <a:p>
            <a:pPr lvl="1">
              <a:buNone/>
            </a:pPr>
            <a:endParaRPr lang="nl-NL" sz="1800" dirty="0" smtClean="0"/>
          </a:p>
          <a:p>
            <a:pPr lvl="1">
              <a:buNone/>
            </a:pPr>
            <a:r>
              <a:rPr lang="nl-NL" sz="1800" dirty="0" smtClean="0"/>
              <a:t>Models QuickBlocks version 2.*</a:t>
            </a:r>
          </a:p>
          <a:p>
            <a:pPr lvl="1"/>
            <a:r>
              <a:rPr lang="nl-NL" sz="1400" dirty="0" err="1" smtClean="0"/>
              <a:t>Formations</a:t>
            </a:r>
            <a:r>
              <a:rPr lang="nl-NL" sz="1400" dirty="0" smtClean="0"/>
              <a:t> </a:t>
            </a:r>
            <a:r>
              <a:rPr lang="nl-NL" sz="1400" dirty="0" err="1" smtClean="0"/>
              <a:t>with</a:t>
            </a:r>
            <a:r>
              <a:rPr lang="nl-NL" sz="1400" dirty="0" smtClean="0"/>
              <a:t> constant </a:t>
            </a:r>
            <a:r>
              <a:rPr lang="nl-NL" sz="1400" dirty="0" err="1" smtClean="0"/>
              <a:t>depths</a:t>
            </a:r>
            <a:r>
              <a:rPr lang="nl-NL" sz="1400" dirty="0" smtClean="0"/>
              <a:t> (</a:t>
            </a:r>
            <a:r>
              <a:rPr lang="nl-NL" sz="1400" dirty="0" err="1" smtClean="0"/>
              <a:t>not</a:t>
            </a:r>
            <a:r>
              <a:rPr lang="nl-NL" sz="1400" dirty="0" smtClean="0"/>
              <a:t> </a:t>
            </a:r>
            <a:r>
              <a:rPr lang="nl-NL" sz="1400" dirty="0" err="1" smtClean="0"/>
              <a:t>arrays</a:t>
            </a:r>
            <a:r>
              <a:rPr lang="nl-NL" sz="1400" dirty="0" smtClean="0"/>
              <a:t> </a:t>
            </a:r>
            <a:r>
              <a:rPr lang="nl-NL" sz="1400" dirty="0" err="1" smtClean="0"/>
              <a:t>or</a:t>
            </a:r>
            <a:r>
              <a:rPr lang="nl-NL" sz="1400" dirty="0" smtClean="0"/>
              <a:t> </a:t>
            </a:r>
            <a:r>
              <a:rPr lang="nl-NL" sz="1400" dirty="0" err="1" smtClean="0"/>
              <a:t>pointset</a:t>
            </a:r>
            <a:r>
              <a:rPr lang="nl-NL" sz="1400" dirty="0" smtClean="0"/>
              <a:t> </a:t>
            </a:r>
            <a:r>
              <a:rPr lang="nl-NL" sz="1400" dirty="0" err="1" smtClean="0"/>
              <a:t>due</a:t>
            </a:r>
            <a:r>
              <a:rPr lang="nl-NL" sz="1400" dirty="0" smtClean="0"/>
              <a:t> to </a:t>
            </a:r>
            <a:r>
              <a:rPr lang="nl-NL" sz="1400" dirty="0" err="1" smtClean="0"/>
              <a:t>identification</a:t>
            </a:r>
            <a:r>
              <a:rPr lang="nl-NL" sz="1400" dirty="0" smtClean="0"/>
              <a:t> of (</a:t>
            </a:r>
            <a:r>
              <a:rPr lang="nl-NL" sz="1400" dirty="0" err="1" smtClean="0"/>
              <a:t>failure</a:t>
            </a:r>
            <a:r>
              <a:rPr lang="nl-NL" sz="1400" dirty="0" smtClean="0"/>
              <a:t>) </a:t>
            </a:r>
            <a:r>
              <a:rPr lang="nl-NL" sz="1400" dirty="0" err="1" smtClean="0"/>
              <a:t>material</a:t>
            </a:r>
            <a:r>
              <a:rPr lang="nl-NL" sz="1400" dirty="0" smtClean="0"/>
              <a:t> </a:t>
            </a:r>
            <a:r>
              <a:rPr lang="nl-NL" sz="1400" dirty="0" err="1" smtClean="0"/>
              <a:t>contrasts</a:t>
            </a:r>
            <a:r>
              <a:rPr lang="nl-NL" sz="1400" dirty="0" smtClean="0"/>
              <a:t>), </a:t>
            </a:r>
            <a:r>
              <a:rPr lang="nl-NL" sz="1400" dirty="0" err="1" smtClean="0"/>
              <a:t>incl</a:t>
            </a:r>
            <a:r>
              <a:rPr lang="nl-NL" sz="1400" dirty="0" smtClean="0"/>
              <a:t> </a:t>
            </a:r>
            <a:r>
              <a:rPr lang="nl-NL" sz="1400" dirty="0" err="1" smtClean="0"/>
              <a:t>surfacedepth.constant</a:t>
            </a:r>
            <a:endParaRPr lang="nl-NL" sz="1400" dirty="0" smtClean="0"/>
          </a:p>
          <a:p>
            <a:pPr lvl="1"/>
            <a:r>
              <a:rPr lang="nl-NL" sz="1400" dirty="0" err="1" smtClean="0"/>
              <a:t>Only</a:t>
            </a:r>
            <a:r>
              <a:rPr lang="nl-NL" sz="1400" dirty="0" smtClean="0"/>
              <a:t> parameters </a:t>
            </a:r>
            <a:r>
              <a:rPr lang="nl-NL" sz="1400" dirty="0" err="1" smtClean="0"/>
              <a:t>that</a:t>
            </a:r>
            <a:r>
              <a:rPr lang="nl-NL" sz="1400" dirty="0" smtClean="0"/>
              <a:t> are a </a:t>
            </a:r>
            <a:r>
              <a:rPr lang="nl-NL" sz="1400" dirty="0" err="1" smtClean="0"/>
              <a:t>Real</a:t>
            </a:r>
            <a:r>
              <a:rPr lang="nl-NL" sz="1400" dirty="0" smtClean="0"/>
              <a:t> are </a:t>
            </a:r>
            <a:r>
              <a:rPr lang="nl-NL" sz="1400" dirty="0" err="1" smtClean="0"/>
              <a:t>allowed</a:t>
            </a:r>
            <a:r>
              <a:rPr lang="nl-NL" sz="1400" dirty="0" smtClean="0"/>
              <a:t> to have </a:t>
            </a:r>
            <a:r>
              <a:rPr lang="nl-NL" sz="1400" dirty="0" err="1" smtClean="0"/>
              <a:t>uncertainty</a:t>
            </a:r>
            <a:r>
              <a:rPr lang="nl-NL" sz="1400" dirty="0" smtClean="0"/>
              <a:t> </a:t>
            </a:r>
            <a:r>
              <a:rPr lang="nl-NL" sz="1400" dirty="0" err="1" smtClean="0"/>
              <a:t>assigned</a:t>
            </a:r>
            <a:endParaRPr lang="nl-NL" sz="1400" dirty="0" smtClean="0"/>
          </a:p>
          <a:p>
            <a:pPr lvl="1"/>
            <a:endParaRPr lang="nl-NL" sz="1400" dirty="0" smtClean="0"/>
          </a:p>
          <a:p>
            <a:pPr lvl="1">
              <a:buNone/>
            </a:pPr>
            <a:r>
              <a:rPr lang="nl-NL" sz="1800" dirty="0" err="1" smtClean="0"/>
              <a:t>Failure</a:t>
            </a:r>
            <a:r>
              <a:rPr lang="nl-NL" sz="1800" dirty="0" smtClean="0"/>
              <a:t> modes</a:t>
            </a:r>
          </a:p>
          <a:p>
            <a:pPr lvl="1"/>
            <a:r>
              <a:rPr lang="nl-NL" sz="1400" dirty="0" err="1" smtClean="0"/>
              <a:t>Failure</a:t>
            </a:r>
            <a:r>
              <a:rPr lang="nl-NL" sz="1400" dirty="0" smtClean="0"/>
              <a:t> </a:t>
            </a:r>
            <a:r>
              <a:rPr lang="nl-NL" sz="1400" dirty="0" err="1" smtClean="0"/>
              <a:t>area</a:t>
            </a:r>
            <a:r>
              <a:rPr lang="nl-NL" sz="1400" dirty="0" smtClean="0"/>
              <a:t> = </a:t>
            </a:r>
            <a:r>
              <a:rPr lang="nl-NL" sz="1400" dirty="0" err="1" smtClean="0"/>
              <a:t>sum</a:t>
            </a:r>
            <a:r>
              <a:rPr lang="nl-NL" sz="1400" dirty="0" smtClean="0"/>
              <a:t> </a:t>
            </a:r>
            <a:r>
              <a:rPr lang="nl-NL" sz="1400" dirty="0" err="1" smtClean="0"/>
              <a:t>failed</a:t>
            </a:r>
            <a:r>
              <a:rPr lang="nl-NL" sz="1400" dirty="0" smtClean="0"/>
              <a:t> </a:t>
            </a:r>
            <a:r>
              <a:rPr lang="nl-NL" sz="1400" dirty="0" err="1" smtClean="0"/>
              <a:t>points</a:t>
            </a:r>
            <a:r>
              <a:rPr lang="nl-NL" sz="1400" dirty="0" smtClean="0"/>
              <a:t> </a:t>
            </a:r>
            <a:r>
              <a:rPr lang="nl-NL" sz="1400" dirty="0" err="1" smtClean="0"/>
              <a:t>times</a:t>
            </a:r>
            <a:r>
              <a:rPr lang="nl-NL" sz="1400" dirty="0" smtClean="0"/>
              <a:t> </a:t>
            </a:r>
            <a:r>
              <a:rPr lang="nl-NL" sz="1400" dirty="0" err="1" smtClean="0"/>
              <a:t>grid</a:t>
            </a:r>
            <a:r>
              <a:rPr lang="nl-NL" sz="1400" dirty="0" smtClean="0"/>
              <a:t> </a:t>
            </a:r>
            <a:r>
              <a:rPr lang="nl-NL" sz="1400" dirty="0" err="1" smtClean="0"/>
              <a:t>size</a:t>
            </a:r>
            <a:r>
              <a:rPr lang="nl-NL" sz="1400" dirty="0" smtClean="0"/>
              <a:t> (</a:t>
            </a:r>
            <a:r>
              <a:rPr lang="nl-NL" sz="1400" dirty="0" err="1" smtClean="0"/>
              <a:t>irrespective</a:t>
            </a:r>
            <a:r>
              <a:rPr lang="nl-NL" sz="1400" dirty="0" smtClean="0"/>
              <a:t> </a:t>
            </a:r>
            <a:r>
              <a:rPr lang="nl-NL" sz="1400" dirty="0" err="1" smtClean="0"/>
              <a:t>thickness</a:t>
            </a:r>
            <a:r>
              <a:rPr lang="nl-NL" sz="1400" dirty="0" smtClean="0"/>
              <a:t> </a:t>
            </a:r>
            <a:r>
              <a:rPr lang="nl-NL" sz="1400" dirty="0" err="1" smtClean="0"/>
              <a:t>layer</a:t>
            </a:r>
            <a:r>
              <a:rPr lang="nl-NL" sz="1400" dirty="0" smtClean="0"/>
              <a:t>)</a:t>
            </a:r>
          </a:p>
          <a:p>
            <a:pPr lvl="1"/>
            <a:r>
              <a:rPr lang="nl-NL" sz="1400" dirty="0" err="1" smtClean="0"/>
              <a:t>Fault</a:t>
            </a:r>
            <a:r>
              <a:rPr lang="nl-NL" sz="1400" dirty="0" smtClean="0"/>
              <a:t> is a </a:t>
            </a:r>
            <a:r>
              <a:rPr lang="nl-NL" sz="1400" dirty="0" err="1" smtClean="0"/>
              <a:t>plane</a:t>
            </a:r>
            <a:r>
              <a:rPr lang="nl-NL" sz="1400" dirty="0" smtClean="0"/>
              <a:t> </a:t>
            </a:r>
          </a:p>
          <a:p>
            <a:pPr lvl="1"/>
            <a:r>
              <a:rPr lang="nl-NL" sz="1400" dirty="0" err="1" smtClean="0"/>
              <a:t>Formation</a:t>
            </a:r>
            <a:r>
              <a:rPr lang="nl-NL" sz="1400" dirty="0" smtClean="0"/>
              <a:t> is a volume</a:t>
            </a:r>
          </a:p>
          <a:p>
            <a:pPr lvl="1"/>
            <a:r>
              <a:rPr lang="nl-NL" sz="1400" dirty="0" err="1" smtClean="0"/>
              <a:t>Well</a:t>
            </a:r>
            <a:r>
              <a:rPr lang="nl-NL" sz="1400" dirty="0" smtClean="0"/>
              <a:t> is a </a:t>
            </a:r>
            <a:r>
              <a:rPr lang="nl-NL" sz="1400" dirty="0" err="1" smtClean="0"/>
              <a:t>line</a:t>
            </a:r>
            <a:endParaRPr lang="nl-NL" sz="1400" dirty="0" smtClean="0"/>
          </a:p>
          <a:p>
            <a:pPr lvl="1"/>
            <a:r>
              <a:rPr lang="nl-NL" sz="1400" dirty="0" err="1" smtClean="0"/>
              <a:t>Subsidence</a:t>
            </a:r>
            <a:r>
              <a:rPr lang="nl-NL" sz="1400" dirty="0" smtClean="0"/>
              <a:t> </a:t>
            </a:r>
            <a:r>
              <a:rPr lang="nl-NL" sz="1400" dirty="0" err="1" smtClean="0"/>
              <a:t>always</a:t>
            </a:r>
            <a:r>
              <a:rPr lang="nl-NL" sz="1400" dirty="0" smtClean="0"/>
              <a:t> at </a:t>
            </a:r>
            <a:r>
              <a:rPr lang="nl-NL" sz="1400" dirty="0" err="1" smtClean="0"/>
              <a:t>surfacedepth</a:t>
            </a:r>
            <a:r>
              <a:rPr lang="nl-NL" sz="1400" dirty="0" smtClean="0"/>
              <a:t> (</a:t>
            </a:r>
            <a:r>
              <a:rPr lang="nl-NL" sz="1400" dirty="0" err="1" smtClean="0"/>
              <a:t>not</a:t>
            </a:r>
            <a:r>
              <a:rPr lang="nl-NL" sz="1400" dirty="0" smtClean="0"/>
              <a:t> </a:t>
            </a:r>
            <a:r>
              <a:rPr lang="nl-NL" sz="1400" dirty="0" err="1" smtClean="0"/>
              <a:t>yet</a:t>
            </a:r>
            <a:r>
              <a:rPr lang="nl-NL" sz="1400" dirty="0" smtClean="0"/>
              <a:t> </a:t>
            </a:r>
            <a:r>
              <a:rPr lang="nl-NL" sz="1400" dirty="0" err="1" smtClean="0"/>
              <a:t>validated</a:t>
            </a:r>
            <a:r>
              <a:rPr lang="nl-NL" sz="1400" dirty="0" smtClean="0"/>
              <a:t> in GUI) </a:t>
            </a:r>
          </a:p>
          <a:p>
            <a:pPr lvl="1">
              <a:buNone/>
            </a:pPr>
            <a:endParaRPr lang="nl-NL" sz="1400" dirty="0" smtClean="0"/>
          </a:p>
          <a:p>
            <a:pPr lvl="1">
              <a:buNone/>
            </a:pPr>
            <a:endParaRPr lang="nl-NL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January 2012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CORA QB IO workflow</a:t>
            </a:r>
            <a:endParaRPr lang="en-GB" dirty="0"/>
          </a:p>
        </p:txBody>
      </p:sp>
      <p:sp>
        <p:nvSpPr>
          <p:cNvPr id="16" name="Text Placeholder 15"/>
          <p:cNvSpPr>
            <a:spLocks noGrp="1"/>
          </p:cNvSpPr>
          <p:nvPr>
            <p:ph sz="quarter" idx="11"/>
          </p:nvPr>
        </p:nvSpPr>
        <p:spPr>
          <a:xfrm>
            <a:off x="906511" y="960121"/>
            <a:ext cx="7770763" cy="5423218"/>
          </a:xfrm>
        </p:spPr>
        <p:txBody>
          <a:bodyPr/>
          <a:lstStyle/>
          <a:p>
            <a:pPr lvl="1">
              <a:buNone/>
            </a:pPr>
            <a:r>
              <a:rPr lang="en-US" sz="1800" dirty="0" smtClean="0"/>
              <a:t>This holds for each calculation case</a:t>
            </a:r>
          </a:p>
          <a:p>
            <a:pPr lvl="1"/>
            <a:endParaRPr lang="en-US" sz="1800" dirty="0" smtClean="0"/>
          </a:p>
          <a:p>
            <a:pPr lvl="1"/>
            <a:r>
              <a:rPr lang="en-US" sz="1800" dirty="0" smtClean="0"/>
              <a:t>Objective</a:t>
            </a:r>
          </a:p>
          <a:p>
            <a:pPr lvl="2"/>
            <a:r>
              <a:rPr lang="en-US" sz="1800" dirty="0" smtClean="0"/>
              <a:t>Input: interfacing </a:t>
            </a:r>
            <a:r>
              <a:rPr lang="en-US" sz="1800" dirty="0" err="1" smtClean="0"/>
              <a:t>ascii</a:t>
            </a:r>
            <a:r>
              <a:rPr lang="en-US" sz="1800" dirty="0" smtClean="0"/>
              <a:t> file with settings and parameters</a:t>
            </a:r>
          </a:p>
          <a:p>
            <a:pPr lvl="2"/>
            <a:r>
              <a:rPr lang="en-US" sz="1800" dirty="0" smtClean="0"/>
              <a:t>Output: QB </a:t>
            </a:r>
            <a:r>
              <a:rPr lang="en-US" sz="1800" dirty="0" err="1" smtClean="0"/>
              <a:t>inputfile</a:t>
            </a:r>
            <a:r>
              <a:rPr lang="en-US" sz="1800" dirty="0" smtClean="0"/>
              <a:t>, results file and/or single LSV per case</a:t>
            </a:r>
          </a:p>
          <a:p>
            <a:pPr lvl="1"/>
            <a:r>
              <a:rPr lang="en-US" sz="1800" dirty="0" smtClean="0"/>
              <a:t>Architecture:</a:t>
            </a:r>
          </a:p>
          <a:p>
            <a:pPr lvl="2"/>
            <a:r>
              <a:rPr lang="en-US" sz="1800" dirty="0" smtClean="0"/>
              <a:t> QBcreatecase.py: </a:t>
            </a:r>
          </a:p>
          <a:p>
            <a:pPr lvl="2">
              <a:buNone/>
            </a:pPr>
            <a:r>
              <a:rPr lang="en-US" sz="1800" dirty="0" smtClean="0"/>
              <a:t>	Transfers case </a:t>
            </a:r>
            <a:r>
              <a:rPr lang="en-US" sz="1800" dirty="0" err="1" smtClean="0"/>
              <a:t>ascii</a:t>
            </a:r>
            <a:r>
              <a:rPr lang="en-US" sz="1800" dirty="0" smtClean="0"/>
              <a:t> file to QB input file by updating properties for a known model, including output properties (</a:t>
            </a:r>
            <a:r>
              <a:rPr lang="en-US" sz="1800" dirty="0" err="1" smtClean="0"/>
              <a:t>pointset</a:t>
            </a:r>
            <a:r>
              <a:rPr lang="en-US" sz="1800" dirty="0" smtClean="0"/>
              <a:t>, depths, </a:t>
            </a:r>
            <a:r>
              <a:rPr lang="en-US" sz="1800" dirty="0" err="1" smtClean="0"/>
              <a:t>propout</a:t>
            </a:r>
            <a:r>
              <a:rPr lang="en-US" sz="1800" dirty="0" smtClean="0"/>
              <a:t>).</a:t>
            </a:r>
          </a:p>
          <a:p>
            <a:pPr lvl="2"/>
            <a:r>
              <a:rPr lang="en-US" sz="1800" dirty="0" smtClean="0"/>
              <a:t>  QBruncase.py:</a:t>
            </a:r>
          </a:p>
          <a:p>
            <a:pPr lvl="2">
              <a:buNone/>
            </a:pPr>
            <a:r>
              <a:rPr lang="en-US" sz="1800" dirty="0" smtClean="0"/>
              <a:t>	Runs QB core with created file using settings in </a:t>
            </a:r>
            <a:r>
              <a:rPr lang="en-US" sz="1800" dirty="0" err="1" smtClean="0"/>
              <a:t>ascii</a:t>
            </a:r>
            <a:r>
              <a:rPr lang="en-US" sz="1800" dirty="0" smtClean="0"/>
              <a:t> file in multiprocessing or normal mode</a:t>
            </a:r>
          </a:p>
          <a:p>
            <a:pPr lvl="2"/>
            <a:r>
              <a:rPr lang="en-US" sz="1800" i="1" dirty="0" smtClean="0">
                <a:solidFill>
                  <a:srgbClr val="FF0000"/>
                </a:solidFill>
              </a:rPr>
              <a:t>Currently VBA  </a:t>
            </a:r>
            <a:r>
              <a:rPr lang="en-US" sz="1800" i="1" dirty="0" smtClean="0"/>
              <a:t>Possibly: QBevalcase.py (being replaced by more general code): 	Calculate LSV based on resistance and QB results</a:t>
            </a:r>
          </a:p>
          <a:p>
            <a:pPr lvl="2">
              <a:buNone/>
            </a:pPr>
            <a:r>
              <a:rPr lang="en-US" sz="1800" dirty="0" smtClean="0"/>
              <a:t>	</a:t>
            </a:r>
          </a:p>
          <a:p>
            <a:pPr lvl="4"/>
            <a:endParaRPr lang="en-US" sz="1400" dirty="0" smtClean="0"/>
          </a:p>
          <a:p>
            <a:pPr lvl="1"/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=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smtClean="0"/>
              <a:t>November 2014</a:t>
            </a:r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 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326351" y="3120486"/>
            <a:ext cx="1572321" cy="6151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nl-NL" dirty="0" err="1" smtClean="0"/>
              <a:t>Post-processing</a:t>
            </a:r>
            <a:endParaRPr lang="nl-NL" dirty="0" smtClean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304048" y="2148470"/>
            <a:ext cx="1572321" cy="6151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nl-NL" dirty="0" err="1" smtClean="0"/>
              <a:t>QuickBlocks</a:t>
            </a:r>
            <a:endParaRPr lang="nl-NL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292897" y="1219201"/>
            <a:ext cx="1572321" cy="6151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nl-NL" dirty="0" err="1" smtClean="0"/>
              <a:t>Pre-processing</a:t>
            </a:r>
            <a:endParaRPr lang="nl-NL" dirty="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304048" y="256479"/>
            <a:ext cx="1572321" cy="61517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nl-NL" dirty="0" smtClean="0"/>
              <a:t>Model</a:t>
            </a:r>
            <a:endParaRPr lang="nl-NL" dirty="0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7783551" y="926790"/>
            <a:ext cx="0" cy="2050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7794702" y="1889512"/>
            <a:ext cx="0" cy="2050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7794703" y="2817232"/>
            <a:ext cx="0" cy="256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Formations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nl-NL" dirty="0" err="1" smtClean="0"/>
              <a:t>Failure</a:t>
            </a:r>
            <a:r>
              <a:rPr lang="nl-NL" dirty="0" smtClean="0"/>
              <a:t> modes</a:t>
            </a:r>
          </a:p>
          <a:p>
            <a:pPr lvl="1"/>
            <a:r>
              <a:rPr lang="nl-NL" dirty="0" err="1" smtClean="0"/>
              <a:t>Shear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(SCU </a:t>
            </a:r>
            <a:r>
              <a:rPr lang="nl-NL" dirty="0" err="1" smtClean="0"/>
              <a:t>from</a:t>
            </a:r>
            <a:r>
              <a:rPr lang="nl-NL" dirty="0" smtClean="0"/>
              <a:t> </a:t>
            </a:r>
            <a:r>
              <a:rPr lang="nl-NL" dirty="0" err="1" smtClean="0"/>
              <a:t>principal</a:t>
            </a:r>
            <a:r>
              <a:rPr lang="nl-NL" dirty="0" smtClean="0"/>
              <a:t> </a:t>
            </a:r>
            <a:r>
              <a:rPr lang="nl-NL" dirty="0" err="1" smtClean="0"/>
              <a:t>stresses</a:t>
            </a:r>
            <a:r>
              <a:rPr lang="nl-NL" dirty="0" smtClean="0"/>
              <a:t>)</a:t>
            </a:r>
          </a:p>
          <a:p>
            <a:pPr lvl="1"/>
            <a:r>
              <a:rPr lang="nl-NL" dirty="0" err="1" smtClean="0"/>
              <a:t>Tensile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(min </a:t>
            </a:r>
            <a:r>
              <a:rPr lang="nl-NL" dirty="0" err="1" smtClean="0"/>
              <a:t>principal</a:t>
            </a:r>
            <a:r>
              <a:rPr lang="nl-NL" dirty="0" smtClean="0"/>
              <a:t> stress)</a:t>
            </a:r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Pore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collapse</a:t>
            </a:r>
            <a:r>
              <a:rPr lang="nl-NL" dirty="0" smtClean="0">
                <a:solidFill>
                  <a:srgbClr val="FF0000"/>
                </a:solidFill>
              </a:rPr>
              <a:t> (</a:t>
            </a:r>
            <a:r>
              <a:rPr lang="nl-NL" dirty="0" err="1" smtClean="0">
                <a:solidFill>
                  <a:srgbClr val="FF0000"/>
                </a:solidFill>
              </a:rPr>
              <a:t>max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principal</a:t>
            </a:r>
            <a:r>
              <a:rPr lang="nl-NL" dirty="0" smtClean="0">
                <a:solidFill>
                  <a:srgbClr val="FF0000"/>
                </a:solidFill>
              </a:rPr>
              <a:t> stress)</a:t>
            </a:r>
          </a:p>
          <a:p>
            <a:pPr lvl="1"/>
            <a:r>
              <a:rPr lang="nl-NL" dirty="0" err="1" smtClean="0"/>
              <a:t>Compression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</a:t>
            </a:r>
            <a:r>
              <a:rPr lang="nl-NL" dirty="0" err="1" smtClean="0"/>
              <a:t>max</a:t>
            </a:r>
            <a:r>
              <a:rPr lang="nl-NL" dirty="0" smtClean="0"/>
              <a:t> </a:t>
            </a:r>
            <a:r>
              <a:rPr lang="nl-NL" dirty="0" err="1" smtClean="0"/>
              <a:t>principal</a:t>
            </a:r>
            <a:r>
              <a:rPr lang="nl-NL" dirty="0" smtClean="0"/>
              <a:t> </a:t>
            </a:r>
            <a:r>
              <a:rPr lang="nl-NL" dirty="0" err="1" smtClean="0"/>
              <a:t>strain</a:t>
            </a:r>
            <a:r>
              <a:rPr lang="nl-NL" dirty="0" smtClean="0"/>
              <a:t>)</a:t>
            </a:r>
          </a:p>
          <a:p>
            <a:pPr lvl="1"/>
            <a:r>
              <a:rPr lang="nl-NL" dirty="0" err="1" smtClean="0"/>
              <a:t>Extension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(min </a:t>
            </a:r>
            <a:r>
              <a:rPr lang="nl-NL" dirty="0" err="1" smtClean="0"/>
              <a:t>principal</a:t>
            </a:r>
            <a:r>
              <a:rPr lang="nl-NL" dirty="0" smtClean="0"/>
              <a:t> </a:t>
            </a:r>
            <a:r>
              <a:rPr lang="nl-NL" dirty="0" err="1" smtClean="0"/>
              <a:t>strain</a:t>
            </a:r>
            <a:r>
              <a:rPr lang="nl-NL" dirty="0" smtClean="0"/>
              <a:t>)</a:t>
            </a:r>
          </a:p>
          <a:p>
            <a:pPr lvl="1"/>
            <a:r>
              <a:rPr lang="nl-NL" dirty="0" err="1" smtClean="0"/>
              <a:t>Compaction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</a:t>
            </a:r>
            <a:r>
              <a:rPr lang="nl-NL" dirty="0" err="1" smtClean="0"/>
              <a:t>max</a:t>
            </a:r>
            <a:r>
              <a:rPr lang="nl-NL" dirty="0" smtClean="0"/>
              <a:t> </a:t>
            </a:r>
            <a:r>
              <a:rPr lang="nl-NL" dirty="0" err="1" smtClean="0"/>
              <a:t>Ez</a:t>
            </a:r>
            <a:r>
              <a:rPr lang="nl-NL" dirty="0" smtClean="0"/>
              <a:t>)</a:t>
            </a:r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Elongation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failure</a:t>
            </a:r>
            <a:r>
              <a:rPr lang="nl-NL" dirty="0" smtClean="0">
                <a:solidFill>
                  <a:srgbClr val="FF0000"/>
                </a:solidFill>
              </a:rPr>
              <a:t> (min </a:t>
            </a:r>
            <a:r>
              <a:rPr lang="nl-NL" dirty="0" err="1" smtClean="0">
                <a:solidFill>
                  <a:srgbClr val="FF0000"/>
                </a:solidFill>
              </a:rPr>
              <a:t>Ez</a:t>
            </a:r>
            <a:r>
              <a:rPr lang="nl-NL" dirty="0" smtClean="0">
                <a:solidFill>
                  <a:srgbClr val="FF0000"/>
                </a:solidFill>
              </a:rPr>
              <a:t>)</a:t>
            </a:r>
          </a:p>
          <a:p>
            <a:endParaRPr lang="nl-NL" dirty="0" smtClean="0"/>
          </a:p>
          <a:p>
            <a:r>
              <a:rPr lang="nl-NL" dirty="0" smtClean="0"/>
              <a:t>Types</a:t>
            </a:r>
          </a:p>
          <a:p>
            <a:pPr lvl="1"/>
            <a:r>
              <a:rPr lang="nl-NL" dirty="0" smtClean="0"/>
              <a:t>Volume G</a:t>
            </a:r>
          </a:p>
          <a:p>
            <a:pPr lvl="1"/>
            <a:r>
              <a:rPr lang="nl-NL" dirty="0" err="1" smtClean="0"/>
              <a:t>Gridplanes</a:t>
            </a:r>
            <a:endParaRPr lang="nl-NL" dirty="0" smtClean="0"/>
          </a:p>
          <a:p>
            <a:pPr lvl="1"/>
            <a:r>
              <a:rPr lang="nl-NL" dirty="0" err="1" smtClean="0"/>
              <a:t>Formation</a:t>
            </a:r>
            <a:r>
              <a:rPr lang="nl-NL" dirty="0" smtClean="0"/>
              <a:t> name</a:t>
            </a:r>
          </a:p>
          <a:p>
            <a:pPr lvl="1">
              <a:buNone/>
            </a:pPr>
            <a:r>
              <a:rPr lang="nl-NL" dirty="0" err="1" smtClean="0"/>
              <a:t>Note</a:t>
            </a:r>
            <a:r>
              <a:rPr lang="nl-NL" dirty="0" smtClean="0"/>
              <a:t>: </a:t>
            </a:r>
            <a:r>
              <a:rPr lang="nl-NL" dirty="0" err="1" smtClean="0"/>
              <a:t>only</a:t>
            </a:r>
            <a:r>
              <a:rPr lang="nl-NL" dirty="0" smtClean="0"/>
              <a:t> </a:t>
            </a:r>
            <a:r>
              <a:rPr lang="nl-NL" dirty="0" err="1" smtClean="0"/>
              <a:t>gridplanes</a:t>
            </a:r>
            <a:r>
              <a:rPr lang="nl-NL" dirty="0" smtClean="0"/>
              <a:t> </a:t>
            </a:r>
            <a:r>
              <a:rPr lang="nl-NL" dirty="0" err="1" smtClean="0"/>
              <a:t>rotates</a:t>
            </a:r>
            <a:r>
              <a:rPr lang="nl-NL" dirty="0" smtClean="0"/>
              <a:t> volume </a:t>
            </a:r>
            <a:r>
              <a:rPr lang="nl-NL" dirty="0" err="1" smtClean="0"/>
              <a:t>with</a:t>
            </a:r>
            <a:r>
              <a:rPr lang="nl-NL" dirty="0" smtClean="0"/>
              <a:t> </a:t>
            </a:r>
            <a:r>
              <a:rPr lang="nl-NL" dirty="0" err="1" smtClean="0"/>
              <a:t>blocks</a:t>
            </a:r>
            <a:r>
              <a:rPr lang="nl-NL" dirty="0" smtClean="0"/>
              <a:t> (</a:t>
            </a:r>
            <a:r>
              <a:rPr lang="nl-NL" dirty="0" err="1" smtClean="0"/>
              <a:t>blocks.angle</a:t>
            </a:r>
            <a:r>
              <a:rPr lang="nl-NL" smtClean="0"/>
              <a:t> &lt;&gt;0)</a:t>
            </a:r>
            <a:endParaRPr lang="nl-NL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Faults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Failure</a:t>
            </a:r>
            <a:r>
              <a:rPr lang="nl-NL" dirty="0" smtClean="0"/>
              <a:t> modes</a:t>
            </a:r>
          </a:p>
          <a:p>
            <a:pPr lvl="1"/>
            <a:r>
              <a:rPr lang="nl-NL" dirty="0" err="1" smtClean="0"/>
              <a:t>Shear</a:t>
            </a:r>
            <a:r>
              <a:rPr lang="nl-NL" dirty="0" smtClean="0"/>
              <a:t> </a:t>
            </a:r>
            <a:r>
              <a:rPr lang="nl-NL" dirty="0" err="1" smtClean="0"/>
              <a:t>failure</a:t>
            </a:r>
            <a:r>
              <a:rPr lang="nl-NL" dirty="0" smtClean="0"/>
              <a:t> (</a:t>
            </a:r>
            <a:r>
              <a:rPr lang="nl-NL" dirty="0" err="1" smtClean="0"/>
              <a:t>rotated</a:t>
            </a:r>
            <a:r>
              <a:rPr lang="nl-NL" dirty="0" smtClean="0"/>
              <a:t> </a:t>
            </a:r>
            <a:r>
              <a:rPr lang="nl-NL" dirty="0" err="1" smtClean="0"/>
              <a:t>stresses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full element set)</a:t>
            </a:r>
          </a:p>
          <a:p>
            <a:endParaRPr lang="nl-NL" dirty="0" smtClean="0"/>
          </a:p>
          <a:p>
            <a:r>
              <a:rPr lang="nl-NL" dirty="0" smtClean="0"/>
              <a:t>Types</a:t>
            </a:r>
          </a:p>
          <a:p>
            <a:pPr lvl="1"/>
            <a:r>
              <a:rPr lang="nl-NL" dirty="0" err="1" smtClean="0"/>
              <a:t>Template</a:t>
            </a:r>
            <a:endParaRPr lang="nl-NL" dirty="0" smtClean="0"/>
          </a:p>
          <a:p>
            <a:pPr lvl="1"/>
            <a:r>
              <a:rPr lang="nl-NL" dirty="0" err="1" smtClean="0"/>
              <a:t>GoCad</a:t>
            </a:r>
            <a:r>
              <a:rPr lang="nl-NL" dirty="0" smtClean="0"/>
              <a:t> file (.</a:t>
            </a:r>
            <a:r>
              <a:rPr lang="nl-NL" dirty="0" err="1" smtClean="0"/>
              <a:t>mx</a:t>
            </a:r>
            <a:r>
              <a:rPr lang="nl-NL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Wells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Failure</a:t>
            </a:r>
            <a:r>
              <a:rPr lang="nl-NL" dirty="0" smtClean="0"/>
              <a:t> modes</a:t>
            </a:r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Shear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failure</a:t>
            </a:r>
            <a:r>
              <a:rPr lang="nl-NL" dirty="0" smtClean="0">
                <a:solidFill>
                  <a:srgbClr val="FF0000"/>
                </a:solidFill>
              </a:rPr>
              <a:t> (</a:t>
            </a:r>
            <a:r>
              <a:rPr lang="nl-NL" dirty="0" err="1" smtClean="0">
                <a:solidFill>
                  <a:srgbClr val="FF0000"/>
                </a:solidFill>
              </a:rPr>
              <a:t>see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formation</a:t>
            </a:r>
            <a:r>
              <a:rPr lang="nl-NL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Tensile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failure</a:t>
            </a:r>
            <a:r>
              <a:rPr lang="nl-NL" dirty="0" smtClean="0">
                <a:solidFill>
                  <a:srgbClr val="FF0000"/>
                </a:solidFill>
              </a:rPr>
              <a:t> (</a:t>
            </a:r>
            <a:r>
              <a:rPr lang="nl-NL" dirty="0" err="1" smtClean="0">
                <a:solidFill>
                  <a:srgbClr val="FF0000"/>
                </a:solidFill>
              </a:rPr>
              <a:t>see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formation</a:t>
            </a:r>
            <a:r>
              <a:rPr lang="nl-NL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nl-NL" dirty="0" err="1" smtClean="0"/>
              <a:t>Axial</a:t>
            </a:r>
            <a:r>
              <a:rPr lang="nl-NL" dirty="0" smtClean="0"/>
              <a:t> </a:t>
            </a:r>
            <a:r>
              <a:rPr lang="nl-NL" dirty="0" err="1" smtClean="0"/>
              <a:t>compression</a:t>
            </a:r>
            <a:endParaRPr lang="nl-NL" dirty="0" smtClean="0"/>
          </a:p>
          <a:p>
            <a:pPr lvl="1"/>
            <a:r>
              <a:rPr lang="nl-NL" dirty="0" err="1" smtClean="0"/>
              <a:t>Axial</a:t>
            </a:r>
            <a:r>
              <a:rPr lang="nl-NL" dirty="0" smtClean="0"/>
              <a:t> </a:t>
            </a:r>
            <a:r>
              <a:rPr lang="nl-NL" dirty="0" err="1" smtClean="0"/>
              <a:t>extension</a:t>
            </a:r>
            <a:endParaRPr lang="nl-NL" dirty="0" smtClean="0"/>
          </a:p>
          <a:p>
            <a:pPr lvl="1"/>
            <a:endParaRPr lang="nl-NL" dirty="0" smtClean="0"/>
          </a:p>
          <a:p>
            <a:r>
              <a:rPr lang="nl-NL" dirty="0" smtClean="0"/>
              <a:t>Types</a:t>
            </a:r>
          </a:p>
          <a:p>
            <a:pPr lvl="1"/>
            <a:r>
              <a:rPr lang="nl-NL" dirty="0" err="1" smtClean="0"/>
              <a:t>Template</a:t>
            </a:r>
            <a:endParaRPr lang="nl-NL" dirty="0" smtClean="0"/>
          </a:p>
          <a:p>
            <a:pPr lvl="1"/>
            <a:r>
              <a:rPr lang="nl-NL" dirty="0" err="1" smtClean="0">
                <a:solidFill>
                  <a:srgbClr val="FF0000"/>
                </a:solidFill>
              </a:rPr>
              <a:t>Not</a:t>
            </a:r>
            <a:r>
              <a:rPr lang="nl-NL" dirty="0" smtClean="0">
                <a:solidFill>
                  <a:srgbClr val="FF0000"/>
                </a:solidFill>
              </a:rPr>
              <a:t> </a:t>
            </a:r>
            <a:r>
              <a:rPr lang="nl-NL" dirty="0" err="1" smtClean="0">
                <a:solidFill>
                  <a:srgbClr val="FF0000"/>
                </a:solidFill>
              </a:rPr>
              <a:t>tested</a:t>
            </a:r>
            <a:r>
              <a:rPr lang="nl-NL" dirty="0" smtClean="0">
                <a:solidFill>
                  <a:srgbClr val="FF0000"/>
                </a:solidFill>
              </a:rPr>
              <a:t>: 3D </a:t>
            </a:r>
            <a:r>
              <a:rPr lang="nl-NL" dirty="0" err="1" smtClean="0">
                <a:solidFill>
                  <a:srgbClr val="FF0000"/>
                </a:solidFill>
              </a:rPr>
              <a:t>pointset</a:t>
            </a:r>
            <a:r>
              <a:rPr lang="nl-NL" dirty="0" smtClean="0">
                <a:solidFill>
                  <a:srgbClr val="FF0000"/>
                </a:solidFill>
              </a:rPr>
              <a:t> file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Subsidence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Failure</a:t>
            </a:r>
            <a:r>
              <a:rPr lang="nl-NL" dirty="0" smtClean="0"/>
              <a:t> modes</a:t>
            </a:r>
          </a:p>
          <a:p>
            <a:pPr lvl="1"/>
            <a:r>
              <a:rPr lang="nl-NL" dirty="0" err="1" smtClean="0"/>
              <a:t>Subsidence</a:t>
            </a:r>
            <a:endParaRPr lang="nl-NL" dirty="0" smtClean="0"/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Upheave</a:t>
            </a:r>
            <a:endParaRPr lang="nl-NL" dirty="0" smtClean="0">
              <a:solidFill>
                <a:srgbClr val="FF0000"/>
              </a:solidFill>
            </a:endParaRPr>
          </a:p>
          <a:p>
            <a:pPr lvl="1"/>
            <a:endParaRPr lang="nl-NL" dirty="0" smtClean="0">
              <a:solidFill>
                <a:srgbClr val="FF0000"/>
              </a:solidFill>
            </a:endParaRPr>
          </a:p>
          <a:p>
            <a:r>
              <a:rPr lang="nl-NL" dirty="0" smtClean="0"/>
              <a:t>Type</a:t>
            </a:r>
          </a:p>
          <a:p>
            <a:pPr lvl="1"/>
            <a:r>
              <a:rPr lang="nl-NL" dirty="0" err="1" smtClean="0"/>
              <a:t>Gridplane</a:t>
            </a:r>
            <a:r>
              <a:rPr lang="nl-NL" dirty="0" smtClean="0"/>
              <a:t> @ </a:t>
            </a:r>
            <a:r>
              <a:rPr lang="nl-NL" dirty="0" err="1" smtClean="0"/>
              <a:t>surface</a:t>
            </a:r>
            <a:endParaRPr lang="nl-NL" dirty="0" smtClean="0"/>
          </a:p>
          <a:p>
            <a:pPr lvl="1"/>
            <a:r>
              <a:rPr lang="nl-NL" dirty="0" smtClean="0">
                <a:solidFill>
                  <a:srgbClr val="FF0000"/>
                </a:solidFill>
              </a:rPr>
              <a:t>Later: </a:t>
            </a:r>
            <a:r>
              <a:rPr lang="nl-NL" dirty="0" err="1" smtClean="0">
                <a:solidFill>
                  <a:srgbClr val="FF0000"/>
                </a:solidFill>
              </a:rPr>
              <a:t>pointset</a:t>
            </a:r>
            <a:r>
              <a:rPr lang="nl-NL" dirty="0" smtClean="0">
                <a:solidFill>
                  <a:srgbClr val="FF0000"/>
                </a:solidFill>
              </a:rPr>
              <a:t> @ </a:t>
            </a:r>
            <a:r>
              <a:rPr lang="nl-NL" dirty="0" err="1" smtClean="0">
                <a:solidFill>
                  <a:srgbClr val="FF0000"/>
                </a:solidFill>
              </a:rPr>
              <a:t>surface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Background information </a:t>
            </a:r>
            <a:r>
              <a:rPr lang="en-GB" dirty="0" err="1" smtClean="0"/>
              <a:t>QuickBlocks</a:t>
            </a:r>
            <a:r>
              <a:rPr lang="en-GB" dirty="0" smtClean="0"/>
              <a:t> PRE- &amp; post-processing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2013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5174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In </a:t>
            </a:r>
            <a:r>
              <a:rPr lang="nl-NL" dirty="0" err="1" smtClean="0"/>
              <a:t>situ</a:t>
            </a:r>
            <a:r>
              <a:rPr lang="nl-NL" dirty="0" smtClean="0"/>
              <a:t> stress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S</a:t>
            </a:r>
            <a:r>
              <a:rPr lang="nl-NL" baseline="-25000" dirty="0" err="1" smtClean="0"/>
              <a:t>v</a:t>
            </a:r>
            <a:r>
              <a:rPr lang="nl-NL" dirty="0" smtClean="0"/>
              <a:t>,S</a:t>
            </a:r>
            <a:r>
              <a:rPr lang="nl-NL" baseline="-25000" dirty="0" smtClean="0"/>
              <a:t>H</a:t>
            </a:r>
            <a:r>
              <a:rPr lang="nl-NL" dirty="0" smtClean="0"/>
              <a:t>,</a:t>
            </a:r>
            <a:r>
              <a:rPr lang="nl-NL" dirty="0" err="1" smtClean="0"/>
              <a:t>S</a:t>
            </a:r>
            <a:r>
              <a:rPr lang="nl-NL" baseline="-25000" dirty="0" err="1" smtClean="0"/>
              <a:t>h</a:t>
            </a:r>
            <a:r>
              <a:rPr lang="nl-NL" dirty="0" smtClean="0"/>
              <a:t> to S</a:t>
            </a:r>
            <a:r>
              <a:rPr lang="nl-NL" baseline="-25000" dirty="0" smtClean="0"/>
              <a:t>NN</a:t>
            </a:r>
            <a:r>
              <a:rPr lang="nl-NL" dirty="0" smtClean="0"/>
              <a:t>,S</a:t>
            </a:r>
            <a:r>
              <a:rPr lang="nl-NL" baseline="-25000" dirty="0" smtClean="0"/>
              <a:t>EE</a:t>
            </a:r>
            <a:r>
              <a:rPr lang="nl-NL" dirty="0" smtClean="0"/>
              <a:t>,S</a:t>
            </a:r>
            <a:r>
              <a:rPr lang="nl-NL" baseline="-25000" dirty="0" smtClean="0"/>
              <a:t>DD</a:t>
            </a:r>
            <a:r>
              <a:rPr lang="nl-NL" dirty="0" smtClean="0"/>
              <a:t> system</a:t>
            </a:r>
          </a:p>
          <a:p>
            <a:endParaRPr lang="nl-NL" sz="2000" dirty="0" smtClean="0"/>
          </a:p>
          <a:p>
            <a:r>
              <a:rPr lang="nl-NL" sz="2000" dirty="0" err="1" smtClean="0"/>
              <a:t>S</a:t>
            </a:r>
            <a:r>
              <a:rPr lang="nl-NL" sz="2000" baseline="-25000" dirty="0" err="1" smtClean="0"/>
              <a:t>v</a:t>
            </a:r>
            <a:r>
              <a:rPr lang="nl-NL" sz="2000" dirty="0" smtClean="0"/>
              <a:t> = S</a:t>
            </a:r>
            <a:r>
              <a:rPr lang="nl-NL" sz="2000" baseline="-25000" dirty="0" smtClean="0"/>
              <a:t>DD</a:t>
            </a:r>
          </a:p>
          <a:p>
            <a:r>
              <a:rPr lang="nl-NL" sz="2000" dirty="0" smtClean="0"/>
              <a:t>S</a:t>
            </a:r>
            <a:r>
              <a:rPr lang="nl-NL" sz="2000" baseline="-25000" dirty="0" smtClean="0"/>
              <a:t>EE</a:t>
            </a:r>
            <a:r>
              <a:rPr lang="nl-NL" sz="2000" dirty="0" smtClean="0"/>
              <a:t> = 0.5[(S</a:t>
            </a:r>
            <a:r>
              <a:rPr lang="nl-NL" sz="2000" baseline="-25000" dirty="0" smtClean="0"/>
              <a:t>H</a:t>
            </a:r>
            <a:r>
              <a:rPr lang="nl-NL" sz="2000" dirty="0" smtClean="0"/>
              <a:t> + </a:t>
            </a:r>
            <a:r>
              <a:rPr lang="nl-NL" sz="2000" dirty="0" err="1" smtClean="0"/>
              <a:t>S</a:t>
            </a:r>
            <a:r>
              <a:rPr lang="nl-NL" sz="2000" baseline="-25000" dirty="0" err="1" smtClean="0"/>
              <a:t>h</a:t>
            </a:r>
            <a:r>
              <a:rPr lang="nl-NL" sz="2000" dirty="0" smtClean="0"/>
              <a:t> )-(S</a:t>
            </a:r>
            <a:r>
              <a:rPr lang="nl-NL" sz="2000" baseline="-25000" dirty="0" smtClean="0"/>
              <a:t>H</a:t>
            </a:r>
            <a:r>
              <a:rPr lang="nl-NL" sz="2000" dirty="0" smtClean="0"/>
              <a:t> - </a:t>
            </a:r>
            <a:r>
              <a:rPr lang="nl-NL" sz="2000" dirty="0" err="1" smtClean="0"/>
              <a:t>S</a:t>
            </a:r>
            <a:r>
              <a:rPr lang="nl-NL" sz="2000" baseline="-25000" dirty="0" err="1" smtClean="0"/>
              <a:t>h</a:t>
            </a:r>
            <a:r>
              <a:rPr lang="nl-NL" sz="2000" dirty="0" smtClean="0"/>
              <a:t> )cos(2azi)]</a:t>
            </a:r>
          </a:p>
          <a:p>
            <a:r>
              <a:rPr lang="nl-NL" sz="2000" dirty="0" smtClean="0"/>
              <a:t>S</a:t>
            </a:r>
            <a:r>
              <a:rPr lang="nl-NL" sz="2000" baseline="-25000" dirty="0" smtClean="0"/>
              <a:t>NN</a:t>
            </a:r>
            <a:r>
              <a:rPr lang="nl-NL" sz="2000" dirty="0" smtClean="0"/>
              <a:t> = 0.5[(S</a:t>
            </a:r>
            <a:r>
              <a:rPr lang="nl-NL" sz="2000" baseline="-25000" dirty="0" smtClean="0"/>
              <a:t>H</a:t>
            </a:r>
            <a:r>
              <a:rPr lang="nl-NL" sz="2000" dirty="0" smtClean="0"/>
              <a:t> + </a:t>
            </a:r>
            <a:r>
              <a:rPr lang="nl-NL" sz="2000" dirty="0" err="1" smtClean="0"/>
              <a:t>S</a:t>
            </a:r>
            <a:r>
              <a:rPr lang="nl-NL" sz="2000" baseline="-25000" dirty="0" err="1" smtClean="0"/>
              <a:t>h</a:t>
            </a:r>
            <a:r>
              <a:rPr lang="nl-NL" sz="2000" dirty="0" smtClean="0"/>
              <a:t> )+(S</a:t>
            </a:r>
            <a:r>
              <a:rPr lang="nl-NL" sz="2000" baseline="-25000" dirty="0" smtClean="0"/>
              <a:t>H</a:t>
            </a:r>
            <a:r>
              <a:rPr lang="nl-NL" sz="2000" dirty="0" smtClean="0"/>
              <a:t> - </a:t>
            </a:r>
            <a:r>
              <a:rPr lang="nl-NL" sz="2000" dirty="0" err="1" smtClean="0"/>
              <a:t>S</a:t>
            </a:r>
            <a:r>
              <a:rPr lang="nl-NL" sz="2000" baseline="-25000" dirty="0" err="1" smtClean="0"/>
              <a:t>h</a:t>
            </a:r>
            <a:r>
              <a:rPr lang="nl-NL" sz="2000" dirty="0" smtClean="0"/>
              <a:t> )cos(2azi)]</a:t>
            </a:r>
          </a:p>
          <a:p>
            <a:r>
              <a:rPr lang="nl-NL" sz="2000" dirty="0" smtClean="0"/>
              <a:t>S</a:t>
            </a:r>
            <a:r>
              <a:rPr lang="nl-NL" sz="2000" baseline="-25000" dirty="0" smtClean="0"/>
              <a:t>EE</a:t>
            </a:r>
            <a:r>
              <a:rPr lang="nl-NL" sz="2000" dirty="0" smtClean="0"/>
              <a:t> = 0.5(S</a:t>
            </a:r>
            <a:r>
              <a:rPr lang="nl-NL" sz="2000" baseline="-25000" dirty="0" smtClean="0"/>
              <a:t>H</a:t>
            </a:r>
            <a:r>
              <a:rPr lang="nl-NL" sz="2000" dirty="0" smtClean="0"/>
              <a:t> - </a:t>
            </a:r>
            <a:r>
              <a:rPr lang="nl-NL" sz="2000" dirty="0" err="1" smtClean="0"/>
              <a:t>S</a:t>
            </a:r>
            <a:r>
              <a:rPr lang="nl-NL" sz="2000" baseline="-25000" dirty="0" err="1" smtClean="0"/>
              <a:t>h</a:t>
            </a:r>
            <a:r>
              <a:rPr lang="nl-NL" sz="2000" dirty="0" smtClean="0"/>
              <a:t> )sin(2azi)</a:t>
            </a:r>
          </a:p>
          <a:p>
            <a:endParaRPr lang="nl-NL" baseline="-25000" dirty="0" smtClean="0"/>
          </a:p>
          <a:p>
            <a:endParaRPr lang="nl-NL" baseline="-250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4800600"/>
            <a:ext cx="3917294" cy="1659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29"/>
          <p:cNvGrpSpPr/>
          <p:nvPr/>
        </p:nvGrpSpPr>
        <p:grpSpPr>
          <a:xfrm>
            <a:off x="6111522" y="2438400"/>
            <a:ext cx="2110154" cy="1828800"/>
            <a:chOff x="1014046" y="1905000"/>
            <a:chExt cx="2110154" cy="1828800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1014046" y="1905000"/>
              <a:ext cx="2110154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1014046" y="1905000"/>
              <a:ext cx="0" cy="182880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>
            <a:off x="6088076" y="2438400"/>
            <a:ext cx="465124" cy="12192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92730" y="22098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N,y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35676" y="4191000"/>
            <a:ext cx="47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E,x</a:t>
            </a:r>
            <a:endParaRPr lang="en-US" dirty="0"/>
          </a:p>
        </p:txBody>
      </p:sp>
      <p:sp>
        <p:nvSpPr>
          <p:cNvPr id="13" name="Arc 12"/>
          <p:cNvSpPr/>
          <p:nvPr/>
        </p:nvSpPr>
        <p:spPr>
          <a:xfrm rot="3918118">
            <a:off x="6126331" y="2355142"/>
            <a:ext cx="228600" cy="381000"/>
          </a:xfrm>
          <a:prstGeom prst="arc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 smtClean="0"/>
              <a:t>azi</a:t>
            </a:r>
            <a:endParaRPr lang="en-US" sz="1400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5486400" y="2438400"/>
            <a:ext cx="609600" cy="2286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67400" y="2514600"/>
            <a:ext cx="76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5943600" y="2667000"/>
            <a:ext cx="2286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57800" y="259080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 smtClean="0"/>
              <a:t>S</a:t>
            </a:r>
            <a:r>
              <a:rPr lang="nl-NL" baseline="-25000" dirty="0" err="1" smtClean="0"/>
              <a:t>h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248400" y="3505200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S</a:t>
            </a:r>
            <a:r>
              <a:rPr lang="nl-NL" baseline="-25000" dirty="0" smtClean="0"/>
              <a:t>H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029200"/>
            <a:ext cx="31527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4419600"/>
            <a:ext cx="204787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Component </a:t>
            </a:r>
            <a:r>
              <a:rPr lang="nl-NL" dirty="0" err="1" smtClean="0"/>
              <a:t>definitions</a:t>
            </a:r>
            <a:r>
              <a:rPr lang="nl-NL" dirty="0" smtClean="0"/>
              <a:t> in </a:t>
            </a:r>
            <a:r>
              <a:rPr lang="nl-NL" dirty="0" err="1" smtClean="0"/>
              <a:t>Qbmodi</a:t>
            </a:r>
            <a:r>
              <a:rPr lang="nl-NL" dirty="0" smtClean="0"/>
              <a:t> (1)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57200" y="4495800"/>
            <a:ext cx="71399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 smtClean="0"/>
              <a:t>Formation</a:t>
            </a:r>
          </a:p>
          <a:p>
            <a:r>
              <a:rPr lang="nl-NL" sz="1400" dirty="0" err="1" smtClean="0"/>
              <a:t>Template</a:t>
            </a:r>
            <a:r>
              <a:rPr lang="nl-NL" sz="1400" dirty="0" smtClean="0"/>
              <a:t> volume (</a:t>
            </a:r>
            <a:r>
              <a:rPr lang="nl-NL" sz="1400" dirty="0" err="1" smtClean="0"/>
              <a:t>see</a:t>
            </a:r>
            <a:r>
              <a:rPr lang="nl-NL" sz="1400" dirty="0" smtClean="0"/>
              <a:t> picture; </a:t>
            </a:r>
            <a:r>
              <a:rPr lang="nl-NL" sz="1400" dirty="0" err="1" smtClean="0"/>
              <a:t>segH</a:t>
            </a:r>
            <a:r>
              <a:rPr lang="nl-NL" sz="1400" dirty="0" smtClean="0"/>
              <a:t>,</a:t>
            </a:r>
            <a:r>
              <a:rPr lang="nl-NL" sz="1400" dirty="0" err="1" smtClean="0"/>
              <a:t>segV</a:t>
            </a:r>
            <a:r>
              <a:rPr lang="nl-NL" sz="1400" dirty="0" smtClean="0"/>
              <a:t> view </a:t>
            </a:r>
            <a:r>
              <a:rPr lang="nl-NL" sz="1400" dirty="0" err="1" smtClean="0"/>
              <a:t>discretization</a:t>
            </a:r>
            <a:r>
              <a:rPr lang="nl-NL" sz="1400" dirty="0" smtClean="0"/>
              <a:t>; sample </a:t>
            </a:r>
            <a:r>
              <a:rPr lang="nl-NL" sz="1400" dirty="0" err="1" smtClean="0"/>
              <a:t>for</a:t>
            </a:r>
            <a:r>
              <a:rPr lang="nl-NL" sz="1400" dirty="0" smtClean="0"/>
              <a:t> </a:t>
            </a:r>
            <a:r>
              <a:rPr lang="nl-NL" sz="1400" dirty="0" err="1" smtClean="0"/>
              <a:t>calculation</a:t>
            </a:r>
            <a:r>
              <a:rPr lang="nl-NL" sz="1400" dirty="0" smtClean="0"/>
              <a:t> </a:t>
            </a:r>
            <a:r>
              <a:rPr lang="nl-NL" sz="1400" dirty="0" err="1" smtClean="0"/>
              <a:t>depths</a:t>
            </a:r>
            <a:r>
              <a:rPr lang="nl-NL" sz="1400" dirty="0" smtClean="0"/>
              <a:t>)</a:t>
            </a:r>
          </a:p>
          <a:p>
            <a:r>
              <a:rPr lang="nl-NL" sz="1400" dirty="0" err="1" smtClean="0"/>
              <a:t>Template</a:t>
            </a:r>
            <a:r>
              <a:rPr lang="nl-NL" sz="1400" dirty="0" smtClean="0"/>
              <a:t> </a:t>
            </a:r>
            <a:r>
              <a:rPr lang="nl-NL" sz="1400" dirty="0" err="1" smtClean="0"/>
              <a:t>gridplane</a:t>
            </a:r>
            <a:r>
              <a:rPr lang="nl-NL" sz="1400" dirty="0" smtClean="0"/>
              <a:t> (view </a:t>
            </a:r>
            <a:r>
              <a:rPr lang="nl-NL" sz="1400" dirty="0" err="1" smtClean="0"/>
              <a:t>points</a:t>
            </a:r>
            <a:r>
              <a:rPr lang="nl-NL" sz="1400" dirty="0" smtClean="0"/>
              <a:t> + </a:t>
            </a:r>
            <a:r>
              <a:rPr lang="nl-NL" sz="1400" dirty="0" err="1" smtClean="0"/>
              <a:t>depths</a:t>
            </a:r>
            <a:r>
              <a:rPr lang="nl-NL" sz="1400" dirty="0" smtClean="0"/>
              <a:t>)</a:t>
            </a:r>
          </a:p>
          <a:p>
            <a:r>
              <a:rPr lang="nl-NL" sz="1400" dirty="0" smtClean="0"/>
              <a:t>Name (of </a:t>
            </a:r>
            <a:r>
              <a:rPr lang="nl-NL" sz="1400" dirty="0" err="1" smtClean="0"/>
              <a:t>formation</a:t>
            </a:r>
            <a:r>
              <a:rPr lang="nl-NL" sz="1400" dirty="0" smtClean="0"/>
              <a:t>/</a:t>
            </a:r>
            <a:r>
              <a:rPr lang="nl-NL" sz="1400" dirty="0" err="1" smtClean="0"/>
              <a:t>layer</a:t>
            </a:r>
            <a:r>
              <a:rPr lang="nl-NL" sz="1400" dirty="0" smtClean="0"/>
              <a:t>; </a:t>
            </a:r>
            <a:r>
              <a:rPr lang="nl-NL" sz="1400" dirty="0" err="1" smtClean="0"/>
              <a:t>segH</a:t>
            </a:r>
            <a:r>
              <a:rPr lang="nl-NL" sz="1400" dirty="0" smtClean="0"/>
              <a:t>,</a:t>
            </a:r>
            <a:r>
              <a:rPr lang="nl-NL" sz="1400" dirty="0" err="1" smtClean="0"/>
              <a:t>segV</a:t>
            </a:r>
            <a:r>
              <a:rPr lang="nl-NL" sz="1400" dirty="0" smtClean="0"/>
              <a:t> view </a:t>
            </a:r>
            <a:r>
              <a:rPr lang="nl-NL" sz="1400" dirty="0" err="1" smtClean="0"/>
              <a:t>discretization</a:t>
            </a:r>
            <a:r>
              <a:rPr lang="nl-NL" sz="1400" dirty="0" smtClean="0"/>
              <a:t>; sample </a:t>
            </a:r>
            <a:r>
              <a:rPr lang="nl-NL" sz="1400" dirty="0" err="1" smtClean="0"/>
              <a:t>for</a:t>
            </a:r>
            <a:r>
              <a:rPr lang="nl-NL" sz="1400" dirty="0" smtClean="0"/>
              <a:t> </a:t>
            </a:r>
            <a:r>
              <a:rPr lang="nl-NL" sz="1400" dirty="0" err="1" smtClean="0"/>
              <a:t>calculation</a:t>
            </a:r>
            <a:r>
              <a:rPr lang="nl-NL" sz="1400" dirty="0" smtClean="0"/>
              <a:t> </a:t>
            </a:r>
            <a:r>
              <a:rPr lang="nl-NL" sz="1400" dirty="0" err="1" smtClean="0"/>
              <a:t>depths</a:t>
            </a:r>
            <a:r>
              <a:rPr lang="nl-NL" sz="1400" dirty="0" smtClean="0"/>
              <a:t>)</a:t>
            </a:r>
            <a:endParaRPr lang="en-US" sz="1400" dirty="0"/>
          </a:p>
        </p:txBody>
      </p:sp>
      <p:grpSp>
        <p:nvGrpSpPr>
          <p:cNvPr id="2" name="Group 59"/>
          <p:cNvGrpSpPr/>
          <p:nvPr/>
        </p:nvGrpSpPr>
        <p:grpSpPr>
          <a:xfrm>
            <a:off x="2309164" y="1783080"/>
            <a:ext cx="3430579" cy="2350532"/>
            <a:chOff x="160324" y="1676400"/>
            <a:chExt cx="3430579" cy="2350532"/>
          </a:xfrm>
        </p:grpSpPr>
        <p:grpSp>
          <p:nvGrpSpPr>
            <p:cNvPr id="3" name="Group 29"/>
            <p:cNvGrpSpPr/>
            <p:nvPr/>
          </p:nvGrpSpPr>
          <p:grpSpPr>
            <a:xfrm>
              <a:off x="381000" y="1905000"/>
              <a:ext cx="2743200" cy="1828800"/>
              <a:chOff x="381000" y="1905000"/>
              <a:chExt cx="2743200" cy="18288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381000" y="1905000"/>
                <a:ext cx="633046" cy="6096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1014046" y="1905000"/>
                <a:ext cx="211015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1014046" y="1905000"/>
                <a:ext cx="0" cy="18288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28"/>
            <p:cNvGrpSpPr/>
            <p:nvPr/>
          </p:nvGrpSpPr>
          <p:grpSpPr>
            <a:xfrm>
              <a:off x="609600" y="1905000"/>
              <a:ext cx="1600200" cy="381000"/>
              <a:chOff x="609600" y="1905000"/>
              <a:chExt cx="1600200" cy="381000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 flipH="1">
                <a:off x="1828800" y="1905000"/>
                <a:ext cx="381000" cy="38100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609600" y="2286000"/>
                <a:ext cx="1219200" cy="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990600" y="1905000"/>
                <a:ext cx="838200" cy="381000"/>
              </a:xfrm>
              <a:prstGeom prst="line">
                <a:avLst/>
              </a:prstGeom>
              <a:ln w="9525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/>
            <p:cNvCxnSpPr/>
            <p:nvPr/>
          </p:nvCxnSpPr>
          <p:spPr>
            <a:xfrm>
              <a:off x="1828800" y="2286000"/>
              <a:ext cx="0" cy="838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095254" y="1676400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N,y</a:t>
              </a:r>
              <a:endParaRPr 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60324" y="23622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E,x</a:t>
              </a:r>
              <a:endParaRPr 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38200" y="3657600"/>
              <a:ext cx="47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D,z</a:t>
              </a:r>
              <a:endParaRPr lang="en-US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09800" y="2194561"/>
              <a:ext cx="6629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 err="1" smtClean="0"/>
                <a:t>height</a:t>
              </a:r>
              <a:endParaRPr lang="en-US" sz="1400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8600" y="1676400"/>
            <a:ext cx="8953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Rectangle 62"/>
          <p:cNvSpPr/>
          <p:nvPr/>
        </p:nvSpPr>
        <p:spPr>
          <a:xfrm>
            <a:off x="2758440" y="2392680"/>
            <a:ext cx="1226820" cy="838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54680" y="2011680"/>
            <a:ext cx="1226820" cy="838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3970020" y="2019300"/>
            <a:ext cx="411480" cy="381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758440" y="2019300"/>
            <a:ext cx="411480" cy="381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3970020" y="2849880"/>
            <a:ext cx="411480" cy="381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2758440" y="2857500"/>
            <a:ext cx="411480" cy="381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392680" y="1958341"/>
            <a:ext cx="76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 smtClean="0"/>
              <a:t>widthE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3421380" y="1775461"/>
            <a:ext cx="76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 smtClean="0"/>
              <a:t>widthN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Component </a:t>
            </a:r>
            <a:r>
              <a:rPr lang="nl-NL" dirty="0" err="1" smtClean="0"/>
              <a:t>definitions</a:t>
            </a:r>
            <a:r>
              <a:rPr lang="nl-NL" dirty="0" smtClean="0"/>
              <a:t> in </a:t>
            </a:r>
            <a:r>
              <a:rPr lang="nl-NL" dirty="0" err="1" smtClean="0"/>
              <a:t>Qbmodi</a:t>
            </a:r>
            <a:r>
              <a:rPr lang="nl-NL" dirty="0" smtClean="0"/>
              <a:t> (2)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57201" y="4495800"/>
            <a:ext cx="3733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 smtClean="0"/>
              <a:t>Well</a:t>
            </a:r>
            <a:endParaRPr lang="nl-NL" b="1" dirty="0" smtClean="0"/>
          </a:p>
          <a:p>
            <a:r>
              <a:rPr lang="nl-NL" sz="1400" dirty="0" smtClean="0"/>
              <a:t>The </a:t>
            </a:r>
            <a:r>
              <a:rPr lang="nl-NL" sz="1400" dirty="0" err="1" smtClean="0"/>
              <a:t>azimuth</a:t>
            </a:r>
            <a:r>
              <a:rPr lang="nl-NL" sz="1400" dirty="0" smtClean="0"/>
              <a:t> is </a:t>
            </a:r>
            <a:r>
              <a:rPr lang="nl-NL" sz="1400" dirty="0" err="1" smtClean="0"/>
              <a:t>angle</a:t>
            </a:r>
            <a:r>
              <a:rPr lang="nl-NL" sz="1400" dirty="0" smtClean="0"/>
              <a:t> </a:t>
            </a:r>
            <a:r>
              <a:rPr lang="nl-NL" sz="1400" dirty="0" err="1" smtClean="0"/>
              <a:t>from</a:t>
            </a:r>
            <a:r>
              <a:rPr lang="nl-NL" sz="1400" dirty="0" smtClean="0"/>
              <a:t> </a:t>
            </a:r>
            <a:r>
              <a:rPr lang="nl-NL" sz="1400" dirty="0" err="1" smtClean="0"/>
              <a:t>Northing</a:t>
            </a:r>
            <a:r>
              <a:rPr lang="nl-NL" sz="1400" dirty="0" smtClean="0"/>
              <a:t> </a:t>
            </a:r>
            <a:r>
              <a:rPr lang="nl-NL" sz="1400" dirty="0" err="1" smtClean="0"/>
              <a:t>clockwise</a:t>
            </a:r>
            <a:endParaRPr lang="nl-NL" sz="1400" dirty="0" smtClean="0"/>
          </a:p>
          <a:p>
            <a:r>
              <a:rPr lang="nl-NL" sz="1400" dirty="0" smtClean="0"/>
              <a:t>The dip is </a:t>
            </a:r>
            <a:r>
              <a:rPr lang="nl-NL" sz="1400" dirty="0" err="1" smtClean="0"/>
              <a:t>angle</a:t>
            </a:r>
            <a:r>
              <a:rPr lang="nl-NL" sz="1400" dirty="0" smtClean="0"/>
              <a:t> </a:t>
            </a:r>
            <a:r>
              <a:rPr lang="nl-NL" sz="1400" dirty="0" err="1" smtClean="0"/>
              <a:t>with</a:t>
            </a:r>
            <a:r>
              <a:rPr lang="nl-NL" sz="1400" dirty="0" smtClean="0"/>
              <a:t> </a:t>
            </a:r>
            <a:r>
              <a:rPr lang="nl-NL" sz="1400" dirty="0" err="1" smtClean="0"/>
              <a:t>vertical</a:t>
            </a:r>
            <a:r>
              <a:rPr lang="nl-NL" sz="1400" dirty="0" smtClean="0"/>
              <a:t> </a:t>
            </a:r>
            <a:r>
              <a:rPr lang="nl-NL" sz="1400" dirty="0" err="1" smtClean="0"/>
              <a:t>anticlockwise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4572000" y="4419600"/>
            <a:ext cx="361304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 err="1" smtClean="0"/>
              <a:t>Fault</a:t>
            </a:r>
            <a:endParaRPr lang="nl-NL" b="1" dirty="0" smtClean="0"/>
          </a:p>
          <a:p>
            <a:r>
              <a:rPr lang="nl-NL" sz="1400" dirty="0" smtClean="0"/>
              <a:t>The </a:t>
            </a:r>
            <a:r>
              <a:rPr lang="nl-NL" sz="1400" dirty="0" err="1" smtClean="0"/>
              <a:t>azimuth</a:t>
            </a:r>
            <a:r>
              <a:rPr lang="nl-NL" sz="1400" dirty="0" smtClean="0"/>
              <a:t> is </a:t>
            </a:r>
            <a:r>
              <a:rPr lang="nl-NL" sz="1400" dirty="0" err="1" smtClean="0"/>
              <a:t>direction</a:t>
            </a:r>
            <a:r>
              <a:rPr lang="nl-NL" sz="1400" dirty="0" smtClean="0"/>
              <a:t> </a:t>
            </a:r>
            <a:r>
              <a:rPr lang="nl-NL" sz="1400" dirty="0" err="1" smtClean="0"/>
              <a:t>ball</a:t>
            </a:r>
            <a:r>
              <a:rPr lang="nl-NL" sz="1400" dirty="0" smtClean="0"/>
              <a:t> </a:t>
            </a:r>
            <a:r>
              <a:rPr lang="nl-NL" sz="1400" dirty="0" err="1" smtClean="0"/>
              <a:t>rolls</a:t>
            </a:r>
            <a:r>
              <a:rPr lang="nl-NL" sz="1400" dirty="0" smtClean="0"/>
              <a:t>, </a:t>
            </a:r>
            <a:r>
              <a:rPr lang="nl-NL" sz="1400" dirty="0" err="1" smtClean="0"/>
              <a:t>wrt</a:t>
            </a:r>
            <a:r>
              <a:rPr lang="nl-NL" sz="1400" dirty="0" smtClean="0"/>
              <a:t> </a:t>
            </a:r>
            <a:r>
              <a:rPr lang="nl-NL" sz="1400" dirty="0" err="1" smtClean="0"/>
              <a:t>Northing</a:t>
            </a:r>
            <a:endParaRPr lang="nl-NL" sz="1400" dirty="0" smtClean="0"/>
          </a:p>
          <a:p>
            <a:r>
              <a:rPr lang="nl-NL" sz="1400" dirty="0" smtClean="0"/>
              <a:t>The dip is the </a:t>
            </a:r>
            <a:r>
              <a:rPr lang="nl-NL" sz="1400" dirty="0" err="1" smtClean="0"/>
              <a:t>angle</a:t>
            </a:r>
            <a:r>
              <a:rPr lang="nl-NL" sz="1400" dirty="0" smtClean="0"/>
              <a:t> </a:t>
            </a:r>
            <a:r>
              <a:rPr lang="nl-NL" sz="1400" dirty="0" err="1" smtClean="0"/>
              <a:t>with</a:t>
            </a:r>
            <a:r>
              <a:rPr lang="nl-NL" sz="1400" dirty="0" smtClean="0"/>
              <a:t> horizontal, </a:t>
            </a:r>
            <a:r>
              <a:rPr lang="nl-NL" sz="1400" dirty="0" err="1" smtClean="0"/>
              <a:t>clockwise</a:t>
            </a:r>
            <a:endParaRPr lang="en-US" sz="1200" dirty="0"/>
          </a:p>
        </p:txBody>
      </p:sp>
      <p:grpSp>
        <p:nvGrpSpPr>
          <p:cNvPr id="2" name="Group 59"/>
          <p:cNvGrpSpPr/>
          <p:nvPr/>
        </p:nvGrpSpPr>
        <p:grpSpPr>
          <a:xfrm>
            <a:off x="160324" y="1676400"/>
            <a:ext cx="3430579" cy="2350532"/>
            <a:chOff x="160324" y="1676400"/>
            <a:chExt cx="3430579" cy="2350532"/>
          </a:xfrm>
        </p:grpSpPr>
        <p:grpSp>
          <p:nvGrpSpPr>
            <p:cNvPr id="3" name="Group 29"/>
            <p:cNvGrpSpPr/>
            <p:nvPr/>
          </p:nvGrpSpPr>
          <p:grpSpPr>
            <a:xfrm>
              <a:off x="381000" y="1905000"/>
              <a:ext cx="2743200" cy="1828800"/>
              <a:chOff x="381000" y="1905000"/>
              <a:chExt cx="2743200" cy="18288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381000" y="1905000"/>
                <a:ext cx="633046" cy="6096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1014046" y="1905000"/>
                <a:ext cx="211015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1014046" y="1905000"/>
                <a:ext cx="0" cy="18288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/>
            <p:cNvCxnSpPr/>
            <p:nvPr/>
          </p:nvCxnSpPr>
          <p:spPr>
            <a:xfrm>
              <a:off x="990600" y="19050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28"/>
            <p:cNvGrpSpPr/>
            <p:nvPr/>
          </p:nvGrpSpPr>
          <p:grpSpPr>
            <a:xfrm>
              <a:off x="609600" y="1905000"/>
              <a:ext cx="1600200" cy="381000"/>
              <a:chOff x="609600" y="1905000"/>
              <a:chExt cx="1600200" cy="381000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 flipH="1">
                <a:off x="1828800" y="1905000"/>
                <a:ext cx="381000" cy="38100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609600" y="2286000"/>
                <a:ext cx="1219200" cy="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990600" y="1905000"/>
                <a:ext cx="838200" cy="381000"/>
              </a:xfrm>
              <a:prstGeom prst="line">
                <a:avLst/>
              </a:prstGeom>
              <a:ln w="9525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/>
            <p:cNvCxnSpPr/>
            <p:nvPr/>
          </p:nvCxnSpPr>
          <p:spPr>
            <a:xfrm>
              <a:off x="1828800" y="2286000"/>
              <a:ext cx="0" cy="838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095254" y="1676400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N,y</a:t>
              </a:r>
              <a:endParaRPr 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60324" y="23622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E,x</a:t>
              </a:r>
              <a:endParaRPr 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38200" y="3657600"/>
              <a:ext cx="47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D,z</a:t>
              </a:r>
              <a:endParaRPr lang="en-US" dirty="0"/>
            </a:p>
          </p:txBody>
        </p:sp>
        <p:sp>
          <p:nvSpPr>
            <p:cNvPr id="69" name="Arc 68"/>
            <p:cNvSpPr/>
            <p:nvPr/>
          </p:nvSpPr>
          <p:spPr>
            <a:xfrm rot="3918118">
              <a:off x="1325732" y="1821742"/>
              <a:ext cx="228600" cy="381000"/>
            </a:xfrm>
            <a:prstGeom prst="arc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600200" y="19050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/>
                <a:t>azi</a:t>
              </a:r>
              <a:endParaRPr lang="en-US" sz="1400" dirty="0"/>
            </a:p>
          </p:txBody>
        </p:sp>
        <p:sp>
          <p:nvSpPr>
            <p:cNvPr id="71" name="Arc 70"/>
            <p:cNvSpPr/>
            <p:nvPr/>
          </p:nvSpPr>
          <p:spPr>
            <a:xfrm rot="6383544">
              <a:off x="904922" y="2087927"/>
              <a:ext cx="377315" cy="419238"/>
            </a:xfrm>
            <a:prstGeom prst="arc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0600" y="2514601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 smtClean="0"/>
                <a:t>dip</a:t>
              </a:r>
              <a:endParaRPr lang="en-US" sz="1400" dirty="0"/>
            </a:p>
          </p:txBody>
        </p:sp>
      </p:grpSp>
      <p:grpSp>
        <p:nvGrpSpPr>
          <p:cNvPr id="6" name="Group 46"/>
          <p:cNvGrpSpPr/>
          <p:nvPr/>
        </p:nvGrpSpPr>
        <p:grpSpPr>
          <a:xfrm>
            <a:off x="4114800" y="1752600"/>
            <a:ext cx="3438503" cy="2362200"/>
            <a:chOff x="4114800" y="1752600"/>
            <a:chExt cx="3438503" cy="2362200"/>
          </a:xfrm>
        </p:grpSpPr>
        <p:cxnSp>
          <p:nvCxnSpPr>
            <p:cNvPr id="35" name="Straight Connector 34"/>
            <p:cNvCxnSpPr/>
            <p:nvPr/>
          </p:nvCxnSpPr>
          <p:spPr>
            <a:xfrm flipH="1">
              <a:off x="4267200" y="1981200"/>
              <a:ext cx="685800" cy="228600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35"/>
            <p:cNvGrpSpPr/>
            <p:nvPr/>
          </p:nvGrpSpPr>
          <p:grpSpPr>
            <a:xfrm>
              <a:off x="4343400" y="1981200"/>
              <a:ext cx="2743200" cy="1828800"/>
              <a:chOff x="381000" y="1905000"/>
              <a:chExt cx="2743200" cy="1828800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 flipH="1">
                <a:off x="381000" y="1905000"/>
                <a:ext cx="633046" cy="6096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>
                <a:off x="1014046" y="1905000"/>
                <a:ext cx="211015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>
                <a:off x="1014046" y="1905000"/>
                <a:ext cx="0" cy="18288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/>
            <p:cNvCxnSpPr/>
            <p:nvPr/>
          </p:nvCxnSpPr>
          <p:spPr>
            <a:xfrm>
              <a:off x="4953000" y="19812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40"/>
            <p:cNvGrpSpPr/>
            <p:nvPr/>
          </p:nvGrpSpPr>
          <p:grpSpPr>
            <a:xfrm>
              <a:off x="4572000" y="1981200"/>
              <a:ext cx="1600200" cy="381000"/>
              <a:chOff x="609600" y="1905000"/>
              <a:chExt cx="1600200" cy="381000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 flipH="1">
                <a:off x="1828800" y="1905000"/>
                <a:ext cx="381000" cy="38100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609600" y="2286000"/>
                <a:ext cx="1219200" cy="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990600" y="1905000"/>
                <a:ext cx="838200" cy="381000"/>
              </a:xfrm>
              <a:prstGeom prst="line">
                <a:avLst/>
              </a:prstGeom>
              <a:ln w="9525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/>
            <p:cNvCxnSpPr/>
            <p:nvPr/>
          </p:nvCxnSpPr>
          <p:spPr>
            <a:xfrm>
              <a:off x="5791200" y="2362200"/>
              <a:ext cx="0" cy="838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4267200" y="22098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5105400" y="3200400"/>
              <a:ext cx="685800" cy="228600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4114800" y="245006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E,x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92676" y="3745468"/>
              <a:ext cx="47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D,z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57654" y="1752600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N,y</a:t>
              </a:r>
              <a:endParaRPr 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67200" y="1828800"/>
              <a:ext cx="6046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/>
                <a:t>width</a:t>
              </a:r>
              <a:endParaRPr lang="en-US" sz="14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419600" y="3048000"/>
              <a:ext cx="6494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/>
                <a:t>height</a:t>
              </a:r>
              <a:endParaRPr lang="en-US" sz="1400" dirty="0"/>
            </a:p>
          </p:txBody>
        </p:sp>
        <p:cxnSp>
          <p:nvCxnSpPr>
            <p:cNvPr id="61" name="Straight Connector 60"/>
            <p:cNvCxnSpPr/>
            <p:nvPr/>
          </p:nvCxnSpPr>
          <p:spPr>
            <a:xfrm flipV="1">
              <a:off x="4343400" y="2286000"/>
              <a:ext cx="1524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 flipV="1">
              <a:off x="4419600" y="2133600"/>
              <a:ext cx="762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5105400" y="2133600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 smtClean="0"/>
                <a:t>dip</a:t>
              </a:r>
              <a:endParaRPr lang="en-US" sz="1400" dirty="0"/>
            </a:p>
          </p:txBody>
        </p:sp>
        <p:sp>
          <p:nvSpPr>
            <p:cNvPr id="75" name="Arc 74"/>
            <p:cNvSpPr/>
            <p:nvPr/>
          </p:nvSpPr>
          <p:spPr>
            <a:xfrm rot="3918118">
              <a:off x="5209494" y="1897942"/>
              <a:ext cx="228600" cy="381000"/>
            </a:xfrm>
            <a:prstGeom prst="arc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334000" y="17526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/>
                <a:t>azi</a:t>
              </a:r>
              <a:endParaRPr lang="en-US" sz="1400" dirty="0"/>
            </a:p>
          </p:txBody>
        </p:sp>
        <p:sp>
          <p:nvSpPr>
            <p:cNvPr id="62" name="Arc 61"/>
            <p:cNvSpPr/>
            <p:nvPr/>
          </p:nvSpPr>
          <p:spPr>
            <a:xfrm rot="6383544">
              <a:off x="4866282" y="1859328"/>
              <a:ext cx="377315" cy="419238"/>
            </a:xfrm>
            <a:prstGeom prst="arc">
              <a:avLst>
                <a:gd name="adj1" fmla="val 16200000"/>
                <a:gd name="adj2" fmla="val 19039130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8600" y="1676400"/>
            <a:ext cx="8953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Well</a:t>
            </a:r>
            <a:r>
              <a:rPr lang="nl-NL" dirty="0" smtClean="0"/>
              <a:t> </a:t>
            </a:r>
            <a:r>
              <a:rPr lang="nl-NL" dirty="0" err="1" smtClean="0"/>
              <a:t>path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5800" y="1524000"/>
          <a:ext cx="38466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2222280" imgH="660240" progId="Equation.3">
                  <p:embed/>
                </p:oleObj>
              </mc:Choice>
              <mc:Fallback>
                <p:oleObj name="Equation" r:id="rId3" imgW="2222280" imgH="660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4000"/>
                        <a:ext cx="3846637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"/>
          <p:cNvGrpSpPr/>
          <p:nvPr/>
        </p:nvGrpSpPr>
        <p:grpSpPr>
          <a:xfrm>
            <a:off x="5334000" y="1295400"/>
            <a:ext cx="3430579" cy="2350532"/>
            <a:chOff x="160324" y="1676400"/>
            <a:chExt cx="3430579" cy="2350532"/>
          </a:xfrm>
        </p:grpSpPr>
        <p:grpSp>
          <p:nvGrpSpPr>
            <p:cNvPr id="5" name="Group 29"/>
            <p:cNvGrpSpPr/>
            <p:nvPr/>
          </p:nvGrpSpPr>
          <p:grpSpPr>
            <a:xfrm>
              <a:off x="381000" y="1905000"/>
              <a:ext cx="2743200" cy="1828800"/>
              <a:chOff x="381000" y="1905000"/>
              <a:chExt cx="2743200" cy="1828800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 flipH="1">
                <a:off x="381000" y="1905000"/>
                <a:ext cx="633046" cy="6096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1014046" y="1905000"/>
                <a:ext cx="211015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1014046" y="1905000"/>
                <a:ext cx="0" cy="18288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/>
            <p:cNvCxnSpPr/>
            <p:nvPr/>
          </p:nvCxnSpPr>
          <p:spPr>
            <a:xfrm>
              <a:off x="990600" y="19050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28"/>
            <p:cNvGrpSpPr/>
            <p:nvPr/>
          </p:nvGrpSpPr>
          <p:grpSpPr>
            <a:xfrm>
              <a:off x="609600" y="1905000"/>
              <a:ext cx="1600200" cy="381000"/>
              <a:chOff x="609600" y="1905000"/>
              <a:chExt cx="1600200" cy="381000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 flipH="1">
                <a:off x="1828800" y="1905000"/>
                <a:ext cx="381000" cy="38100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609600" y="2286000"/>
                <a:ext cx="1219200" cy="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990600" y="1905000"/>
                <a:ext cx="838200" cy="381000"/>
              </a:xfrm>
              <a:prstGeom prst="line">
                <a:avLst/>
              </a:prstGeom>
              <a:ln w="9525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>
              <a:off x="1828800" y="2286000"/>
              <a:ext cx="0" cy="838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095254" y="1676400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N,y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0324" y="23622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E,x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8200" y="3657600"/>
              <a:ext cx="47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/>
                <a:t>D,z</a:t>
              </a:r>
              <a:endParaRPr lang="en-US" dirty="0"/>
            </a:p>
          </p:txBody>
        </p:sp>
        <p:sp>
          <p:nvSpPr>
            <p:cNvPr id="14" name="Arc 13"/>
            <p:cNvSpPr/>
            <p:nvPr/>
          </p:nvSpPr>
          <p:spPr>
            <a:xfrm rot="3918118">
              <a:off x="1325732" y="1821742"/>
              <a:ext cx="228600" cy="381000"/>
            </a:xfrm>
            <a:prstGeom prst="arc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00200" y="19050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/>
                <a:t>azi</a:t>
              </a:r>
              <a:endParaRPr lang="en-US" sz="1400" dirty="0"/>
            </a:p>
          </p:txBody>
        </p:sp>
        <p:sp>
          <p:nvSpPr>
            <p:cNvPr id="16" name="Arc 15"/>
            <p:cNvSpPr/>
            <p:nvPr/>
          </p:nvSpPr>
          <p:spPr>
            <a:xfrm rot="6383544">
              <a:off x="904922" y="2087927"/>
              <a:ext cx="377315" cy="419238"/>
            </a:xfrm>
            <a:prstGeom prst="arc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0600" y="2514601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 smtClean="0"/>
                <a:t>dip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 smtClean="0"/>
              <a:t>Fault</a:t>
            </a:r>
            <a:r>
              <a:rPr lang="nl-NL" dirty="0" smtClean="0"/>
              <a:t> </a:t>
            </a:r>
            <a:r>
              <a:rPr lang="nl-NL" dirty="0" err="1" smtClean="0"/>
              <a:t>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sz="1600" dirty="0" smtClean="0"/>
              <a:t>Center point</a:t>
            </a:r>
            <a:endParaRPr lang="en-US" sz="1600" dirty="0" smtClean="0"/>
          </a:p>
          <a:p>
            <a:pPr lvl="1"/>
            <a:r>
              <a:rPr lang="en-US" sz="1400" dirty="0" err="1" smtClean="0"/>
              <a:t>HeartE</a:t>
            </a:r>
            <a:r>
              <a:rPr lang="en-US" sz="1400" dirty="0" smtClean="0"/>
              <a:t> = Egrid.min()+(Egrid.max()-Egrid.min())/2.</a:t>
            </a:r>
          </a:p>
          <a:p>
            <a:pPr lvl="1"/>
            <a:r>
              <a:rPr lang="en-US" sz="1400" dirty="0" err="1" smtClean="0"/>
              <a:t>HeartN</a:t>
            </a:r>
            <a:r>
              <a:rPr lang="en-US" sz="1400" dirty="0" smtClean="0"/>
              <a:t> = Ngrid.min()+(Ngrid.max()-Ngrid.min())/2.</a:t>
            </a:r>
          </a:p>
          <a:p>
            <a:pPr lvl="1"/>
            <a:r>
              <a:rPr lang="en-US" sz="1400" dirty="0" err="1" smtClean="0"/>
              <a:t>HeartD</a:t>
            </a:r>
            <a:r>
              <a:rPr lang="en-US" sz="1400" dirty="0" smtClean="0"/>
              <a:t> = Dgrid.min()+(Dgrid.max()-Dgrid.min())/2.</a:t>
            </a:r>
          </a:p>
          <a:p>
            <a:pPr lvl="1"/>
            <a:endParaRPr lang="en-US" sz="1400" dirty="0" smtClean="0"/>
          </a:p>
          <a:p>
            <a:r>
              <a:rPr lang="nl-NL" sz="1600" dirty="0" err="1" smtClean="0"/>
              <a:t>Vectors</a:t>
            </a:r>
            <a:endParaRPr lang="en-US" sz="1600" dirty="0" smtClean="0"/>
          </a:p>
          <a:p>
            <a:pPr lvl="1"/>
            <a:r>
              <a:rPr lang="en-US" sz="1400" dirty="0" smtClean="0"/>
              <a:t>Normal = [np.sin(dip)*</a:t>
            </a:r>
            <a:r>
              <a:rPr lang="en-US" sz="1400" dirty="0" err="1" smtClean="0"/>
              <a:t>np.cos</a:t>
            </a:r>
            <a:r>
              <a:rPr lang="en-US" sz="1400" dirty="0" smtClean="0"/>
              <a:t>(</a:t>
            </a:r>
            <a:r>
              <a:rPr lang="en-US" sz="1400" dirty="0" err="1" smtClean="0"/>
              <a:t>azi</a:t>
            </a:r>
            <a:r>
              <a:rPr lang="en-US" sz="1400" dirty="0" smtClean="0"/>
              <a:t>), np.sin(dip)*</a:t>
            </a:r>
            <a:r>
              <a:rPr lang="en-US" sz="1400" dirty="0" err="1" smtClean="0"/>
              <a:t>np.sin</a:t>
            </a:r>
            <a:r>
              <a:rPr lang="en-US" sz="1400" dirty="0" smtClean="0"/>
              <a:t>(</a:t>
            </a:r>
            <a:r>
              <a:rPr lang="en-US" sz="1400" dirty="0" err="1" smtClean="0"/>
              <a:t>azi</a:t>
            </a:r>
            <a:r>
              <a:rPr lang="en-US" sz="1400" dirty="0" smtClean="0"/>
              <a:t>), -np.cos(dip)]</a:t>
            </a:r>
          </a:p>
          <a:p>
            <a:pPr lvl="1"/>
            <a:r>
              <a:rPr lang="en-US" sz="1400" dirty="0" smtClean="0">
                <a:solidFill>
                  <a:srgbClr val="FF0000"/>
                </a:solidFill>
              </a:rPr>
              <a:t>Shear</a:t>
            </a:r>
            <a:r>
              <a:rPr lang="en-US" sz="1400" dirty="0" smtClean="0"/>
              <a:t> = [np.cos(dip)*</a:t>
            </a:r>
            <a:r>
              <a:rPr lang="en-US" sz="1400" dirty="0" err="1" smtClean="0"/>
              <a:t>np.cos</a:t>
            </a:r>
            <a:r>
              <a:rPr lang="en-US" sz="1400" dirty="0" smtClean="0"/>
              <a:t>(</a:t>
            </a:r>
            <a:r>
              <a:rPr lang="en-US" sz="1400" dirty="0" err="1" smtClean="0"/>
              <a:t>azi</a:t>
            </a:r>
            <a:r>
              <a:rPr lang="en-US" sz="1400" dirty="0" smtClean="0"/>
              <a:t>), np.cos(dip)*</a:t>
            </a:r>
            <a:r>
              <a:rPr lang="en-US" sz="1400" dirty="0" err="1" smtClean="0"/>
              <a:t>np.sin</a:t>
            </a:r>
            <a:r>
              <a:rPr lang="en-US" sz="1400" dirty="0" smtClean="0"/>
              <a:t>(</a:t>
            </a:r>
            <a:r>
              <a:rPr lang="en-US" sz="1400" dirty="0" err="1" smtClean="0"/>
              <a:t>azi</a:t>
            </a:r>
            <a:r>
              <a:rPr lang="en-US" sz="1400" dirty="0" smtClean="0"/>
              <a:t>), np.sin(dip)]</a:t>
            </a:r>
          </a:p>
          <a:p>
            <a:pPr lvl="1"/>
            <a:r>
              <a:rPr 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Strike</a:t>
            </a:r>
            <a:r>
              <a:rPr lang="en-US" sz="1400" dirty="0" smtClean="0"/>
              <a:t> = [-np.sin(</a:t>
            </a:r>
            <a:r>
              <a:rPr lang="en-US" sz="1400" dirty="0" err="1" smtClean="0"/>
              <a:t>azi</a:t>
            </a:r>
            <a:r>
              <a:rPr lang="en-US" sz="1400" dirty="0" smtClean="0"/>
              <a:t>), np.cos(</a:t>
            </a:r>
            <a:r>
              <a:rPr lang="en-US" sz="1400" dirty="0" err="1" smtClean="0"/>
              <a:t>azi</a:t>
            </a:r>
            <a:r>
              <a:rPr lang="en-US" sz="1400" dirty="0" smtClean="0"/>
              <a:t>), 0]</a:t>
            </a:r>
            <a:endParaRPr lang="en-US" sz="1400" dirty="0"/>
          </a:p>
        </p:txBody>
      </p:sp>
      <p:grpSp>
        <p:nvGrpSpPr>
          <p:cNvPr id="5" name="Group 3"/>
          <p:cNvGrpSpPr/>
          <p:nvPr/>
        </p:nvGrpSpPr>
        <p:grpSpPr>
          <a:xfrm>
            <a:off x="5196841" y="1424940"/>
            <a:ext cx="3490287" cy="3135071"/>
            <a:chOff x="4114800" y="1684460"/>
            <a:chExt cx="2507933" cy="2336231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4267200" y="1981200"/>
              <a:ext cx="685800" cy="228600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35"/>
            <p:cNvGrpSpPr/>
            <p:nvPr/>
          </p:nvGrpSpPr>
          <p:grpSpPr>
            <a:xfrm>
              <a:off x="4343400" y="1981200"/>
              <a:ext cx="2038183" cy="1828800"/>
              <a:chOff x="381000" y="1905000"/>
              <a:chExt cx="2038183" cy="18288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 flipH="1">
                <a:off x="381000" y="1905000"/>
                <a:ext cx="633046" cy="6096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1014046" y="1905000"/>
                <a:ext cx="1405137" cy="4213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1014046" y="1905000"/>
                <a:ext cx="0" cy="18288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/>
            <p:cNvCxnSpPr/>
            <p:nvPr/>
          </p:nvCxnSpPr>
          <p:spPr>
            <a:xfrm>
              <a:off x="4953000" y="19812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40"/>
            <p:cNvGrpSpPr/>
            <p:nvPr/>
          </p:nvGrpSpPr>
          <p:grpSpPr>
            <a:xfrm>
              <a:off x="4572000" y="1981200"/>
              <a:ext cx="1600200" cy="381000"/>
              <a:chOff x="609600" y="1905000"/>
              <a:chExt cx="1600200" cy="381000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828800" y="1905000"/>
                <a:ext cx="381000" cy="38100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609600" y="2286000"/>
                <a:ext cx="1219200" cy="0"/>
              </a:xfrm>
              <a:prstGeom prst="straightConnector1">
                <a:avLst/>
              </a:prstGeom>
              <a:ln w="9525">
                <a:solidFill>
                  <a:srgbClr val="0070C0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990600" y="1905000"/>
                <a:ext cx="838200" cy="381000"/>
              </a:xfrm>
              <a:prstGeom prst="line">
                <a:avLst/>
              </a:prstGeom>
              <a:ln w="9525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>
              <a:off x="5791200" y="2362200"/>
              <a:ext cx="0" cy="838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4267200" y="2209800"/>
              <a:ext cx="838200" cy="12192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105400" y="3200400"/>
              <a:ext cx="685800" cy="228600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114800" y="2450068"/>
              <a:ext cx="348084" cy="27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>
                  <a:solidFill>
                    <a:srgbClr val="0070C0"/>
                  </a:solidFill>
                </a:rPr>
                <a:t>E,x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92676" y="3745468"/>
              <a:ext cx="373424" cy="27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>
                  <a:solidFill>
                    <a:srgbClr val="0070C0"/>
                  </a:solidFill>
                </a:rPr>
                <a:t>D,z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30880" y="1684460"/>
              <a:ext cx="391853" cy="27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smtClean="0">
                  <a:solidFill>
                    <a:srgbClr val="0070C0"/>
                  </a:solidFill>
                </a:rPr>
                <a:t>N,y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267200" y="1828800"/>
              <a:ext cx="427560" cy="229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>
                  <a:solidFill>
                    <a:srgbClr val="0070C0"/>
                  </a:solidFill>
                </a:rPr>
                <a:t>width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19600" y="3048000"/>
              <a:ext cx="466722" cy="229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>
                  <a:solidFill>
                    <a:srgbClr val="0070C0"/>
                  </a:solidFill>
                </a:rPr>
                <a:t>height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4343400" y="2286000"/>
              <a:ext cx="1524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 flipV="1">
              <a:off x="4419600" y="2133600"/>
              <a:ext cx="762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105400" y="2133600"/>
              <a:ext cx="457200" cy="229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 smtClean="0">
                  <a:solidFill>
                    <a:srgbClr val="0070C0"/>
                  </a:solidFill>
                </a:rPr>
                <a:t>dip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21" name="Arc 20"/>
            <p:cNvSpPr/>
            <p:nvPr/>
          </p:nvSpPr>
          <p:spPr>
            <a:xfrm rot="3918118">
              <a:off x="5209494" y="1897942"/>
              <a:ext cx="228600" cy="381000"/>
            </a:xfrm>
            <a:prstGeom prst="arc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34000" y="1752600"/>
              <a:ext cx="299707" cy="229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err="1" smtClean="0">
                  <a:solidFill>
                    <a:srgbClr val="0070C0"/>
                  </a:solidFill>
                </a:rPr>
                <a:t>azi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23" name="Arc 22"/>
            <p:cNvSpPr/>
            <p:nvPr/>
          </p:nvSpPr>
          <p:spPr>
            <a:xfrm rot="6383544">
              <a:off x="4866282" y="1859328"/>
              <a:ext cx="377315" cy="419238"/>
            </a:xfrm>
            <a:prstGeom prst="arc">
              <a:avLst>
                <a:gd name="adj1" fmla="val 16200000"/>
                <a:gd name="adj2" fmla="val 19039130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>
            <a:off x="5873137" y="1988820"/>
            <a:ext cx="1144883" cy="1623060"/>
          </a:xfrm>
          <a:prstGeom prst="straightConnector1">
            <a:avLst/>
          </a:prstGeom>
          <a:ln w="19050">
            <a:solidFill>
              <a:srgbClr val="92D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5949337" y="2598420"/>
            <a:ext cx="946763" cy="320040"/>
          </a:xfrm>
          <a:prstGeom prst="line">
            <a:avLst/>
          </a:prstGeom>
          <a:ln w="1905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Workflow</a:t>
            </a:r>
            <a:r>
              <a:rPr lang="nl-NL" dirty="0" smtClean="0"/>
              <a:t> </a:t>
            </a:r>
            <a:r>
              <a:rPr lang="nl-NL" dirty="0" err="1" smtClean="0"/>
              <a:t>Fault</a:t>
            </a:r>
            <a:r>
              <a:rPr lang="nl-NL" dirty="0" smtClean="0"/>
              <a:t> </a:t>
            </a:r>
            <a:r>
              <a:rPr lang="nl-NL" dirty="0" err="1" smtClean="0"/>
              <a:t>evaluation</a:t>
            </a:r>
            <a:endParaRPr lang="en-US" dirty="0"/>
          </a:p>
        </p:txBody>
      </p:sp>
      <p:sp>
        <p:nvSpPr>
          <p:cNvPr id="95" name="Content Placeholder 9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NL" dirty="0" err="1" smtClean="0"/>
              <a:t>Failure</a:t>
            </a:r>
            <a:r>
              <a:rPr lang="nl-NL" dirty="0" smtClean="0"/>
              <a:t> </a:t>
            </a:r>
            <a:r>
              <a:rPr lang="nl-NL" dirty="0" err="1" smtClean="0"/>
              <a:t>mechanism</a:t>
            </a:r>
            <a:r>
              <a:rPr lang="nl-NL" dirty="0" smtClean="0"/>
              <a:t>: </a:t>
            </a:r>
            <a:r>
              <a:rPr lang="nl-NL" dirty="0" err="1" smtClean="0"/>
              <a:t>Fault</a:t>
            </a:r>
            <a:r>
              <a:rPr lang="nl-NL" dirty="0" smtClean="0"/>
              <a:t> SCU</a:t>
            </a:r>
          </a:p>
          <a:p>
            <a:r>
              <a:rPr lang="nl-NL" dirty="0" smtClean="0"/>
              <a:t>Input: </a:t>
            </a:r>
            <a:r>
              <a:rPr lang="nl-NL" dirty="0" err="1" smtClean="0"/>
              <a:t>fault</a:t>
            </a:r>
            <a:r>
              <a:rPr lang="nl-NL" dirty="0" smtClean="0"/>
              <a:t> </a:t>
            </a:r>
            <a:r>
              <a:rPr lang="nl-NL" dirty="0" err="1" smtClean="0"/>
              <a:t>shape</a:t>
            </a:r>
            <a:r>
              <a:rPr lang="nl-NL" dirty="0" smtClean="0"/>
              <a:t>, </a:t>
            </a:r>
            <a:r>
              <a:rPr lang="nl-NL" dirty="0" err="1" smtClean="0"/>
              <a:t>fault</a:t>
            </a:r>
            <a:r>
              <a:rPr lang="nl-NL" dirty="0" smtClean="0"/>
              <a:t> </a:t>
            </a:r>
            <a:r>
              <a:rPr lang="nl-NL" dirty="0" err="1" smtClean="0"/>
              <a:t>cohesion</a:t>
            </a:r>
            <a:r>
              <a:rPr lang="nl-NL" dirty="0" smtClean="0"/>
              <a:t>, </a:t>
            </a:r>
            <a:r>
              <a:rPr lang="nl-NL" dirty="0" err="1" smtClean="0"/>
              <a:t>fault</a:t>
            </a:r>
            <a:r>
              <a:rPr lang="nl-NL" dirty="0" smtClean="0"/>
              <a:t> </a:t>
            </a:r>
            <a:r>
              <a:rPr lang="nl-NL" dirty="0" err="1" smtClean="0"/>
              <a:t>friction</a:t>
            </a:r>
            <a:r>
              <a:rPr lang="nl-NL" dirty="0" smtClean="0"/>
              <a:t> </a:t>
            </a:r>
            <a:r>
              <a:rPr lang="nl-NL" dirty="0" err="1" smtClean="0"/>
              <a:t>angle</a:t>
            </a:r>
            <a:endParaRPr lang="nl-NL" dirty="0" smtClean="0"/>
          </a:p>
          <a:p>
            <a:r>
              <a:rPr lang="nl-NL" dirty="0" smtClean="0"/>
              <a:t>Output: SCU ave, SCU </a:t>
            </a:r>
            <a:r>
              <a:rPr lang="nl-NL" dirty="0" err="1" smtClean="0"/>
              <a:t>max</a:t>
            </a:r>
            <a:r>
              <a:rPr lang="nl-NL" dirty="0" smtClean="0"/>
              <a:t>, SCU </a:t>
            </a:r>
            <a:r>
              <a:rPr lang="nl-NL" dirty="0" err="1" smtClean="0"/>
              <a:t>area</a:t>
            </a:r>
            <a:r>
              <a:rPr lang="nl-NL" dirty="0" smtClean="0"/>
              <a:t> m^2, SCU </a:t>
            </a:r>
            <a:r>
              <a:rPr lang="nl-NL" dirty="0" err="1" smtClean="0"/>
              <a:t>area</a:t>
            </a:r>
            <a:r>
              <a:rPr lang="nl-NL" dirty="0" smtClean="0"/>
              <a:t> %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May 2012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grpSp>
        <p:nvGrpSpPr>
          <p:cNvPr id="3" name="Group 93"/>
          <p:cNvGrpSpPr/>
          <p:nvPr/>
        </p:nvGrpSpPr>
        <p:grpSpPr>
          <a:xfrm>
            <a:off x="421837" y="2880360"/>
            <a:ext cx="7938006" cy="3205616"/>
            <a:chOff x="582146" y="3316105"/>
            <a:chExt cx="7938006" cy="2620571"/>
          </a:xfrm>
        </p:grpSpPr>
        <p:sp>
          <p:nvSpPr>
            <p:cNvPr id="9" name="Rounded Rectangle 8"/>
            <p:cNvSpPr/>
            <p:nvPr/>
          </p:nvSpPr>
          <p:spPr>
            <a:xfrm>
              <a:off x="582146" y="4497322"/>
              <a:ext cx="1080051" cy="51352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58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nl-NL" dirty="0" err="1" smtClean="0"/>
                <a:t>Template</a:t>
              </a:r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62610" y="3316105"/>
              <a:ext cx="1080051" cy="51352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r>
                <a:rPr lang="nl-NL" dirty="0" err="1" smtClean="0"/>
                <a:t>GoCad</a:t>
              </a:r>
              <a:r>
                <a:rPr lang="nl-NL" dirty="0" smtClean="0"/>
                <a:t> file</a:t>
              </a:r>
              <a:endParaRPr lang="en-US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245813" y="3645850"/>
              <a:ext cx="1080051" cy="51352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80000"/>
                </a:lnSpc>
              </a:pPr>
              <a:r>
                <a:rPr lang="nl-NL" sz="1500" dirty="0" smtClean="0"/>
                <a:t>QB </a:t>
              </a:r>
              <a:r>
                <a:rPr lang="nl-NL" sz="1500" dirty="0" err="1" smtClean="0"/>
                <a:t>psfile</a:t>
              </a:r>
              <a:endParaRPr lang="en-US" sz="1500" dirty="0"/>
            </a:p>
          </p:txBody>
        </p:sp>
        <p:cxnSp>
          <p:nvCxnSpPr>
            <p:cNvPr id="13" name="Straight Arrow Connector 12"/>
            <p:cNvCxnSpPr>
              <a:stCxn id="10" idx="3"/>
              <a:endCxn id="11" idx="1"/>
            </p:cNvCxnSpPr>
            <p:nvPr/>
          </p:nvCxnSpPr>
          <p:spPr>
            <a:xfrm>
              <a:off x="1742661" y="3572866"/>
              <a:ext cx="503152" cy="329745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716648" y="3829707"/>
              <a:ext cx="556590" cy="3478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77800" indent="-177800">
                <a:lnSpc>
                  <a:spcPct val="113000"/>
                </a:lnSpc>
                <a:spcAft>
                  <a:spcPts val="60"/>
                </a:spcAft>
              </a:pPr>
              <a:r>
                <a:rPr lang="nl-NL" sz="1600" dirty="0" smtClean="0">
                  <a:solidFill>
                    <a:srgbClr val="FF0000"/>
                  </a:solidFill>
                </a:rPr>
                <a:t>VBA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01160" y="4508486"/>
              <a:ext cx="1080051" cy="513522"/>
            </a:xfrm>
            <a:prstGeom prst="roundRect">
              <a:avLst/>
            </a:prstGeom>
            <a:solidFill>
              <a:srgbClr val="A0749B"/>
            </a:solidFill>
            <a:ln w="158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nl-NL" dirty="0" smtClean="0"/>
                <a:t>CORA</a:t>
              </a:r>
              <a:endParaRPr lang="en-US" dirty="0"/>
            </a:p>
          </p:txBody>
        </p:sp>
        <p:cxnSp>
          <p:nvCxnSpPr>
            <p:cNvPr id="34" name="Straight Arrow Connector 33"/>
            <p:cNvCxnSpPr>
              <a:stCxn id="11" idx="2"/>
              <a:endCxn id="17" idx="0"/>
            </p:cNvCxnSpPr>
            <p:nvPr/>
          </p:nvCxnSpPr>
          <p:spPr>
            <a:xfrm>
              <a:off x="2785839" y="4159372"/>
              <a:ext cx="355347" cy="34911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7" idx="3"/>
              <a:endCxn id="38" idx="1"/>
            </p:cNvCxnSpPr>
            <p:nvPr/>
          </p:nvCxnSpPr>
          <p:spPr>
            <a:xfrm>
              <a:off x="3681211" y="4765246"/>
              <a:ext cx="1127299" cy="365317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808510" y="4873802"/>
              <a:ext cx="1386840" cy="513522"/>
            </a:xfrm>
            <a:prstGeom prst="roundRect">
              <a:avLst/>
            </a:prstGeom>
            <a:solidFill>
              <a:srgbClr val="66B492"/>
            </a:solidFill>
            <a:ln w="15875">
              <a:solidFill>
                <a:srgbClr val="339B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nl-NL" dirty="0" smtClean="0"/>
                <a:t>QB input file</a:t>
              </a:r>
              <a:endParaRPr lang="en-US" dirty="0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831081" y="5423154"/>
              <a:ext cx="1371888" cy="513522"/>
            </a:xfrm>
            <a:prstGeom prst="roundRect">
              <a:avLst/>
            </a:prstGeom>
            <a:solidFill>
              <a:srgbClr val="66B492"/>
            </a:solidFill>
            <a:ln w="15875">
              <a:solidFill>
                <a:srgbClr val="339B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</a:pPr>
              <a:r>
                <a:rPr lang="nl-NL" sz="1400" dirty="0" smtClean="0"/>
                <a:t>QB </a:t>
              </a:r>
              <a:r>
                <a:rPr lang="nl-NL" sz="1400" dirty="0" err="1" smtClean="0"/>
                <a:t>results</a:t>
              </a:r>
              <a:r>
                <a:rPr lang="nl-NL" sz="1400" dirty="0" smtClean="0"/>
                <a:t> file</a:t>
              </a:r>
              <a:endParaRPr lang="en-US" sz="1400" dirty="0"/>
            </a:p>
          </p:txBody>
        </p:sp>
        <p:cxnSp>
          <p:nvCxnSpPr>
            <p:cNvPr id="42" name="Straight Arrow Connector 41"/>
            <p:cNvCxnSpPr>
              <a:stCxn id="17" idx="3"/>
              <a:endCxn id="39" idx="1"/>
            </p:cNvCxnSpPr>
            <p:nvPr/>
          </p:nvCxnSpPr>
          <p:spPr>
            <a:xfrm>
              <a:off x="3681211" y="4765246"/>
              <a:ext cx="1149870" cy="914668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/>
            <p:cNvSpPr/>
            <p:nvPr/>
          </p:nvSpPr>
          <p:spPr>
            <a:xfrm>
              <a:off x="4803793" y="3774116"/>
              <a:ext cx="1383936" cy="513522"/>
            </a:xfrm>
            <a:prstGeom prst="roundRect">
              <a:avLst/>
            </a:prstGeom>
            <a:solidFill>
              <a:srgbClr val="66B492"/>
            </a:solidFill>
            <a:ln w="15875">
              <a:solidFill>
                <a:srgbClr val="339B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r>
                <a:rPr lang="nl-NL" sz="1500" dirty="0" smtClean="0"/>
                <a:t>n,t</a:t>
              </a:r>
              <a:r>
                <a:rPr lang="nl-NL" dirty="0" smtClean="0"/>
                <a:t> per segment</a:t>
              </a:r>
              <a:endParaRPr lang="en-US" dirty="0"/>
            </a:p>
          </p:txBody>
        </p:sp>
        <p:cxnSp>
          <p:nvCxnSpPr>
            <p:cNvPr id="59" name="Straight Arrow Connector 58"/>
            <p:cNvCxnSpPr>
              <a:stCxn id="17" idx="3"/>
              <a:endCxn id="55" idx="1"/>
            </p:cNvCxnSpPr>
            <p:nvPr/>
          </p:nvCxnSpPr>
          <p:spPr>
            <a:xfrm flipV="1">
              <a:off x="3681211" y="4030877"/>
              <a:ext cx="1122582" cy="734369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55" idx="3"/>
              <a:endCxn id="70" idx="1"/>
            </p:cNvCxnSpPr>
            <p:nvPr/>
          </p:nvCxnSpPr>
          <p:spPr>
            <a:xfrm>
              <a:off x="6187729" y="4030877"/>
              <a:ext cx="1252372" cy="70440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39" idx="3"/>
              <a:endCxn id="70" idx="1"/>
            </p:cNvCxnSpPr>
            <p:nvPr/>
          </p:nvCxnSpPr>
          <p:spPr>
            <a:xfrm flipV="1">
              <a:off x="6202969" y="4735281"/>
              <a:ext cx="1237132" cy="94463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ounded Rectangle 69"/>
            <p:cNvSpPr/>
            <p:nvPr/>
          </p:nvSpPr>
          <p:spPr>
            <a:xfrm>
              <a:off x="7440101" y="4478522"/>
              <a:ext cx="1080051" cy="513522"/>
            </a:xfrm>
            <a:prstGeom prst="roundRect">
              <a:avLst/>
            </a:prstGeom>
            <a:solidFill>
              <a:srgbClr val="66B492"/>
            </a:solidFill>
            <a:ln w="15875">
              <a:solidFill>
                <a:srgbClr val="339B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r>
                <a:rPr lang="nl-NL" dirty="0" smtClean="0"/>
                <a:t>SCU ave and </a:t>
              </a:r>
              <a:r>
                <a:rPr lang="nl-NL" dirty="0" err="1" smtClean="0"/>
                <a:t>max</a:t>
              </a:r>
              <a:endParaRPr lang="en-US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206905" y="4457924"/>
              <a:ext cx="556590" cy="3478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77800" indent="-177800">
                <a:lnSpc>
                  <a:spcPct val="113000"/>
                </a:lnSpc>
                <a:spcAft>
                  <a:spcPts val="60"/>
                </a:spcAft>
              </a:pPr>
              <a:r>
                <a:rPr lang="nl-NL" sz="1600" dirty="0" smtClean="0"/>
                <a:t>C#</a:t>
              </a:r>
              <a:endParaRPr lang="en-US" sz="1600" dirty="0" smtClean="0"/>
            </a:p>
          </p:txBody>
        </p:sp>
        <p:cxnSp>
          <p:nvCxnSpPr>
            <p:cNvPr id="76" name="Straight Arrow Connector 75"/>
            <p:cNvCxnSpPr>
              <a:stCxn id="9" idx="3"/>
              <a:endCxn id="17" idx="1"/>
            </p:cNvCxnSpPr>
            <p:nvPr/>
          </p:nvCxnSpPr>
          <p:spPr>
            <a:xfrm>
              <a:off x="1662197" y="4754083"/>
              <a:ext cx="938963" cy="11164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2687873" y="5180840"/>
              <a:ext cx="556590" cy="3478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77800" indent="-177800">
                <a:lnSpc>
                  <a:spcPct val="113000"/>
                </a:lnSpc>
                <a:spcAft>
                  <a:spcPts val="60"/>
                </a:spcAft>
              </a:pPr>
              <a:r>
                <a:rPr lang="nl-NL" sz="1600" dirty="0" smtClean="0">
                  <a:solidFill>
                    <a:srgbClr val="0070C0"/>
                  </a:solidFill>
                </a:rPr>
                <a:t>python</a:t>
              </a:r>
              <a:endParaRPr lang="en-US" sz="1600" dirty="0" smtClean="0">
                <a:solidFill>
                  <a:srgbClr val="0070C0"/>
                </a:solidFill>
              </a:endParaRP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077884" y="5432232"/>
            <a:ext cx="1080051" cy="51352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>
              <a:lnSpc>
                <a:spcPct val="80000"/>
              </a:lnSpc>
            </a:pPr>
            <a:r>
              <a:rPr lang="nl-NL" dirty="0" err="1" smtClean="0"/>
              <a:t>QB psfile</a:t>
            </a:r>
            <a:endParaRPr lang="en-US" dirty="0" err="1" smtClean="0"/>
          </a:p>
        </p:txBody>
      </p:sp>
      <p:sp>
        <p:nvSpPr>
          <p:cNvPr id="83" name="Rounded Rectangle 82"/>
          <p:cNvSpPr/>
          <p:nvPr/>
        </p:nvSpPr>
        <p:spPr>
          <a:xfrm>
            <a:off x="3007524" y="6049452"/>
            <a:ext cx="1080051" cy="51352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>
              <a:lnSpc>
                <a:spcPct val="80000"/>
              </a:lnSpc>
            </a:pPr>
            <a:r>
              <a:rPr lang="nl-NL" dirty="0" err="1" smtClean="0"/>
              <a:t>GoCad</a:t>
            </a:r>
            <a:r>
              <a:rPr lang="nl-NL" dirty="0" smtClean="0"/>
              <a:t> file</a:t>
            </a:r>
            <a:endParaRPr lang="en-US" dirty="0" err="1" smtClean="0"/>
          </a:p>
        </p:txBody>
      </p:sp>
      <p:cxnSp>
        <p:nvCxnSpPr>
          <p:cNvPr id="86" name="Straight Arrow Connector 85"/>
          <p:cNvCxnSpPr>
            <a:stCxn id="17" idx="2"/>
            <a:endCxn id="60" idx="0"/>
          </p:cNvCxnSpPr>
          <p:nvPr/>
        </p:nvCxnSpPr>
        <p:spPr>
          <a:xfrm flipH="1">
            <a:off x="2617910" y="4967106"/>
            <a:ext cx="362967" cy="465126"/>
          </a:xfrm>
          <a:prstGeom prst="straightConnector1">
            <a:avLst/>
          </a:prstGeom>
          <a:ln>
            <a:solidFill>
              <a:srgbClr val="0070C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17" idx="2"/>
            <a:endCxn id="83" idx="0"/>
          </p:cNvCxnSpPr>
          <p:nvPr/>
        </p:nvCxnSpPr>
        <p:spPr>
          <a:xfrm>
            <a:off x="2980877" y="4967106"/>
            <a:ext cx="566673" cy="1082346"/>
          </a:xfrm>
          <a:prstGeom prst="straightConnector1">
            <a:avLst/>
          </a:prstGeom>
          <a:ln>
            <a:solidFill>
              <a:srgbClr val="0070C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4640581" y="4122874"/>
            <a:ext cx="1386840" cy="628166"/>
          </a:xfrm>
          <a:prstGeom prst="roundRect">
            <a:avLst/>
          </a:prstGeom>
          <a:solidFill>
            <a:srgbClr val="66B492"/>
          </a:solidFill>
          <a:ln w="15875">
            <a:solidFill>
              <a:srgbClr val="339B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nl-NL" dirty="0" err="1" smtClean="0"/>
              <a:t>Intermediate</a:t>
            </a:r>
            <a:r>
              <a:rPr lang="nl-NL" dirty="0" smtClean="0"/>
              <a:t> file</a:t>
            </a:r>
            <a:endParaRPr lang="en-US" dirty="0"/>
          </a:p>
        </p:txBody>
      </p:sp>
      <p:cxnSp>
        <p:nvCxnSpPr>
          <p:cNvPr id="143" name="Straight Arrow Connector 142"/>
          <p:cNvCxnSpPr>
            <a:stCxn id="17" idx="3"/>
            <a:endCxn id="138" idx="1"/>
          </p:cNvCxnSpPr>
          <p:nvPr/>
        </p:nvCxnSpPr>
        <p:spPr>
          <a:xfrm flipV="1">
            <a:off x="3520902" y="4436957"/>
            <a:ext cx="1119679" cy="21606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</TotalTime>
  <Words>783</Words>
  <Application>Microsoft Office PowerPoint</Application>
  <PresentationFormat>On-screen Show (4:3)</PresentationFormat>
  <Paragraphs>220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Wingdings</vt:lpstr>
      <vt:lpstr>Futura Medium</vt:lpstr>
      <vt:lpstr>Futura Light</vt:lpstr>
      <vt:lpstr>Shell layouts with footer</vt:lpstr>
      <vt:lpstr>Equation</vt:lpstr>
      <vt:lpstr>CORA engine QuickBlocks</vt:lpstr>
      <vt:lpstr>Quickblocks setup model</vt:lpstr>
      <vt:lpstr>Quickblocks features</vt:lpstr>
      <vt:lpstr>QuickBlocks limitations in cora</vt:lpstr>
      <vt:lpstr>CORA QB IO workflow</vt:lpstr>
      <vt:lpstr>Formations</vt:lpstr>
      <vt:lpstr>Faults</vt:lpstr>
      <vt:lpstr>Wells</vt:lpstr>
      <vt:lpstr>Subsidence</vt:lpstr>
      <vt:lpstr>PowerPoint Presentation</vt:lpstr>
      <vt:lpstr>In situ stress</vt:lpstr>
      <vt:lpstr>Component definitions in Qbmodi (1)</vt:lpstr>
      <vt:lpstr>Component definitions in Qbmodi (2)</vt:lpstr>
      <vt:lpstr>Well path</vt:lpstr>
      <vt:lpstr>Fault planE</vt:lpstr>
      <vt:lpstr>Workflow Fault evaluation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479</cp:revision>
  <dcterms:created xsi:type="dcterms:W3CDTF">2009-11-25T14:32:06Z</dcterms:created>
  <dcterms:modified xsi:type="dcterms:W3CDTF">2016-02-08T11:16:16Z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