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59" r:id="rId3"/>
    <p:sldId id="356" r:id="rId4"/>
    <p:sldId id="370" r:id="rId5"/>
    <p:sldId id="355" r:id="rId6"/>
    <p:sldId id="371" r:id="rId7"/>
    <p:sldId id="372" r:id="rId8"/>
    <p:sldId id="376" r:id="rId9"/>
    <p:sldId id="357" r:id="rId10"/>
    <p:sldId id="368" r:id="rId11"/>
    <p:sldId id="373" r:id="rId12"/>
    <p:sldId id="374" r:id="rId13"/>
    <p:sldId id="375" r:id="rId14"/>
    <p:sldId id="358" r:id="rId15"/>
    <p:sldId id="369" r:id="rId16"/>
    <p:sldId id="361" r:id="rId17"/>
    <p:sldId id="354" r:id="rId18"/>
  </p:sldIdLst>
  <p:sldSz cx="9144000" cy="6858000" type="screen4x3"/>
  <p:notesSz cx="6797675" cy="9926638"/>
  <p:embeddedFontLst>
    <p:embeddedFont>
      <p:font typeface="Futura Medium" panose="00000400000000000000" pitchFamily="2" charset="0"/>
      <p:regular r:id="rId21"/>
      <p:bold r:id="rId22"/>
      <p:italic r:id="rId23"/>
      <p:boldItalic r:id="rId24"/>
    </p:embeddedFont>
    <p:embeddedFont>
      <p:font typeface="Futura Light" panose="00000400000000000000" pitchFamily="2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9DB"/>
    <a:srgbClr val="99CDB7"/>
    <a:srgbClr val="66B492"/>
    <a:srgbClr val="339B6E"/>
    <a:srgbClr val="DFD1DE"/>
    <a:srgbClr val="C0A2BD"/>
    <a:srgbClr val="A0749B"/>
    <a:srgbClr val="81457A"/>
    <a:srgbClr val="CCD7E6"/>
    <a:srgbClr val="99A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262" autoAdjust="0"/>
    <p:restoredTop sz="95994" autoAdjust="0"/>
  </p:normalViewPr>
  <p:slideViewPr>
    <p:cSldViewPr snapToGrid="0" showGuides="1">
      <p:cViewPr>
        <p:scale>
          <a:sx n="80" d="100"/>
          <a:sy n="80" d="100"/>
        </p:scale>
        <p:origin x="-288" y="-72"/>
      </p:cViewPr>
      <p:guideLst>
        <p:guide orient="horz" pos="4144"/>
        <p:guide orient="horz" pos="149"/>
        <p:guide orient="horz" pos="831"/>
        <p:guide orient="horz" pos="465"/>
        <p:guide orient="horz" pos="4021"/>
        <p:guide orient="horz" pos="2095"/>
        <p:guide orient="horz" pos="1787"/>
        <p:guide pos="574"/>
        <p:guide pos="5466"/>
        <p:guide pos="2930"/>
        <p:guide pos="300"/>
        <p:guide pos="3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-2640" y="-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Apps\0PROJECTS\Case_Studies\Asia\SSB\Gumusut\CORA%201.7.6.6%20SCU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600" dirty="0"/>
              <a:t>Probability</a:t>
            </a:r>
            <a:r>
              <a:rPr lang="en-US" sz="1600" baseline="0" dirty="0"/>
              <a:t> of failure for different depletion </a:t>
            </a:r>
            <a:r>
              <a:rPr lang="en-US" sz="1600" baseline="0" dirty="0" smtClean="0"/>
              <a:t>pressures and injection pressures</a:t>
            </a:r>
            <a:endParaRPr lang="en-US" sz="1600" dirty="0"/>
          </a:p>
        </c:rich>
      </c:tx>
      <c:layout/>
      <c:overlay val="0"/>
    </c:title>
    <c:autoTitleDeleted val="0"/>
    <c:plotArea>
      <c:layout/>
      <c:scatterChart>
        <c:scatterStyle val="smoothMarker"/>
        <c:varyColors val="0"/>
        <c:ser>
          <c:idx val="3"/>
          <c:order val="2"/>
          <c:tx>
            <c:strRef>
              <c:f>'Reliability results'!$DH$15</c:f>
              <c:strCache>
                <c:ptCount val="1"/>
                <c:pt idx="0">
                  <c:v>400</c:v>
                </c:pt>
              </c:strCache>
            </c:strRef>
          </c:tx>
          <c:xVal>
            <c:numRef>
              <c:f>'Reliability results'!$DI$15:$DI$18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</c:numCache>
            </c:numRef>
          </c:xVal>
          <c:yVal>
            <c:numRef>
              <c:f>'Reliability results'!$DL$15:$DL$18</c:f>
              <c:numCache>
                <c:formatCode>General</c:formatCode>
                <c:ptCount val="4"/>
                <c:pt idx="0">
                  <c:v>1.6147447398466814E-2</c:v>
                </c:pt>
                <c:pt idx="1">
                  <c:v>2.8104387725838797E-2</c:v>
                </c:pt>
                <c:pt idx="2">
                  <c:v>4.7880299251870338E-2</c:v>
                </c:pt>
                <c:pt idx="3">
                  <c:v>6.6431095406360399E-2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'Reliability results'!$DH$11</c:f>
              <c:strCache>
                <c:ptCount val="1"/>
                <c:pt idx="0">
                  <c:v>300</c:v>
                </c:pt>
              </c:strCache>
            </c:strRef>
          </c:tx>
          <c:xVal>
            <c:numRef>
              <c:f>'Reliability results'!$DI$11:$DI$14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</c:numCache>
            </c:numRef>
          </c:xVal>
          <c:yVal>
            <c:numRef>
              <c:f>'Reliability results'!$DL$11:$DL$14</c:f>
              <c:numCache>
                <c:formatCode>General</c:formatCode>
                <c:ptCount val="4"/>
                <c:pt idx="0">
                  <c:v>1.3180668353082113E-2</c:v>
                </c:pt>
                <c:pt idx="1">
                  <c:v>2.3728813559322003E-2</c:v>
                </c:pt>
                <c:pt idx="2">
                  <c:v>3.6493604213694512E-2</c:v>
                </c:pt>
                <c:pt idx="3">
                  <c:v>5.7645631067961237E-2</c:v>
                </c:pt>
              </c:numCache>
            </c:numRef>
          </c:yVal>
          <c:smooth val="1"/>
        </c:ser>
        <c:ser>
          <c:idx val="0"/>
          <c:order val="0"/>
          <c:tx>
            <c:strRef>
              <c:f>'Reliability results'!$DH$7</c:f>
              <c:strCache>
                <c:ptCount val="1"/>
                <c:pt idx="0">
                  <c:v>200</c:v>
                </c:pt>
              </c:strCache>
            </c:strRef>
          </c:tx>
          <c:xVal>
            <c:numRef>
              <c:f>'Reliability results'!$DI$7:$DI$10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</c:numCache>
            </c:numRef>
          </c:xVal>
          <c:yVal>
            <c:numRef>
              <c:f>'Reliability results'!$DL$7:$DL$10</c:f>
              <c:numCache>
                <c:formatCode>General</c:formatCode>
                <c:ptCount val="4"/>
                <c:pt idx="0">
                  <c:v>9.3000000000000044E-3</c:v>
                </c:pt>
                <c:pt idx="1">
                  <c:v>1.9193485847227614E-2</c:v>
                </c:pt>
                <c:pt idx="2">
                  <c:v>3.2023770221195132E-2</c:v>
                </c:pt>
                <c:pt idx="3">
                  <c:v>5.0397877984084911E-2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471936"/>
        <c:axId val="78473856"/>
      </c:scatterChart>
      <c:valAx>
        <c:axId val="78471936"/>
        <c:scaling>
          <c:orientation val="minMax"/>
        </c:scaling>
        <c:delete val="0"/>
        <c:axPos val="b"/>
        <c:title>
          <c:tx>
            <c:strRef>
              <c:f>'Reliability results'!$DI$6</c:f>
              <c:strCache>
                <c:ptCount val="1"/>
                <c:pt idx="0">
                  <c:v>INFL_in</c:v>
                </c:pt>
              </c:strCache>
            </c:strRef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78473856"/>
        <c:crosses val="autoZero"/>
        <c:crossBetween val="midCat"/>
      </c:valAx>
      <c:valAx>
        <c:axId val="78473856"/>
        <c:scaling>
          <c:orientation val="minMax"/>
        </c:scaling>
        <c:delete val="0"/>
        <c:axPos val="l"/>
        <c:majorGridlines/>
        <c:title>
          <c:tx>
            <c:strRef>
              <c:f>'Reliability results'!$DL$6</c:f>
              <c:strCache>
                <c:ptCount val="1"/>
                <c:pt idx="0">
                  <c:v>Failure</c:v>
                </c:pt>
              </c:strCache>
            </c:strRef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78471936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08/02/2016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08/02/2016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Futura Medium" pitchFamily="2" charset="0"/>
              </a:rPr>
              <a:pPr/>
              <a:t>1</a:t>
            </a:fld>
            <a:endParaRPr lang="en-GB">
              <a:latin typeface="Futura Medium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468313" y="226142"/>
            <a:ext cx="8208961" cy="6167226"/>
            <a:chOff x="468313" y="226142"/>
            <a:chExt cx="8208961" cy="6167226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 flipH="1">
              <a:off x="468313" y="1307018"/>
              <a:ext cx="7020000" cy="5086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GB" smtClean="0"/>
                <a:t> </a:t>
              </a:r>
              <a:endParaRPr lang="en-GB" dirty="0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 flipH="1">
              <a:off x="1548071" y="226142"/>
              <a:ext cx="7129203" cy="50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 flipH="1">
              <a:off x="1548072" y="1307018"/>
              <a:ext cx="5942197" cy="3960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23" name="Picture 22" descr="Shell-2010-Pecten-RGBpc.wm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468313" y="290934"/>
              <a:ext cx="720000" cy="667868"/>
            </a:xfrm>
            <a:prstGeom prst="rect">
              <a:avLst/>
            </a:prstGeom>
            <a:noFill/>
          </p:spPr>
        </p:pic>
      </p:grpSp>
      <p:sp>
        <p:nvSpPr>
          <p:cNvPr id="28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1697782" y="1400847"/>
            <a:ext cx="5694536" cy="1206000"/>
          </a:xfrm>
          <a:noFill/>
        </p:spPr>
        <p:txBody>
          <a:bodyPr lIns="0" tIns="0" rIns="0"/>
          <a:lstStyle>
            <a:lvl1pPr>
              <a:defRPr kern="1200" cap="all" spc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Click to edit Master title </a:t>
            </a:r>
            <a:r>
              <a:rPr lang="en-GB" dirty="0" smtClean="0"/>
              <a:t>style</a:t>
            </a:r>
            <a:endParaRPr lang="en-GB" dirty="0"/>
          </a:p>
        </p:txBody>
      </p:sp>
      <p:sp>
        <p:nvSpPr>
          <p:cNvPr id="29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697782" y="2851200"/>
            <a:ext cx="2700000" cy="1620000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6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32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578064" y="5402511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Author’s Name</a:t>
            </a:r>
            <a:endParaRPr lang="en-GB" dirty="0"/>
          </a:p>
        </p:txBody>
      </p:sp>
      <p:sp>
        <p:nvSpPr>
          <p:cNvPr id="33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78064" y="5627540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Role in Organisation</a:t>
            </a:r>
            <a:endParaRPr lang="en-GB" dirty="0"/>
          </a:p>
        </p:txBody>
      </p:sp>
      <p:sp>
        <p:nvSpPr>
          <p:cNvPr id="24" name="Text Box 11" descr="Text Box 11"/>
          <p:cNvSpPr txBox="1">
            <a:spLocks noChangeArrowheads="1"/>
          </p:cNvSpPr>
          <p:nvPr userDrawn="1"/>
        </p:nvSpPr>
        <p:spPr bwMode="auto">
          <a:xfrm>
            <a:off x="468000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0799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4400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5862638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906511" y="1312201"/>
            <a:ext cx="7770763" cy="5071137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2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5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 sz="1600"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 sz="1600"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4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7462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7675" indent="-171450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6950" indent="-185738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tabLst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9263" indent="-173038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69875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54025" indent="-1841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3pPr>
            <a:lvl4pPr marL="635000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Xx</a:t>
            </a:r>
          </a:p>
          <a:p>
            <a:pPr lvl="5"/>
            <a:r>
              <a:rPr lang="en-GB" smtClean="0"/>
              <a:t>xx</a:t>
            </a:r>
            <a:endParaRPr lang="en-GB" dirty="0" smtClean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76225" indent="-276225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47675" indent="-17145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3pPr>
            <a:lvl4pPr marL="635000" indent="-174625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 dirty="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904072" y="6267688"/>
            <a:ext cx="3747304" cy="99509"/>
          </a:xfrm>
        </p:spPr>
        <p:txBody>
          <a:bodyPr wrap="square">
            <a:noAutofit/>
          </a:bodyPr>
          <a:lstStyle>
            <a:lvl1pPr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smtClean="0"/>
              <a:t>CLICK TO EDIT SOURCE</a:t>
            </a:r>
            <a:endParaRPr lang="en-GB" dirty="0"/>
          </a:p>
        </p:txBody>
      </p:sp>
      <p:sp>
        <p:nvSpPr>
          <p:cNvPr id="3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39" name="Content Placeholder 51"/>
          <p:cNvSpPr>
            <a:spLocks noGrp="1"/>
          </p:cNvSpPr>
          <p:nvPr>
            <p:ph sz="quarter" idx="45" hasCustomPrompt="1"/>
          </p:nvPr>
        </p:nvSpPr>
        <p:spPr>
          <a:xfrm>
            <a:off x="911225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911225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V="1">
            <a:off x="911225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hart Placeholder 16"/>
          <p:cNvSpPr>
            <a:spLocks noGrp="1"/>
          </p:cNvSpPr>
          <p:nvPr>
            <p:ph type="chart" sz="quarter" idx="47"/>
          </p:nvPr>
        </p:nvSpPr>
        <p:spPr>
          <a:xfrm>
            <a:off x="911225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43" name="Straight Connector 42"/>
          <p:cNvCxnSpPr/>
          <p:nvPr userDrawn="1"/>
        </p:nvCxnSpPr>
        <p:spPr>
          <a:xfrm>
            <a:off x="904071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ontent Placeholder 51"/>
          <p:cNvSpPr>
            <a:spLocks noGrp="1"/>
          </p:cNvSpPr>
          <p:nvPr>
            <p:ph sz="quarter" idx="54" hasCustomPrompt="1"/>
          </p:nvPr>
        </p:nvSpPr>
        <p:spPr>
          <a:xfrm>
            <a:off x="911225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911225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101" name="Straight Connector 100"/>
          <p:cNvCxnSpPr/>
          <p:nvPr userDrawn="1"/>
        </p:nvCxnSpPr>
        <p:spPr>
          <a:xfrm flipV="1">
            <a:off x="911225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911225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3" name="Straight Connector 102"/>
          <p:cNvCxnSpPr/>
          <p:nvPr userDrawn="1"/>
        </p:nvCxnSpPr>
        <p:spPr>
          <a:xfrm>
            <a:off x="904071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ontent Placeholder 51"/>
          <p:cNvSpPr>
            <a:spLocks noGrp="1"/>
          </p:cNvSpPr>
          <p:nvPr>
            <p:ph sz="quarter" idx="57" hasCustomPrompt="1"/>
          </p:nvPr>
        </p:nvSpPr>
        <p:spPr>
          <a:xfrm>
            <a:off x="4965700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4965700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106" name="Straight Connector 105"/>
          <p:cNvCxnSpPr/>
          <p:nvPr userDrawn="1"/>
        </p:nvCxnSpPr>
        <p:spPr>
          <a:xfrm flipV="1">
            <a:off x="4965700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hart Placeholder 16"/>
          <p:cNvSpPr>
            <a:spLocks noGrp="1"/>
          </p:cNvSpPr>
          <p:nvPr>
            <p:ph type="chart" sz="quarter" idx="59"/>
          </p:nvPr>
        </p:nvSpPr>
        <p:spPr>
          <a:xfrm>
            <a:off x="4965700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8" name="Straight Connector 107"/>
          <p:cNvCxnSpPr/>
          <p:nvPr userDrawn="1"/>
        </p:nvCxnSpPr>
        <p:spPr>
          <a:xfrm>
            <a:off x="4958546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ontent Placeholder 51"/>
          <p:cNvSpPr>
            <a:spLocks noGrp="1"/>
          </p:cNvSpPr>
          <p:nvPr>
            <p:ph sz="quarter" idx="60" hasCustomPrompt="1"/>
          </p:nvPr>
        </p:nvSpPr>
        <p:spPr>
          <a:xfrm>
            <a:off x="4965700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4965700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111" name="Straight Connector 110"/>
          <p:cNvCxnSpPr/>
          <p:nvPr userDrawn="1"/>
        </p:nvCxnSpPr>
        <p:spPr>
          <a:xfrm flipV="1">
            <a:off x="4965700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4965700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13" name="Straight Connector 112"/>
          <p:cNvCxnSpPr/>
          <p:nvPr userDrawn="1"/>
        </p:nvCxnSpPr>
        <p:spPr>
          <a:xfrm>
            <a:off x="4958546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3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29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 dirty="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5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1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2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782070" y="3198783"/>
            <a:ext cx="5603468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mtClean="0"/>
              <a:t>Click to edit Master title style</a:t>
            </a:r>
            <a:endParaRPr lang="en-GB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1782070" y="2379407"/>
            <a:ext cx="5603468" cy="741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  <a:endParaRPr lang="en-GB" dirty="0" smtClean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0.0</a:t>
            </a:r>
            <a:endParaRPr lang="en-GB" dirty="0"/>
          </a:p>
        </p:txBody>
      </p:sp>
      <p:sp>
        <p:nvSpPr>
          <p:cNvPr id="12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8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0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2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rgbClr val="FCEC8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rgbClr val="FAE37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Q &amp; A</a:t>
            </a:r>
            <a:endParaRPr lang="en-GB" dirty="0"/>
          </a:p>
        </p:txBody>
      </p:sp>
      <p:sp>
        <p:nvSpPr>
          <p:cNvPr id="10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Mandato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Picture 2" descr="Shell-2010-Pecten-RGBpc.wmf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3418626" y="2285524"/>
              <a:ext cx="2340000" cy="217057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9704" y="1310400"/>
            <a:ext cx="7747176" cy="507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53"/>
            <a:ext cx="7700963" cy="419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3" r:id="rId2"/>
    <p:sldLayoutId id="2147483689" r:id="rId3"/>
    <p:sldLayoutId id="2147483691" r:id="rId4"/>
    <p:sldLayoutId id="2147483667" r:id="rId5"/>
    <p:sldLayoutId id="2147483690" r:id="rId6"/>
    <p:sldLayoutId id="2147483692" r:id="rId7"/>
    <p:sldLayoutId id="2147483694" r:id="rId8"/>
    <p:sldLayoutId id="2147483680" r:id="rId9"/>
    <p:sldLayoutId id="2147483678" r:id="rId10"/>
    <p:sldLayoutId id="2147483679" r:id="rId11"/>
    <p:sldLayoutId id="2147483681" r:id="rId12"/>
    <p:sldLayoutId id="2147483682" r:id="rId13"/>
    <p:sldLayoutId id="2147483683" r:id="rId14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 descr="&lt;TITLE&gt;{94.96063,448.3887,110.3029,133.6836}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Guideline </a:t>
            </a:r>
            <a:r>
              <a:rPr lang="en-GB" dirty="0" err="1" smtClean="0"/>
              <a:t>UserModel</a:t>
            </a:r>
            <a:endParaRPr lang="en-GB" dirty="0"/>
          </a:p>
        </p:txBody>
      </p:sp>
      <p:sp>
        <p:nvSpPr>
          <p:cNvPr id="24" name="Text Placeholder 23" descr="&lt;NAME&gt;{15.4689,461.2516,425.3946,124.257}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Famke Kraaijeveld</a:t>
            </a:r>
            <a:r>
              <a:rPr lang="en-GB" smtClean="0"/>
              <a:t>, </a:t>
            </a:r>
            <a:r>
              <a:rPr lang="en-GB" smtClean="0"/>
              <a:t>PTI/RC</a:t>
            </a:r>
            <a:endParaRPr lang="en-GB" dirty="0" smtClean="0"/>
          </a:p>
        </p:txBody>
      </p:sp>
      <p:sp>
        <p:nvSpPr>
          <p:cNvPr id="25" name="Text Placeholder 24" descr="&lt;ROLE&gt;{15.4689,461.2516,443.1134,124.257}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Python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en-GB" dirty="0" smtClean="0"/>
              <a:t>Open source</a:t>
            </a:r>
          </a:p>
          <a:p>
            <a:pPr lvl="1"/>
            <a:r>
              <a:rPr lang="en-GB" dirty="0" smtClean="0"/>
              <a:t>Fast to learn, many examples on the internet</a:t>
            </a:r>
          </a:p>
          <a:p>
            <a:pPr lvl="1"/>
            <a:r>
              <a:rPr lang="en-GB" dirty="0" smtClean="0"/>
              <a:t>Common script language for commercial software e.g. </a:t>
            </a:r>
            <a:r>
              <a:rPr lang="en-GB" dirty="0" err="1" smtClean="0"/>
              <a:t>TechLog</a:t>
            </a:r>
            <a:endParaRPr lang="en-GB" dirty="0" smtClean="0"/>
          </a:p>
          <a:p>
            <a:pPr lvl="1"/>
            <a:r>
              <a:rPr lang="en-GB" dirty="0" smtClean="0"/>
              <a:t>Can be used as entry point for other programming languages (wrapper capabilities)</a:t>
            </a:r>
          </a:p>
          <a:p>
            <a:pPr lvl="1"/>
            <a:r>
              <a:rPr lang="en-GB" dirty="0" smtClean="0"/>
              <a:t>Available via GI-D (</a:t>
            </a:r>
            <a:r>
              <a:rPr lang="en-GB" dirty="0" err="1" smtClean="0"/>
              <a:t>Enthought</a:t>
            </a:r>
            <a:r>
              <a:rPr lang="en-GB" dirty="0" smtClean="0"/>
              <a:t> Python Distribution)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to create a </a:t>
            </a:r>
            <a:r>
              <a:rPr lang="en-GB" dirty="0" err="1" smtClean="0"/>
              <a:t>UserModel</a:t>
            </a:r>
            <a:r>
              <a:rPr lang="en-GB" dirty="0" smtClean="0"/>
              <a:t> in Python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 smtClean="0"/>
              <a:t>The python script needs to contain 4 modules:</a:t>
            </a:r>
          </a:p>
          <a:p>
            <a:pPr lvl="1"/>
            <a:r>
              <a:rPr lang="en-GB" dirty="0" err="1" smtClean="0"/>
              <a:t>get_input_parameters</a:t>
            </a:r>
            <a:endParaRPr lang="en-GB" dirty="0" smtClean="0"/>
          </a:p>
          <a:p>
            <a:pPr lvl="1">
              <a:buNone/>
            </a:pPr>
            <a:r>
              <a:rPr lang="en-GB" dirty="0" smtClean="0"/>
              <a:t>	list of names for the parameters, to be shown in UI</a:t>
            </a:r>
          </a:p>
          <a:p>
            <a:pPr lvl="1"/>
            <a:r>
              <a:rPr lang="en-GB" dirty="0" err="1" smtClean="0"/>
              <a:t>get_response_parameters</a:t>
            </a:r>
            <a:endParaRPr lang="en-GB" dirty="0" smtClean="0"/>
          </a:p>
          <a:p>
            <a:pPr lvl="1">
              <a:buNone/>
            </a:pPr>
            <a:r>
              <a:rPr lang="en-GB" dirty="0" smtClean="0"/>
              <a:t>	list of names of the responses, to be shown in UI</a:t>
            </a:r>
          </a:p>
          <a:p>
            <a:pPr lvl="1"/>
            <a:r>
              <a:rPr lang="en-GB" dirty="0" err="1" smtClean="0"/>
              <a:t>get_response</a:t>
            </a:r>
            <a:endParaRPr lang="en-GB" dirty="0" smtClean="0"/>
          </a:p>
          <a:p>
            <a:pPr lvl="1">
              <a:buNone/>
            </a:pPr>
            <a:r>
              <a:rPr lang="en-GB" dirty="0" smtClean="0"/>
              <a:t> 	calculation model of the responses, parameter list should coincide with the names</a:t>
            </a:r>
          </a:p>
          <a:p>
            <a:pPr lvl="1"/>
            <a:r>
              <a:rPr lang="en-GB" dirty="0" err="1" smtClean="0"/>
              <a:t>get_zvalue</a:t>
            </a:r>
            <a:endParaRPr lang="en-GB" dirty="0"/>
          </a:p>
          <a:p>
            <a:pPr lvl="1">
              <a:buNone/>
            </a:pPr>
            <a:r>
              <a:rPr lang="en-GB" dirty="0" smtClean="0"/>
              <a:t>	Calculation model of the LSF or z value, such that negative values means 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Set up </a:t>
            </a:r>
            <a:r>
              <a:rPr lang="en-GB" smtClean="0"/>
              <a:t>CORA project</a:t>
            </a:r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Set up </a:t>
            </a:r>
            <a:r>
              <a:rPr lang="en-GB" dirty="0" err="1"/>
              <a:t>UserModel</a:t>
            </a:r>
            <a:r>
              <a:rPr lang="en-GB" dirty="0"/>
              <a:t> Cora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09899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General workflow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 smtClean="0"/>
              <a:t>Create your python model according to specifications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/>
              <a:t>Open CORA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/>
              <a:t>Define failure model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/>
              <a:t>Do the analysis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Define failure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sz="1800" dirty="0" smtClean="0"/>
              <a:t>The model including objects of failure and failure mechanism are defined here.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1</a:t>
            </a:r>
            <a:r>
              <a:rPr lang="en-GB" sz="1800" dirty="0" smtClean="0"/>
              <a:t>: Choose your engine: </a:t>
            </a:r>
            <a:r>
              <a:rPr lang="en-GB" sz="1800" dirty="0" err="1" smtClean="0"/>
              <a:t>UserModel</a:t>
            </a:r>
            <a:endParaRPr lang="en-GB" sz="1800" dirty="0" smtClean="0"/>
          </a:p>
          <a:p>
            <a:r>
              <a:rPr lang="en-GB" sz="1800" dirty="0" smtClean="0">
                <a:solidFill>
                  <a:srgbClr val="FF0000"/>
                </a:solidFill>
              </a:rPr>
              <a:t>Step 2</a:t>
            </a:r>
            <a:r>
              <a:rPr lang="en-GB" sz="1800" dirty="0" smtClean="0"/>
              <a:t>: Browse to Python script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3</a:t>
            </a:r>
            <a:r>
              <a:rPr lang="en-GB" sz="1800" dirty="0" smtClean="0"/>
              <a:t>: Give a &lt;Failure name&gt; (name will be used as indicator throughout analysis)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4</a:t>
            </a:r>
            <a:r>
              <a:rPr lang="en-GB" sz="1800" dirty="0" smtClean="0"/>
              <a:t>: Press &lt;Add&gt; and &lt;Done&gt; </a:t>
            </a: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83419" y="2952925"/>
            <a:ext cx="3857140" cy="3298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1436374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Define </a:t>
            </a:r>
            <a:r>
              <a:rPr lang="en-GB" dirty="0" err="1" smtClean="0"/>
              <a:t>basecase</a:t>
            </a:r>
            <a:r>
              <a:rPr lang="en-GB" dirty="0" smtClean="0"/>
              <a:t> and uncertainties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56261" y="902525"/>
            <a:ext cx="8321014" cy="5480813"/>
          </a:xfrm>
        </p:spPr>
        <p:txBody>
          <a:bodyPr/>
          <a:lstStyle/>
          <a:p>
            <a:r>
              <a:rPr lang="en-GB" sz="1800" dirty="0" smtClean="0"/>
              <a:t>As the user model does not contain base values, these have to be defined with the uncertainties: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1</a:t>
            </a:r>
            <a:r>
              <a:rPr lang="en-GB" sz="1800" dirty="0" smtClean="0"/>
              <a:t>: Go to sheet &lt; </a:t>
            </a:r>
            <a:r>
              <a:rPr lang="en-GB" sz="1800" dirty="0" err="1" smtClean="0"/>
              <a:t>UserModel</a:t>
            </a:r>
            <a:r>
              <a:rPr lang="en-GB" sz="1800" dirty="0" smtClean="0"/>
              <a:t>&gt;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2</a:t>
            </a:r>
            <a:r>
              <a:rPr lang="en-GB" sz="1800" dirty="0" smtClean="0"/>
              <a:t>: Fill in calculation path and number of parallel threads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3</a:t>
            </a:r>
            <a:r>
              <a:rPr lang="en-GB" sz="1800" dirty="0" smtClean="0"/>
              <a:t>: Fill in the base case values (default deterministic)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4</a:t>
            </a:r>
            <a:r>
              <a:rPr lang="en-GB" sz="1800" dirty="0" smtClean="0"/>
              <a:t>: Define the uncertainty distributions and correlations (Button right top corner)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6</a:t>
            </a:r>
            <a:r>
              <a:rPr lang="en-GB" sz="1800" dirty="0" smtClean="0"/>
              <a:t>: Define min, max and step size for the control parameters (reliability analysis) when wanted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7</a:t>
            </a:r>
            <a:r>
              <a:rPr lang="en-GB" sz="1800" dirty="0" smtClean="0"/>
              <a:t>: When satisfied press &lt;Validate and continue&gt;</a:t>
            </a:r>
          </a:p>
          <a:p>
            <a:endParaRPr lang="en-GB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570015" y="4322618"/>
            <a:ext cx="8131451" cy="2152835"/>
            <a:chOff x="570015" y="4322618"/>
            <a:chExt cx="8131451" cy="2152835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015" y="4322618"/>
              <a:ext cx="8131451" cy="2152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Oval 7"/>
            <p:cNvSpPr/>
            <p:nvPr/>
          </p:nvSpPr>
          <p:spPr>
            <a:xfrm>
              <a:off x="3523181" y="4805890"/>
              <a:ext cx="1112559" cy="453159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57577" y="4718488"/>
              <a:ext cx="1050435" cy="3021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>
                <a:lnSpc>
                  <a:spcPct val="113000"/>
                </a:lnSpc>
                <a:spcAft>
                  <a:spcPts val="60"/>
                </a:spcAft>
              </a:pPr>
              <a:r>
                <a:rPr lang="en-GB" sz="1600" dirty="0" smtClean="0">
                  <a:solidFill>
                    <a:srgbClr val="C00000"/>
                  </a:solidFill>
                </a:rPr>
                <a:t>Python script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32059" y="5399035"/>
              <a:ext cx="662376" cy="107641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94435" y="5436164"/>
              <a:ext cx="1050435" cy="3021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>
                <a:lnSpc>
                  <a:spcPct val="113000"/>
                </a:lnSpc>
                <a:spcAft>
                  <a:spcPts val="60"/>
                </a:spcAft>
              </a:pPr>
              <a:r>
                <a:rPr lang="en-GB" sz="1600" dirty="0" smtClean="0">
                  <a:solidFill>
                    <a:srgbClr val="C00000"/>
                  </a:solidFill>
                </a:rPr>
                <a:t>Parameters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830827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Further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The rest of the workflow is the same as for the other engines</a:t>
            </a:r>
            <a:r>
              <a:rPr lang="en-GB" dirty="0" smtClean="0"/>
              <a:t>.</a:t>
            </a:r>
          </a:p>
          <a:p>
            <a:endParaRPr lang="en-GB" dirty="0" smtClean="0"/>
          </a:p>
          <a:p>
            <a:r>
              <a:rPr lang="en-GB" dirty="0" smtClean="0"/>
              <a:t>Quick screening:</a:t>
            </a:r>
          </a:p>
          <a:p>
            <a:pPr lvl="1"/>
            <a:r>
              <a:rPr lang="en-GB" dirty="0" smtClean="0"/>
              <a:t>When </a:t>
            </a:r>
            <a:r>
              <a:rPr lang="en-GB" dirty="0"/>
              <a:t>multiple responses are listed in the model, they will all be </a:t>
            </a:r>
            <a:r>
              <a:rPr lang="en-GB" dirty="0" smtClean="0"/>
              <a:t>calculated in the quick screening</a:t>
            </a:r>
          </a:p>
          <a:p>
            <a:pPr lvl="1"/>
            <a:r>
              <a:rPr lang="en-GB" dirty="0" smtClean="0"/>
              <a:t>The relation between the parameters and the responses can be analysed by examining the different proxies.</a:t>
            </a:r>
          </a:p>
          <a:p>
            <a:pPr marL="0" lvl="1" indent="0">
              <a:buNone/>
            </a:pPr>
            <a:endParaRPr lang="en-GB" dirty="0" smtClean="0"/>
          </a:p>
          <a:p>
            <a:pPr marL="0" lvl="1" indent="0">
              <a:buNone/>
            </a:pPr>
            <a:r>
              <a:rPr lang="en-GB" dirty="0" smtClean="0"/>
              <a:t>Reliability analysis</a:t>
            </a:r>
            <a:endParaRPr lang="en-GB" dirty="0"/>
          </a:p>
          <a:p>
            <a:pPr lvl="1"/>
            <a:r>
              <a:rPr lang="en-GB" dirty="0" smtClean="0"/>
              <a:t>The limit function of choice can be selected or all</a:t>
            </a:r>
          </a:p>
          <a:p>
            <a:pPr lvl="1"/>
            <a:r>
              <a:rPr lang="en-GB" dirty="0" smtClean="0"/>
              <a:t>The limit provided is the resistance given to the function &lt;</a:t>
            </a:r>
            <a:r>
              <a:rPr lang="en-GB" dirty="0" err="1" smtClean="0"/>
              <a:t>get_zvalue</a:t>
            </a:r>
            <a:r>
              <a:rPr lang="en-GB" dirty="0" smtClean="0"/>
              <a:t>&gt;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sz="2400" dirty="0"/>
              <a:t>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063651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User model best practice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en-GB" dirty="0" smtClean="0"/>
              <a:t>Validate input (set response to ‘</a:t>
            </a:r>
            <a:r>
              <a:rPr lang="en-GB" dirty="0" err="1" smtClean="0"/>
              <a:t>nan</a:t>
            </a:r>
            <a:r>
              <a:rPr lang="en-GB" dirty="0" smtClean="0"/>
              <a:t>’ or raise value error when invalid input)</a:t>
            </a:r>
          </a:p>
          <a:p>
            <a:pPr lvl="1"/>
            <a:r>
              <a:rPr lang="en-GB" dirty="0" smtClean="0"/>
              <a:t>No print statements (slows calculation down)</a:t>
            </a:r>
          </a:p>
          <a:p>
            <a:pPr lvl="1"/>
            <a:r>
              <a:rPr lang="en-GB" dirty="0" smtClean="0"/>
              <a:t>Use clear names</a:t>
            </a:r>
          </a:p>
          <a:p>
            <a:pPr lvl="1"/>
            <a:r>
              <a:rPr lang="en-GB" dirty="0" smtClean="0"/>
              <a:t>LSF &gt; 0 is no failure</a:t>
            </a:r>
            <a:endParaRPr lang="en-GB" dirty="0"/>
          </a:p>
          <a:p>
            <a:pPr lvl="1"/>
            <a:r>
              <a:rPr lang="en-GB" dirty="0" err="1" smtClean="0"/>
              <a:t>QuickBlocks</a:t>
            </a:r>
            <a:r>
              <a:rPr lang="en-GB" dirty="0" smtClean="0"/>
              <a:t> comes with python “</a:t>
            </a:r>
            <a:r>
              <a:rPr lang="en-GB" dirty="0" err="1" smtClean="0"/>
              <a:t>lite</a:t>
            </a:r>
            <a:r>
              <a:rPr lang="en-GB" dirty="0" smtClean="0"/>
              <a:t>” (pythonw.exe) and can therefore be used as python engine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ExamplE</a:t>
            </a:r>
            <a:r>
              <a:rPr lang="en-GB" dirty="0" smtClean="0"/>
              <a:t> use of user model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802728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nl-NL" dirty="0" smtClean="0"/>
              <a:t>Allowable injection pressure (1)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862643" y="950409"/>
            <a:ext cx="5477772" cy="5432929"/>
          </a:xfrm>
        </p:spPr>
        <p:txBody>
          <a:bodyPr/>
          <a:lstStyle/>
          <a:p>
            <a:r>
              <a:rPr lang="en-GB" dirty="0" smtClean="0"/>
              <a:t>Objective: Maximum allowable injection pressure?</a:t>
            </a:r>
          </a:p>
          <a:p>
            <a:r>
              <a:rPr lang="en-GB" dirty="0" smtClean="0"/>
              <a:t>Step 1: Analytical model + uncertainties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Step 2</a:t>
            </a:r>
            <a:r>
              <a:rPr lang="en-GB" dirty="0"/>
              <a:t>: Screening: </a:t>
            </a:r>
            <a:r>
              <a:rPr lang="en-GB" dirty="0" smtClean="0"/>
              <a:t>Cohesion (S0) </a:t>
            </a:r>
            <a:r>
              <a:rPr lang="en-GB" dirty="0"/>
              <a:t>has large impact on safety margin, because of </a:t>
            </a:r>
            <a:endParaRPr lang="en-GB" dirty="0" smtClean="0"/>
          </a:p>
          <a:p>
            <a:pPr marL="457200" indent="-457200">
              <a:buAutoNum type="arabicPeriod"/>
            </a:pPr>
            <a:r>
              <a:rPr lang="en-GB" b="1" dirty="0" smtClean="0"/>
              <a:t>M.C</a:t>
            </a:r>
            <a:r>
              <a:rPr lang="en-GB" b="1" dirty="0"/>
              <a:t>. </a:t>
            </a:r>
            <a:r>
              <a:rPr lang="en-GB" b="1" dirty="0" smtClean="0"/>
              <a:t>failure model</a:t>
            </a:r>
            <a:r>
              <a:rPr lang="en-GB" b="1" dirty="0"/>
              <a:t>; </a:t>
            </a:r>
            <a:endParaRPr lang="en-GB" b="1" dirty="0" smtClean="0"/>
          </a:p>
          <a:p>
            <a:pPr marL="457200" indent="-457200">
              <a:buAutoNum type="arabicPeriod"/>
            </a:pPr>
            <a:r>
              <a:rPr lang="en-GB" b="1" dirty="0" smtClean="0"/>
              <a:t>Large </a:t>
            </a:r>
            <a:r>
              <a:rPr lang="en-GB" b="1" dirty="0"/>
              <a:t>uncertainty range</a:t>
            </a:r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1575" y="1805046"/>
            <a:ext cx="6566470" cy="1888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9068" y="3487425"/>
            <a:ext cx="2679166" cy="3051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8219586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nl-NL" dirty="0"/>
              <a:t>Allowable injection pressure </a:t>
            </a:r>
            <a:r>
              <a:rPr lang="nl-NL" dirty="0" smtClean="0"/>
              <a:t>(2)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aphicFrame>
        <p:nvGraphicFramePr>
          <p:cNvPr id="7" name="Chart 6"/>
          <p:cNvGraphicFramePr/>
          <p:nvPr/>
        </p:nvGraphicFramePr>
        <p:xfrm>
          <a:off x="266218" y="1539433"/>
          <a:ext cx="5019040" cy="3625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074" name="Picture 2" descr="C:\Apps\0PROJECTS\Case_Studies\Asia\SSB\Gumusut\UserModel_ProjectOutput_2014-07-16_20-47-59_INFL_pdflin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4320" y="3713480"/>
            <a:ext cx="3637280" cy="2727960"/>
          </a:xfrm>
          <a:prstGeom prst="rect">
            <a:avLst/>
          </a:prstGeom>
          <a:noFill/>
        </p:spPr>
      </p:pic>
      <p:pic>
        <p:nvPicPr>
          <p:cNvPr id="3075" name="Picture 3" descr="C:\Apps\0PROJECTS\Case_Studies\Asia\SSB\Gumusut\UserModel_ProjectOutput_2014-07-16_20-47-59_INFL_cdflin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47546" y="1178559"/>
            <a:ext cx="3562774" cy="2672081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6441440" y="944880"/>
            <a:ext cx="1574800" cy="477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7800" indent="-177800">
              <a:lnSpc>
                <a:spcPct val="113000"/>
              </a:lnSpc>
              <a:spcAft>
                <a:spcPts val="60"/>
              </a:spcAft>
            </a:pPr>
            <a:r>
              <a:rPr lang="en-GB" sz="1600" b="1" dirty="0" smtClean="0"/>
              <a:t>@ DEPL = 400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187440" y="3362960"/>
            <a:ext cx="0" cy="2336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801360" y="3362960"/>
            <a:ext cx="375920" cy="101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74560" y="30480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7800" indent="-177800">
              <a:lnSpc>
                <a:spcPct val="113000"/>
              </a:lnSpc>
              <a:spcAft>
                <a:spcPts val="60"/>
              </a:spcAft>
            </a:pPr>
            <a:endParaRPr lang="en-GB" sz="16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6939280" y="2966720"/>
            <a:ext cx="1818640" cy="6400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7800" indent="-177800">
              <a:lnSpc>
                <a:spcPct val="113000"/>
              </a:lnSpc>
              <a:spcAft>
                <a:spcPts val="60"/>
              </a:spcAft>
            </a:pPr>
            <a:r>
              <a:rPr lang="en-GB" sz="1600" dirty="0" smtClean="0">
                <a:solidFill>
                  <a:srgbClr val="FF0000"/>
                </a:solidFill>
              </a:rPr>
              <a:t>When 10% safe, </a:t>
            </a:r>
          </a:p>
          <a:p>
            <a:pPr marL="177800" indent="-177800">
              <a:lnSpc>
                <a:spcPct val="113000"/>
              </a:lnSpc>
              <a:spcAft>
                <a:spcPts val="60"/>
              </a:spcAft>
            </a:pPr>
            <a:r>
              <a:rPr lang="en-GB" sz="1600" dirty="0" smtClean="0">
                <a:solidFill>
                  <a:srgbClr val="FF0000"/>
                </a:solidFill>
              </a:rPr>
              <a:t>max INFL = 450 psi</a:t>
            </a:r>
          </a:p>
        </p:txBody>
      </p:sp>
    </p:spTree>
    <p:extLst>
      <p:ext uri="{BB962C8B-B14F-4D97-AF65-F5344CB8AC3E}">
        <p14:creationId xmlns:p14="http://schemas.microsoft.com/office/powerpoint/2010/main" val="27873466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Example Python files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73553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DUMMY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import sys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numpy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as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np</a:t>
            </a:r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get_input_parameters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return ["A", "B", "C", "D", "E"]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get_response_parameters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return ["Result 1", "Result 2"]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get_response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(par1,par2,par3,par4,par5):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errval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 float('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NaN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if par1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resp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 [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errval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errval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else:   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	res1 = par5 - par4 - par3 - par2 - par1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   res2 = par5 + par4 - par3 - par2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resp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 [res1, res2]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return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resp</a:t>
            </a:r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get_zvalue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responsename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, response, resistance):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if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responsename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== "Result 1" 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	z = response[0] - resistance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elif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responsename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== "Result 2" 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	z = resistance - response[1]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	raise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ValueError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("response name unknown")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	return z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7415213" y="1214437"/>
          <a:ext cx="965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name="Packager Shell Object" showAsIcon="1" r:id="rId3" imgW="964800" imgH="685800" progId="Package">
                  <p:embed/>
                </p:oleObj>
              </mc:Choice>
              <mc:Fallback>
                <p:oleObj name="Packager Shell Object" showAsIcon="1" r:id="rId3" imgW="964800" imgH="685800" progId="Package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213" y="1214437"/>
                        <a:ext cx="965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7100888" y="1928813"/>
          <a:ext cx="16748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Packager Shell Object" showAsIcon="1" r:id="rId5" imgW="1675440" imgH="685800" progId="Package">
                  <p:embed/>
                </p:oleObj>
              </mc:Choice>
              <mc:Fallback>
                <p:oleObj name="Packager Shell Object" showAsIcon="1" r:id="rId5" imgW="1675440" imgH="685800" progId="Package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888" y="1928813"/>
                        <a:ext cx="16748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Tensile failure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06511" y="938151"/>
            <a:ext cx="7770763" cy="5445187"/>
          </a:xfrm>
        </p:spPr>
        <p:txBody>
          <a:bodyPr/>
          <a:lstStyle/>
          <a:p>
            <a:pPr lvl="1"/>
            <a:r>
              <a:rPr lang="en-GB" sz="1800" dirty="0" smtClean="0"/>
              <a:t>Analysis with different stress paths for depletion and injection</a:t>
            </a:r>
          </a:p>
          <a:p>
            <a:pPr lvl="1"/>
            <a:r>
              <a:rPr lang="en-GB" sz="1800" dirty="0" smtClean="0"/>
              <a:t>Check </a:t>
            </a:r>
            <a:r>
              <a:rPr lang="en-GB" sz="1800" dirty="0"/>
              <a:t>by running “</a:t>
            </a:r>
            <a:r>
              <a:rPr lang="en-GB" sz="1800" dirty="0" smtClean="0"/>
              <a:t>checkyourmodel_TF.py</a:t>
            </a:r>
            <a:r>
              <a:rPr lang="en-GB" sz="1800" dirty="0"/>
              <a:t>”</a:t>
            </a:r>
          </a:p>
          <a:p>
            <a:pPr lvl="1"/>
            <a:r>
              <a:rPr lang="en-GB" sz="1800" dirty="0"/>
              <a:t>Response part (geomechanical response, check if S1&gt;S3</a:t>
            </a:r>
            <a:r>
              <a:rPr lang="en-GB" sz="1800" dirty="0" smtClean="0"/>
              <a:t>):</a:t>
            </a:r>
          </a:p>
          <a:p>
            <a:pPr>
              <a:lnSpc>
                <a:spcPct val="100000"/>
              </a:lnSpc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## Stress ratio</a:t>
            </a:r>
          </a:p>
          <a:p>
            <a:pPr>
              <a:lnSpc>
                <a:spcPct val="100000"/>
              </a:lnSpc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Sig1_eff = S1_ini - (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Pp_ini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-DEPL+INFL)</a:t>
            </a:r>
          </a:p>
          <a:p>
            <a:pPr>
              <a:lnSpc>
                <a:spcPct val="100000"/>
              </a:lnSpc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Sig3_eff = (S3_ini-(DEPL*gam3_depl)+INFL*gam3_infl) - (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Pp_ini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-DEPL+INFL)</a:t>
            </a:r>
          </a:p>
          <a:p>
            <a:pPr>
              <a:lnSpc>
                <a:spcPct val="100000"/>
              </a:lnSpc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SR = Sig3_eff / Sig1_eff</a:t>
            </a:r>
          </a:p>
          <a:p>
            <a:pPr>
              <a:lnSpc>
                <a:spcPct val="100000"/>
              </a:lnSpc>
            </a:pPr>
            <a:r>
              <a:rPr lang="en-US" sz="1100" dirty="0" smtClean="0">
                <a:latin typeface="Courier New" pitchFamily="49" charset="0"/>
                <a:cs typeface="Courier New" pitchFamily="49" charset="0"/>
              </a:rPr>
              <a:t>##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Tensile Failure</a:t>
            </a:r>
          </a:p>
          <a:p>
            <a:pPr>
              <a:lnSpc>
                <a:spcPct val="100000"/>
              </a:lnSpc>
            </a:pP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TensFail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np.min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([Sig3_eff, Sig1_eff])</a:t>
            </a:r>
          </a:p>
          <a:p>
            <a:pPr>
              <a:lnSpc>
                <a:spcPct val="100000"/>
              </a:lnSpc>
            </a:pPr>
            <a:r>
              <a:rPr lang="en-US" sz="1100" dirty="0" smtClean="0">
                <a:latin typeface="Courier New" pitchFamily="49" charset="0"/>
                <a:cs typeface="Courier New" pitchFamily="49" charset="0"/>
              </a:rPr>
              <a:t>###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RESPONSE CALCULATION</a:t>
            </a:r>
          </a:p>
          <a:p>
            <a:pPr>
              <a:lnSpc>
                <a:spcPct val="100000"/>
              </a:lnSpc>
            </a:pP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resp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= [SR,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TensFail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]</a:t>
            </a:r>
            <a:endParaRPr lang="en-GB" sz="11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sz="1800" dirty="0" smtClean="0"/>
              <a:t>Failure </a:t>
            </a:r>
            <a:r>
              <a:rPr lang="en-GB" sz="1800" dirty="0"/>
              <a:t>part (be careful of the sign</a:t>
            </a:r>
            <a:r>
              <a:rPr lang="en-GB" sz="1800" dirty="0" smtClean="0"/>
              <a:t>!!):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respname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== "SR" : </a:t>
            </a:r>
          </a:p>
          <a:p>
            <a:pPr>
              <a:lnSpc>
                <a:spcPct val="100000"/>
              </a:lnSpc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	LSF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 -(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resp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[0] - resistance)</a:t>
            </a:r>
          </a:p>
          <a:p>
            <a:pPr>
              <a:lnSpc>
                <a:spcPct val="100000"/>
              </a:lnSpc>
            </a:pP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elif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respname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== "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TensFail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" : </a:t>
            </a:r>
          </a:p>
          <a:p>
            <a:pPr>
              <a:lnSpc>
                <a:spcPct val="100000"/>
              </a:lnSpc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	LSF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 -(resistance -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resp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[1])</a:t>
            </a:r>
          </a:p>
          <a:p>
            <a:pPr>
              <a:lnSpc>
                <a:spcPct val="100000"/>
              </a:lnSpc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else: raise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ValueError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("response name unknown") </a:t>
            </a:r>
            <a:endParaRPr lang="en-GB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752646"/>
              </p:ext>
            </p:extLst>
          </p:nvPr>
        </p:nvGraphicFramePr>
        <p:xfrm>
          <a:off x="7339013" y="1128713"/>
          <a:ext cx="1143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Packager Shell Object" showAsIcon="1" r:id="rId3" imgW="1142280" imgH="685800" progId="Package">
                  <p:embed/>
                </p:oleObj>
              </mc:Choice>
              <mc:Fallback>
                <p:oleObj name="Packager Shell Object" showAsIcon="1" r:id="rId3" imgW="1142280" imgH="685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39013" y="1128713"/>
                        <a:ext cx="1143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700810"/>
              </p:ext>
            </p:extLst>
          </p:nvPr>
        </p:nvGraphicFramePr>
        <p:xfrm>
          <a:off x="6887647" y="1959964"/>
          <a:ext cx="19669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Packager Shell Object" showAsIcon="1" r:id="rId5" imgW="1967400" imgH="685800" progId="Package">
                  <p:embed/>
                </p:oleObj>
              </mc:Choice>
              <mc:Fallback>
                <p:oleObj name="Packager Shell Object" showAsIcon="1" r:id="rId5" imgW="1967400" imgH="685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87647" y="1959964"/>
                        <a:ext cx="1966913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083099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Shear Failure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06511" y="938151"/>
            <a:ext cx="7770763" cy="5445187"/>
          </a:xfrm>
        </p:spPr>
        <p:txBody>
          <a:bodyPr/>
          <a:lstStyle/>
          <a:p>
            <a:pPr lvl="1"/>
            <a:r>
              <a:rPr lang="en-GB" sz="1800" dirty="0"/>
              <a:t>Analysis with different stress paths for depletion and </a:t>
            </a:r>
            <a:r>
              <a:rPr lang="en-GB" sz="1800" dirty="0" smtClean="0"/>
              <a:t>injection</a:t>
            </a:r>
          </a:p>
          <a:p>
            <a:pPr lvl="1"/>
            <a:r>
              <a:rPr lang="en-GB" sz="1800" dirty="0" smtClean="0"/>
              <a:t>Check by running “checkyourmodel_MC.py”</a:t>
            </a:r>
          </a:p>
          <a:p>
            <a:pPr lvl="1"/>
            <a:r>
              <a:rPr lang="en-GB" sz="1800" dirty="0" smtClean="0"/>
              <a:t>Response part (geomechanical response, check if S1&gt;S3):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##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SCU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tau = ( Sig1_eff - Sig3_eff )/2.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sig_a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 ( Sig1_eff + Sig3_eff )/2.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taumax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 S0 *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np.cos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phirad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) +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sig_a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np.sin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phirad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taumax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&lt;= 0: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	SCU = 10.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else: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	SCU = tau/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taumax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### RESPONSE CALCULATION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resp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 [SR, SCU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]</a:t>
            </a:r>
            <a:endParaRPr lang="en-GB" dirty="0" smtClean="0"/>
          </a:p>
          <a:p>
            <a:pPr lvl="1"/>
            <a:r>
              <a:rPr lang="en-GB" sz="1800" dirty="0" smtClean="0"/>
              <a:t>Failure part (be careful of the sign!!):</a:t>
            </a:r>
            <a:endParaRPr lang="en-GB" sz="1800" dirty="0"/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respname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== "SR" : 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	LSF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resp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[0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] - resistance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elif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respname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== "SCU" : 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	LSF 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 resistance -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resp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[1]</a:t>
            </a:r>
          </a:p>
          <a:p>
            <a:pPr marL="179387" lvl="2" indent="0">
              <a:lnSpc>
                <a:spcPct val="100000"/>
              </a:lnSpc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: raise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ValueError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("response name unknown")</a:t>
            </a:r>
            <a:endParaRPr lang="en-GB" sz="1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146144"/>
              </p:ext>
            </p:extLst>
          </p:nvPr>
        </p:nvGraphicFramePr>
        <p:xfrm>
          <a:off x="6743700" y="1985963"/>
          <a:ext cx="20558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Packager Shell Object" showAsIcon="1" r:id="rId3" imgW="2056320" imgH="685800" progId="Package">
                  <p:embed/>
                </p:oleObj>
              </mc:Choice>
              <mc:Fallback>
                <p:oleObj name="Packager Shell Object" showAsIcon="1" r:id="rId3" imgW="2056320" imgH="685800" progId="Package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1985963"/>
                        <a:ext cx="20558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799020"/>
              </p:ext>
            </p:extLst>
          </p:nvPr>
        </p:nvGraphicFramePr>
        <p:xfrm>
          <a:off x="6994154" y="2790475"/>
          <a:ext cx="15224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Packager Shell Object" showAsIcon="1" r:id="rId5" imgW="1523160" imgH="685800" progId="Package">
                  <p:embed/>
                </p:oleObj>
              </mc:Choice>
              <mc:Fallback>
                <p:oleObj name="Packager Shell Object" showAsIcon="1" r:id="rId5" imgW="1523160" imgH="685800" progId="Packag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154" y="2790475"/>
                        <a:ext cx="15224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ell layouts with footer">
  <a:themeElements>
    <a:clrScheme name="Shell - Colours">
      <a:dk1>
        <a:srgbClr val="595959"/>
      </a:dk1>
      <a:lt1>
        <a:srgbClr val="FFFFFF"/>
      </a:lt1>
      <a:dk2>
        <a:srgbClr val="999999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2051</TotalTime>
  <Words>721</Words>
  <Application>Microsoft Office PowerPoint</Application>
  <PresentationFormat>On-screen Show (4:3)</PresentationFormat>
  <Paragraphs>191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Wingdings</vt:lpstr>
      <vt:lpstr>Futura Medium</vt:lpstr>
      <vt:lpstr>Futura Light</vt:lpstr>
      <vt:lpstr>Courier New</vt:lpstr>
      <vt:lpstr>Shell layouts with footer</vt:lpstr>
      <vt:lpstr>Packager Shell Object</vt:lpstr>
      <vt:lpstr>Guideline UserModel</vt:lpstr>
      <vt:lpstr>Why Python</vt:lpstr>
      <vt:lpstr>How to create a UserModel in Python</vt:lpstr>
      <vt:lpstr>Set up CORA project</vt:lpstr>
      <vt:lpstr>General workflow</vt:lpstr>
      <vt:lpstr>Define failure model</vt:lpstr>
      <vt:lpstr>Define basecase and uncertainties</vt:lpstr>
      <vt:lpstr>Further analysis</vt:lpstr>
      <vt:lpstr>User model best practice</vt:lpstr>
      <vt:lpstr>PowerPoint Presentation</vt:lpstr>
      <vt:lpstr>EXAMPLE: Allowable injection pressure (1) </vt:lpstr>
      <vt:lpstr>EXAMPLE: Allowable injection pressure (2)</vt:lpstr>
      <vt:lpstr>PowerPoint Presentation</vt:lpstr>
      <vt:lpstr>DUMMY MODEL</vt:lpstr>
      <vt:lpstr>A Tensile failure Model</vt:lpstr>
      <vt:lpstr>A Shear Failure Model</vt:lpstr>
      <vt:lpstr>PowerPoint Presentation</vt:lpstr>
    </vt:vector>
  </TitlesOfParts>
  <Company>Shell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Shell</dc:creator>
  <cp:lastModifiedBy>Kraaijeveld, Famke GSNL-PTI/RC</cp:lastModifiedBy>
  <cp:revision>454</cp:revision>
  <dcterms:created xsi:type="dcterms:W3CDTF">2009-11-25T14:32:06Z</dcterms:created>
  <dcterms:modified xsi:type="dcterms:W3CDTF">2016-02-08T11:17:59Z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Onscreen</vt:lpwstr>
  </property>
  <property fmtid="{D5CDD505-2E9C-101B-9397-08002B2CF9AE}" pid="3" name="WizKit Template Version">
    <vt:i4>4</vt:i4>
  </property>
</Properties>
</file>