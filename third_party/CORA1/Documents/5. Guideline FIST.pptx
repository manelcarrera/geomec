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358" r:id="rId3"/>
    <p:sldId id="355" r:id="rId4"/>
    <p:sldId id="356" r:id="rId5"/>
    <p:sldId id="357" r:id="rId6"/>
    <p:sldId id="359" r:id="rId7"/>
    <p:sldId id="360" r:id="rId8"/>
    <p:sldId id="361" r:id="rId9"/>
    <p:sldId id="362" r:id="rId10"/>
    <p:sldId id="363" r:id="rId11"/>
    <p:sldId id="354" r:id="rId12"/>
  </p:sldIdLst>
  <p:sldSz cx="9144000" cy="6858000" type="screen4x3"/>
  <p:notesSz cx="6797675" cy="9926638"/>
  <p:embeddedFontLst>
    <p:embeddedFont>
      <p:font typeface="Futura Light" panose="00000400000000000000" pitchFamily="2" charset="0"/>
      <p:regular r:id="rId15"/>
    </p:embeddedFont>
    <p:embeddedFont>
      <p:font typeface="Futura Medium" panose="00000400000000000000" pitchFamily="2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9DB"/>
    <a:srgbClr val="99CDB7"/>
    <a:srgbClr val="66B492"/>
    <a:srgbClr val="339B6E"/>
    <a:srgbClr val="DFD1DE"/>
    <a:srgbClr val="C0A2BD"/>
    <a:srgbClr val="A0749B"/>
    <a:srgbClr val="81457A"/>
    <a:srgbClr val="CCD7E6"/>
    <a:srgbClr val="99A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8" autoAdjust="0"/>
    <p:restoredTop sz="88449" autoAdjust="0"/>
  </p:normalViewPr>
  <p:slideViewPr>
    <p:cSldViewPr snapToGrid="0" showGuides="1">
      <p:cViewPr>
        <p:scale>
          <a:sx n="110" d="100"/>
          <a:sy n="110" d="100"/>
        </p:scale>
        <p:origin x="-1782" y="-72"/>
      </p:cViewPr>
      <p:guideLst>
        <p:guide orient="horz" pos="4144"/>
        <p:guide orient="horz" pos="149"/>
        <p:guide orient="horz" pos="831"/>
        <p:guide orient="horz" pos="465"/>
        <p:guide orient="horz" pos="4021"/>
        <p:guide orient="horz" pos="2095"/>
        <p:guide orient="horz" pos="1787"/>
        <p:guide pos="574"/>
        <p:guide pos="5466"/>
        <p:guide pos="2930"/>
        <p:guide pos="300"/>
        <p:guide pos="31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notesViewPr>
    <p:cSldViewPr snapToGrid="0" showGuides="1">
      <p:cViewPr varScale="1">
        <p:scale>
          <a:sx n="52" d="100"/>
          <a:sy n="52" d="100"/>
        </p:scale>
        <p:origin x="-2640" y="-11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28/02/2016</a:t>
            </a:fld>
            <a:endParaRPr lang="en-GB" dirty="0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 dirty="0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415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28/02/2016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28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>
                <a:latin typeface="Futura Medium" pitchFamily="2" charset="0"/>
              </a:rPr>
              <a:pPr/>
              <a:t>1</a:t>
            </a:fld>
            <a:endParaRPr lang="en-GB">
              <a:latin typeface="Futura Medium" pitchFamily="2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5112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6972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3974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1717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0622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Should we show</a:t>
            </a:r>
            <a:r>
              <a:rPr lang="en-GB" baseline="0" dirty="0" smtClean="0"/>
              <a:t> a slide on Settings?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3921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11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468313" y="226142"/>
            <a:ext cx="8208961" cy="6167226"/>
            <a:chOff x="468313" y="226142"/>
            <a:chExt cx="8208961" cy="6167226"/>
          </a:xfrm>
        </p:grpSpPr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 flipH="1">
              <a:off x="468313" y="1307018"/>
              <a:ext cx="7020000" cy="50863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GB" smtClean="0"/>
                <a:t> </a:t>
              </a:r>
              <a:endParaRPr lang="en-GB" dirty="0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 flipH="1">
              <a:off x="1548071" y="226142"/>
              <a:ext cx="7129203" cy="504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 flipH="1">
              <a:off x="1548072" y="1307018"/>
              <a:ext cx="5942197" cy="3960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23" name="Picture 22" descr="Shell-2010-Pecten-RGBpc.wm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flipH="1">
              <a:off x="468313" y="290934"/>
              <a:ext cx="720000" cy="667868"/>
            </a:xfrm>
            <a:prstGeom prst="rect">
              <a:avLst/>
            </a:prstGeom>
            <a:noFill/>
          </p:spPr>
        </p:pic>
      </p:grpSp>
      <p:sp>
        <p:nvSpPr>
          <p:cNvPr id="28" name="Rectangle 2"/>
          <p:cNvSpPr>
            <a:spLocks noGrp="1" noChangeArrowheads="1"/>
          </p:cNvSpPr>
          <p:nvPr userDrawn="1">
            <p:ph type="ctrTitle"/>
          </p:nvPr>
        </p:nvSpPr>
        <p:spPr>
          <a:xfrm>
            <a:off x="1697782" y="1400847"/>
            <a:ext cx="5694536" cy="1206000"/>
          </a:xfrm>
          <a:noFill/>
        </p:spPr>
        <p:txBody>
          <a:bodyPr lIns="0" tIns="0" rIns="0"/>
          <a:lstStyle>
            <a:lvl1pPr>
              <a:defRPr kern="1200" cap="all" spc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 dirty="0"/>
              <a:t>Click to edit Master title </a:t>
            </a:r>
            <a:r>
              <a:rPr lang="en-GB" dirty="0" smtClean="0"/>
              <a:t>style</a:t>
            </a:r>
            <a:endParaRPr lang="en-GB" dirty="0"/>
          </a:p>
        </p:txBody>
      </p:sp>
      <p:sp>
        <p:nvSpPr>
          <p:cNvPr id="29" name="Rectangle 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697782" y="2851200"/>
            <a:ext cx="2700000" cy="1620000"/>
          </a:xfrm>
        </p:spPr>
        <p:txBody>
          <a:bodyPr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16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32" name="Text Placeholder 3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578064" y="5402511"/>
            <a:ext cx="5857896" cy="196455"/>
          </a:xfrm>
        </p:spPr>
        <p:txBody>
          <a:bodyPr anchor="t" anchorCtr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GB" smtClean="0"/>
              <a:t>Click to insert Author’s Name</a:t>
            </a:r>
            <a:endParaRPr lang="en-GB" dirty="0"/>
          </a:p>
        </p:txBody>
      </p:sp>
      <p:sp>
        <p:nvSpPr>
          <p:cNvPr id="33" name="Text Placeholder 3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578064" y="5627540"/>
            <a:ext cx="5857896" cy="196455"/>
          </a:xfrm>
        </p:spPr>
        <p:txBody>
          <a:bodyPr anchor="t" anchorCtr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GB" smtClean="0"/>
              <a:t>Click to insert Role in Organisation</a:t>
            </a:r>
            <a:endParaRPr lang="en-GB" dirty="0"/>
          </a:p>
        </p:txBody>
      </p:sp>
      <p:sp>
        <p:nvSpPr>
          <p:cNvPr id="24" name="Text Box 11" descr="Text Box 11"/>
          <p:cNvSpPr txBox="1">
            <a:spLocks noChangeArrowheads="1"/>
          </p:cNvSpPr>
          <p:nvPr userDrawn="1"/>
        </p:nvSpPr>
        <p:spPr bwMode="auto">
          <a:xfrm>
            <a:off x="468000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25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0799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February 2013</a:t>
            </a:r>
            <a:endParaRPr lang="en-GB" dirty="0"/>
          </a:p>
        </p:txBody>
      </p:sp>
      <p:sp>
        <p:nvSpPr>
          <p:cNvPr id="2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64400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8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5862638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906511" y="1312201"/>
            <a:ext cx="7770763" cy="5071137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20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1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2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906512" y="1312202"/>
            <a:ext cx="7766050" cy="5071136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20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5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906512" y="1312202"/>
            <a:ext cx="7766050" cy="5071136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 sz="1600"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 sz="1600"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4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69875" indent="-26987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54025" indent="-1841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2000"/>
            </a:lvl3pPr>
            <a:lvl4pPr marL="635000" indent="-17462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76225" indent="-27622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47675" indent="-171450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2000"/>
            </a:lvl3pPr>
            <a:lvl4pPr marL="635000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3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69875" indent="-269875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54025" indent="-1841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2000"/>
            </a:lvl3pPr>
            <a:lvl4pPr marL="635000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5pPr>
            <a:lvl6pPr marL="996950" indent="-185738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tabLst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76225" indent="-27622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49263" indent="-173038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2000"/>
            </a:lvl3pPr>
            <a:lvl4pPr marL="635000" indent="-180975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600"/>
            </a:lvl1pPr>
            <a:lvl2pPr marL="269875" indent="-2698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1600"/>
            </a:lvl2pPr>
            <a:lvl3pPr marL="454025" indent="-1841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3pPr>
            <a:lvl4pPr marL="635000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4pPr>
            <a:lvl5pPr marL="811213" indent="-16986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5pPr>
            <a:lvl6pPr marL="992188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Xx</a:t>
            </a:r>
          </a:p>
          <a:p>
            <a:pPr lvl="5"/>
            <a:r>
              <a:rPr lang="en-US" dirty="0" smtClean="0"/>
              <a:t>xx</a:t>
            </a:r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600"/>
            </a:lvl1pPr>
            <a:lvl2pPr marL="276225" indent="-276225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1600"/>
            </a:lvl2pPr>
            <a:lvl3pPr marL="447675" indent="-171450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3pPr>
            <a:lvl4pPr marL="635000" indent="-174625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4pPr>
            <a:lvl5pPr marL="811213" indent="-16986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5pPr>
            <a:lvl6pPr marL="992188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ntent Placeholder 51"/>
          <p:cNvSpPr>
            <a:spLocks noGrp="1"/>
          </p:cNvSpPr>
          <p:nvPr>
            <p:ph sz="quarter" idx="29" hasCustomPrompt="1"/>
          </p:nvPr>
        </p:nvSpPr>
        <p:spPr>
          <a:xfrm>
            <a:off x="904072" y="6267688"/>
            <a:ext cx="3747304" cy="99509"/>
          </a:xfrm>
        </p:spPr>
        <p:txBody>
          <a:bodyPr wrap="square">
            <a:noAutofit/>
          </a:bodyPr>
          <a:lstStyle>
            <a:lvl1pPr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SOURCE</a:t>
            </a:r>
            <a:endParaRPr lang="nl-NL" dirty="0"/>
          </a:p>
        </p:txBody>
      </p:sp>
      <p:sp>
        <p:nvSpPr>
          <p:cNvPr id="31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39" name="Content Placeholder 51"/>
          <p:cNvSpPr>
            <a:spLocks noGrp="1"/>
          </p:cNvSpPr>
          <p:nvPr>
            <p:ph sz="quarter" idx="45" hasCustomPrompt="1"/>
          </p:nvPr>
        </p:nvSpPr>
        <p:spPr>
          <a:xfrm>
            <a:off x="911225" y="4179607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Click to edit Unit of measure</a:t>
            </a:r>
            <a:endParaRPr lang="nl-NL" dirty="0"/>
          </a:p>
        </p:txBody>
      </p:sp>
      <p:sp>
        <p:nvSpPr>
          <p:cNvPr id="40" name="Content Placeholder 51"/>
          <p:cNvSpPr>
            <a:spLocks noGrp="1"/>
          </p:cNvSpPr>
          <p:nvPr>
            <p:ph sz="quarter" idx="46" hasCustomPrompt="1"/>
          </p:nvPr>
        </p:nvSpPr>
        <p:spPr>
          <a:xfrm>
            <a:off x="911225" y="3844644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CHART TITLE APPEARS HERE</a:t>
            </a:r>
            <a:endParaRPr lang="nl-NL" dirty="0"/>
          </a:p>
        </p:txBody>
      </p:sp>
      <p:cxnSp>
        <p:nvCxnSpPr>
          <p:cNvPr id="41" name="Straight Connector 40"/>
          <p:cNvCxnSpPr/>
          <p:nvPr userDrawn="1"/>
        </p:nvCxnSpPr>
        <p:spPr>
          <a:xfrm flipV="1">
            <a:off x="911225" y="4122457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hart Placeholder 16"/>
          <p:cNvSpPr>
            <a:spLocks noGrp="1"/>
          </p:cNvSpPr>
          <p:nvPr>
            <p:ph type="chart" sz="quarter" idx="47"/>
          </p:nvPr>
        </p:nvSpPr>
        <p:spPr>
          <a:xfrm>
            <a:off x="911225" y="4436262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43" name="Straight Connector 42"/>
          <p:cNvCxnSpPr/>
          <p:nvPr userDrawn="1"/>
        </p:nvCxnSpPr>
        <p:spPr>
          <a:xfrm>
            <a:off x="904071" y="5944860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ontent Placeholder 51"/>
          <p:cNvSpPr>
            <a:spLocks noGrp="1"/>
          </p:cNvSpPr>
          <p:nvPr>
            <p:ph sz="quarter" idx="54" hasCustomPrompt="1"/>
          </p:nvPr>
        </p:nvSpPr>
        <p:spPr>
          <a:xfrm>
            <a:off x="911225" y="1654176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Click to edit Unit of measure</a:t>
            </a:r>
            <a:endParaRPr lang="nl-NL" dirty="0"/>
          </a:p>
        </p:txBody>
      </p:sp>
      <p:sp>
        <p:nvSpPr>
          <p:cNvPr id="100" name="Content Placeholder 51"/>
          <p:cNvSpPr>
            <a:spLocks noGrp="1"/>
          </p:cNvSpPr>
          <p:nvPr>
            <p:ph sz="quarter" idx="55" hasCustomPrompt="1"/>
          </p:nvPr>
        </p:nvSpPr>
        <p:spPr>
          <a:xfrm>
            <a:off x="911225" y="1319213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CHART TITLE APPEARS HERE</a:t>
            </a:r>
            <a:endParaRPr lang="nl-NL" dirty="0"/>
          </a:p>
        </p:txBody>
      </p:sp>
      <p:cxnSp>
        <p:nvCxnSpPr>
          <p:cNvPr id="101" name="Straight Connector 100"/>
          <p:cNvCxnSpPr/>
          <p:nvPr userDrawn="1"/>
        </p:nvCxnSpPr>
        <p:spPr>
          <a:xfrm flipV="1">
            <a:off x="911225" y="1597026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hart Placeholder 16"/>
          <p:cNvSpPr>
            <a:spLocks noGrp="1"/>
          </p:cNvSpPr>
          <p:nvPr>
            <p:ph type="chart" sz="quarter" idx="56"/>
          </p:nvPr>
        </p:nvSpPr>
        <p:spPr>
          <a:xfrm>
            <a:off x="911225" y="1910831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03" name="Straight Connector 102"/>
          <p:cNvCxnSpPr/>
          <p:nvPr userDrawn="1"/>
        </p:nvCxnSpPr>
        <p:spPr>
          <a:xfrm>
            <a:off x="904071" y="3419429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Content Placeholder 51"/>
          <p:cNvSpPr>
            <a:spLocks noGrp="1"/>
          </p:cNvSpPr>
          <p:nvPr>
            <p:ph sz="quarter" idx="57" hasCustomPrompt="1"/>
          </p:nvPr>
        </p:nvSpPr>
        <p:spPr>
          <a:xfrm>
            <a:off x="4965700" y="4179607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Click to edit Unit of measure</a:t>
            </a:r>
            <a:endParaRPr lang="nl-NL" dirty="0"/>
          </a:p>
        </p:txBody>
      </p:sp>
      <p:sp>
        <p:nvSpPr>
          <p:cNvPr id="105" name="Content Placeholder 51"/>
          <p:cNvSpPr>
            <a:spLocks noGrp="1"/>
          </p:cNvSpPr>
          <p:nvPr>
            <p:ph sz="quarter" idx="58" hasCustomPrompt="1"/>
          </p:nvPr>
        </p:nvSpPr>
        <p:spPr>
          <a:xfrm>
            <a:off x="4965700" y="3844644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CHART TITLE APPEARS HERE</a:t>
            </a:r>
            <a:endParaRPr lang="nl-NL" dirty="0"/>
          </a:p>
        </p:txBody>
      </p:sp>
      <p:cxnSp>
        <p:nvCxnSpPr>
          <p:cNvPr id="106" name="Straight Connector 105"/>
          <p:cNvCxnSpPr/>
          <p:nvPr userDrawn="1"/>
        </p:nvCxnSpPr>
        <p:spPr>
          <a:xfrm flipV="1">
            <a:off x="4965700" y="4122457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hart Placeholder 16"/>
          <p:cNvSpPr>
            <a:spLocks noGrp="1"/>
          </p:cNvSpPr>
          <p:nvPr>
            <p:ph type="chart" sz="quarter" idx="59"/>
          </p:nvPr>
        </p:nvSpPr>
        <p:spPr>
          <a:xfrm>
            <a:off x="4965700" y="4436262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08" name="Straight Connector 107"/>
          <p:cNvCxnSpPr/>
          <p:nvPr userDrawn="1"/>
        </p:nvCxnSpPr>
        <p:spPr>
          <a:xfrm>
            <a:off x="4958546" y="5944860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ontent Placeholder 51"/>
          <p:cNvSpPr>
            <a:spLocks noGrp="1"/>
          </p:cNvSpPr>
          <p:nvPr>
            <p:ph sz="quarter" idx="60" hasCustomPrompt="1"/>
          </p:nvPr>
        </p:nvSpPr>
        <p:spPr>
          <a:xfrm>
            <a:off x="4965700" y="1654176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Click to edit Unit of measure</a:t>
            </a:r>
            <a:endParaRPr lang="nl-NL" dirty="0"/>
          </a:p>
        </p:txBody>
      </p:sp>
      <p:sp>
        <p:nvSpPr>
          <p:cNvPr id="110" name="Content Placeholder 51"/>
          <p:cNvSpPr>
            <a:spLocks noGrp="1"/>
          </p:cNvSpPr>
          <p:nvPr>
            <p:ph sz="quarter" idx="61" hasCustomPrompt="1"/>
          </p:nvPr>
        </p:nvSpPr>
        <p:spPr>
          <a:xfrm>
            <a:off x="4965700" y="1319213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CHART TITLE APPEARS HERE</a:t>
            </a:r>
            <a:endParaRPr lang="nl-NL" dirty="0"/>
          </a:p>
        </p:txBody>
      </p:sp>
      <p:cxnSp>
        <p:nvCxnSpPr>
          <p:cNvPr id="111" name="Straight Connector 110"/>
          <p:cNvCxnSpPr/>
          <p:nvPr userDrawn="1"/>
        </p:nvCxnSpPr>
        <p:spPr>
          <a:xfrm flipV="1">
            <a:off x="4965700" y="1597026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Chart Placeholder 16"/>
          <p:cNvSpPr>
            <a:spLocks noGrp="1"/>
          </p:cNvSpPr>
          <p:nvPr>
            <p:ph type="chart" sz="quarter" idx="62"/>
          </p:nvPr>
        </p:nvSpPr>
        <p:spPr>
          <a:xfrm>
            <a:off x="4965700" y="1910831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13" name="Straight Connector 112"/>
          <p:cNvCxnSpPr/>
          <p:nvPr userDrawn="1"/>
        </p:nvCxnSpPr>
        <p:spPr>
          <a:xfrm>
            <a:off x="4958546" y="3419429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3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00000" y="648000"/>
            <a:ext cx="7380000" cy="5633999"/>
            <a:chOff x="900000" y="648000"/>
            <a:chExt cx="7380000" cy="5633999"/>
          </a:xfrm>
        </p:grpSpPr>
        <p:sp>
          <p:nvSpPr>
            <p:cNvPr id="15" name="Rectangle 4"/>
            <p:cNvSpPr>
              <a:spLocks noChangeArrowheads="1"/>
            </p:cNvSpPr>
            <p:nvPr userDrawn="1"/>
          </p:nvSpPr>
          <p:spPr bwMode="auto">
            <a:xfrm flipH="1">
              <a:off x="900000" y="1367999"/>
              <a:ext cx="6661152" cy="4914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  <p:sp>
          <p:nvSpPr>
            <p:cNvPr id="21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648000"/>
              <a:ext cx="6660000" cy="4914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  <p:sp>
          <p:nvSpPr>
            <p:cNvPr id="22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1367999"/>
              <a:ext cx="5940000" cy="4194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782070" y="3198783"/>
            <a:ext cx="5603468" cy="13620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MY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1782070" y="2379407"/>
            <a:ext cx="5603468" cy="7416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82070" y="1415008"/>
            <a:ext cx="2243127" cy="96462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6000">
                <a:solidFill>
                  <a:schemeClr val="accent2"/>
                </a:solidFill>
                <a:latin typeface="Futura Light" pitchFamily="2" charset="0"/>
              </a:defRPr>
            </a:lvl1pPr>
          </a:lstStyle>
          <a:p>
            <a:pPr lvl="0"/>
            <a:r>
              <a:rPr lang="en-GB" dirty="0" smtClean="0"/>
              <a:t>0.0</a:t>
            </a:r>
            <a:endParaRPr lang="en-GB" dirty="0"/>
          </a:p>
        </p:txBody>
      </p:sp>
      <p:sp>
        <p:nvSpPr>
          <p:cNvPr id="12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6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3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8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0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8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900000" y="648000"/>
            <a:ext cx="7380000" cy="5633999"/>
            <a:chOff x="900000" y="648000"/>
            <a:chExt cx="7380000" cy="5633999"/>
          </a:xfrm>
        </p:grpSpPr>
        <p:sp>
          <p:nvSpPr>
            <p:cNvPr id="12" name="Rectangle 4"/>
            <p:cNvSpPr>
              <a:spLocks noChangeArrowheads="1"/>
            </p:cNvSpPr>
            <p:nvPr userDrawn="1"/>
          </p:nvSpPr>
          <p:spPr bwMode="auto">
            <a:xfrm flipH="1">
              <a:off x="900000" y="1367999"/>
              <a:ext cx="6661152" cy="4914000"/>
            </a:xfrm>
            <a:prstGeom prst="rect">
              <a:avLst/>
            </a:prstGeom>
            <a:solidFill>
              <a:srgbClr val="FCEC8B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16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648000"/>
              <a:ext cx="6660000" cy="4914000"/>
            </a:xfrm>
            <a:prstGeom prst="rect">
              <a:avLst/>
            </a:prstGeom>
            <a:solidFill>
              <a:srgbClr val="FAE37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18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1367999"/>
              <a:ext cx="5940000" cy="4194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MY"/>
            </a:p>
          </p:txBody>
        </p:sp>
      </p:grpSp>
      <p:sp>
        <p:nvSpPr>
          <p:cNvPr id="3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82070" y="1415008"/>
            <a:ext cx="2243127" cy="96462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6000">
                <a:solidFill>
                  <a:schemeClr val="accent2"/>
                </a:solidFill>
                <a:latin typeface="Futura Light" pitchFamily="2" charset="0"/>
              </a:defRPr>
            </a:lvl1pPr>
          </a:lstStyle>
          <a:p>
            <a:pPr lvl="0"/>
            <a:r>
              <a:rPr lang="en-GB" dirty="0" smtClean="0"/>
              <a:t>Q &amp; A</a:t>
            </a:r>
            <a:endParaRPr lang="en-GB" dirty="0"/>
          </a:p>
        </p:txBody>
      </p:sp>
      <p:sp>
        <p:nvSpPr>
          <p:cNvPr id="10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3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(Mandator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" name="Picture 2" descr="Shell-2010-Pecten-RGBpc.wmf"/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3418626" y="2285524"/>
              <a:ext cx="2340000" cy="217057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9704" y="1310400"/>
            <a:ext cx="7747176" cy="507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53"/>
            <a:ext cx="7700963" cy="419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3" r:id="rId2"/>
    <p:sldLayoutId id="2147483689" r:id="rId3"/>
    <p:sldLayoutId id="2147483691" r:id="rId4"/>
    <p:sldLayoutId id="2147483667" r:id="rId5"/>
    <p:sldLayoutId id="2147483690" r:id="rId6"/>
    <p:sldLayoutId id="2147483692" r:id="rId7"/>
    <p:sldLayoutId id="2147483694" r:id="rId8"/>
    <p:sldLayoutId id="2147483680" r:id="rId9"/>
    <p:sldLayoutId id="2147483678" r:id="rId10"/>
    <p:sldLayoutId id="2147483679" r:id="rId11"/>
    <p:sldLayoutId id="2147483681" r:id="rId12"/>
    <p:sldLayoutId id="2147483682" r:id="rId13"/>
    <p:sldLayoutId id="2147483683" r:id="rId14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 descr="&lt;TITLE&gt;{94.96063,448.3887,110.3029,133.6836}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CORA engine FIST</a:t>
            </a:r>
            <a:endParaRPr lang="en-GB" dirty="0"/>
          </a:p>
        </p:txBody>
      </p:sp>
      <p:sp>
        <p:nvSpPr>
          <p:cNvPr id="24" name="Text Placeholder 23" descr="&lt;NAME&gt;{15.4689,461.2516,425.3946,124.257}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Famke Kraaijeveld PTT/SPI, Isaac Foo PTU/E/Q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 smtClean="0"/>
              <a:t>February 2013</a:t>
            </a:r>
            <a:endParaRPr lang="en-GB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/>
              <a:t> 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052638"/>
            <a:ext cx="1828800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Uncertainty analysis in FIST and CORA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 smtClean="0"/>
              <a:t>FIST comes with uncertainty analysis:</a:t>
            </a:r>
          </a:p>
          <a:p>
            <a:pPr lvl="1"/>
            <a:r>
              <a:rPr lang="en-GB" dirty="0" smtClean="0"/>
              <a:t>Correlation procedure for Log / Core data</a:t>
            </a:r>
          </a:p>
          <a:p>
            <a:pPr lvl="1"/>
            <a:r>
              <a:rPr lang="en-GB" dirty="0" smtClean="0"/>
              <a:t>Error is included as uncertainty in analysis </a:t>
            </a:r>
          </a:p>
          <a:p>
            <a:pPr lvl="1"/>
            <a:r>
              <a:rPr lang="en-GB" dirty="0" smtClean="0"/>
              <a:t>Sensitivity analysis is available</a:t>
            </a:r>
          </a:p>
          <a:p>
            <a:pPr marL="0" lvl="1" indent="0">
              <a:buNone/>
            </a:pPr>
            <a:endParaRPr lang="en-GB" dirty="0" smtClean="0"/>
          </a:p>
          <a:p>
            <a:pPr marL="0" lvl="1" indent="0">
              <a:buNone/>
            </a:pPr>
            <a:r>
              <a:rPr lang="en-GB" dirty="0" smtClean="0"/>
              <a:t>CORA – FIST interface allows </a:t>
            </a:r>
            <a:endParaRPr lang="en-GB" dirty="0"/>
          </a:p>
          <a:p>
            <a:pPr lvl="1"/>
            <a:r>
              <a:rPr lang="en-GB" dirty="0" smtClean="0"/>
              <a:t>More advanced sensitivity analysis (other PDFs)</a:t>
            </a:r>
          </a:p>
          <a:p>
            <a:pPr lvl="1"/>
            <a:r>
              <a:rPr lang="en-GB" dirty="0" smtClean="0"/>
              <a:t>Take uncertainty in in-situ stress into account</a:t>
            </a:r>
          </a:p>
          <a:p>
            <a:pPr lvl="1"/>
            <a:r>
              <a:rPr lang="en-GB" dirty="0" smtClean="0"/>
              <a:t>Calculate chance of non failure (reliability) per interval per date</a:t>
            </a:r>
          </a:p>
          <a:p>
            <a:pPr lvl="1"/>
            <a:r>
              <a:rPr lang="en-GB" dirty="0" smtClean="0"/>
              <a:t>Analyse the effect of reservoir depletion on reliability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6393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Constraints and best practices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471055" y="882710"/>
            <a:ext cx="8326581" cy="5365690"/>
          </a:xfrm>
        </p:spPr>
        <p:txBody>
          <a:bodyPr/>
          <a:lstStyle/>
          <a:p>
            <a:pPr lvl="1"/>
            <a:r>
              <a:rPr lang="en-GB" sz="1900" dirty="0" smtClean="0"/>
              <a:t>Ensure the FIST model is assembled correctly and can run on its own without errors before running the CORA-FIST engine. Disable critical drawdown calculation and sand quantification for CORA runs.</a:t>
            </a:r>
          </a:p>
          <a:p>
            <a:pPr lvl="1"/>
            <a:r>
              <a:rPr lang="en-GB" sz="1900" dirty="0" smtClean="0"/>
              <a:t>Layer appears as Component in &lt;Home&gt; tab, but is not available for analysis</a:t>
            </a:r>
          </a:p>
          <a:p>
            <a:pPr lvl="1"/>
            <a:r>
              <a:rPr lang="en-GB" sz="1900" dirty="0" err="1" smtClean="0"/>
              <a:t>TWCError</a:t>
            </a:r>
            <a:r>
              <a:rPr lang="en-GB" sz="1900" dirty="0" smtClean="0"/>
              <a:t> is ‘ported’ from FIST and should not be altered unless there are compelling reasons to do so</a:t>
            </a:r>
          </a:p>
          <a:p>
            <a:pPr lvl="2"/>
            <a:r>
              <a:rPr lang="en-GB" sz="1900" dirty="0" smtClean="0"/>
              <a:t>Make sure only 1 unique TWC relationship is active in the Correlation window – choose the most appropriate one</a:t>
            </a:r>
          </a:p>
          <a:p>
            <a:pPr lvl="1"/>
            <a:r>
              <a:rPr lang="en-GB" sz="1900" dirty="0" smtClean="0"/>
              <a:t>Set number of parallel runs to 1</a:t>
            </a:r>
          </a:p>
          <a:p>
            <a:pPr lvl="1"/>
            <a:r>
              <a:rPr lang="en-GB" sz="1900" dirty="0" err="1" smtClean="0"/>
              <a:t>PerfSizeEffectFactor</a:t>
            </a:r>
            <a:r>
              <a:rPr lang="en-GB" sz="1900" dirty="0" smtClean="0"/>
              <a:t> and </a:t>
            </a:r>
            <a:r>
              <a:rPr lang="en-GB" sz="1900" dirty="0" err="1"/>
              <a:t>SizeEffectFactor</a:t>
            </a:r>
            <a:r>
              <a:rPr lang="en-GB" sz="1900" dirty="0"/>
              <a:t> </a:t>
            </a:r>
            <a:r>
              <a:rPr lang="en-GB" sz="1900" dirty="0" smtClean="0"/>
              <a:t>(the latter for open hole completions) are usually mutually exclusive – choose one or the other</a:t>
            </a:r>
          </a:p>
          <a:p>
            <a:pPr lvl="1"/>
            <a:r>
              <a:rPr lang="en-GB" sz="1900" dirty="0" err="1" smtClean="0"/>
              <a:t>WellInclination</a:t>
            </a:r>
            <a:r>
              <a:rPr lang="en-GB" sz="1900" dirty="0" smtClean="0"/>
              <a:t> and </a:t>
            </a:r>
            <a:r>
              <a:rPr lang="en-GB" sz="1900" dirty="0" err="1" smtClean="0"/>
              <a:t>WellAzimuth</a:t>
            </a:r>
            <a:r>
              <a:rPr lang="en-GB" sz="1900" dirty="0" smtClean="0"/>
              <a:t> are uncertainties only at the well planning stage or if the uncertainties are clear from the final deviation surveys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62715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Supported </a:t>
            </a:r>
            <a:r>
              <a:rPr lang="en-GB" dirty="0" smtClean="0"/>
              <a:t>features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673597" y="889507"/>
            <a:ext cx="7770763" cy="5071137"/>
          </a:xfrm>
        </p:spPr>
        <p:txBody>
          <a:bodyPr/>
          <a:lstStyle/>
          <a:p>
            <a:pPr lvl="1"/>
            <a:r>
              <a:rPr lang="en-GB" sz="1800" dirty="0" smtClean="0"/>
              <a:t>Proneness to sand production (sand failure risk) for producing intervals</a:t>
            </a:r>
          </a:p>
          <a:p>
            <a:pPr lvl="2"/>
            <a:r>
              <a:rPr lang="en-GB" sz="1800" dirty="0"/>
              <a:t>Available f</a:t>
            </a:r>
            <a:r>
              <a:rPr lang="en-GB" sz="1800" dirty="0" smtClean="0"/>
              <a:t>ailure mechanisms: </a:t>
            </a:r>
          </a:p>
          <a:p>
            <a:pPr lvl="3"/>
            <a:r>
              <a:rPr lang="en-GB" sz="1400" dirty="0" smtClean="0"/>
              <a:t>Initial (Pa) = M*TWC </a:t>
            </a:r>
            <a:r>
              <a:rPr lang="en-GB" sz="1400" dirty="0"/>
              <a:t>– sigma’_{</a:t>
            </a:r>
            <a:r>
              <a:rPr lang="en-GB" sz="1400" dirty="0" err="1"/>
              <a:t>v,nw</a:t>
            </a:r>
            <a:r>
              <a:rPr lang="en-GB" sz="1400" dirty="0"/>
              <a:t>}</a:t>
            </a:r>
            <a:endParaRPr lang="en-GB" sz="1400" dirty="0" smtClean="0"/>
          </a:p>
          <a:p>
            <a:pPr lvl="3"/>
            <a:r>
              <a:rPr lang="en-GB" sz="1400" dirty="0" smtClean="0"/>
              <a:t>Catastrophic failure (Pa) (two different model)</a:t>
            </a:r>
          </a:p>
          <a:p>
            <a:pPr lvl="2"/>
            <a:r>
              <a:rPr lang="en-GB" sz="1800" dirty="0" smtClean="0"/>
              <a:t>LSF = failure mechanism + Resistance</a:t>
            </a:r>
          </a:p>
          <a:p>
            <a:pPr lvl="1"/>
            <a:r>
              <a:rPr lang="en-GB" sz="1800" dirty="0" smtClean="0"/>
              <a:t>Analysis holds for a certain date (as specified in ‘Mean actual’)</a:t>
            </a:r>
          </a:p>
          <a:p>
            <a:pPr lvl="1"/>
            <a:endParaRPr lang="en-GB" sz="1800" dirty="0" smtClean="0"/>
          </a:p>
          <a:p>
            <a:pPr lvl="1"/>
            <a:endParaRPr lang="en-GB" sz="1800" dirty="0"/>
          </a:p>
          <a:p>
            <a:pPr lvl="1"/>
            <a:endParaRPr lang="en-GB" sz="1800" dirty="0" smtClean="0"/>
          </a:p>
          <a:p>
            <a:pPr marL="0" lvl="1" indent="0">
              <a:buNone/>
            </a:pPr>
            <a:endParaRPr lang="en-GB" sz="1800" dirty="0" smtClean="0"/>
          </a:p>
          <a:p>
            <a:pPr marL="0" lvl="1" indent="0">
              <a:buNone/>
            </a:pPr>
            <a:endParaRPr lang="en-GB" sz="1800" dirty="0" smtClean="0"/>
          </a:p>
          <a:p>
            <a:pPr marL="0" lvl="1" indent="0">
              <a:buNone/>
            </a:pPr>
            <a:r>
              <a:rPr lang="en-GB" sz="1800" dirty="0" smtClean="0"/>
              <a:t>Not supported:</a:t>
            </a:r>
            <a:endParaRPr lang="en-GB" sz="1800" dirty="0"/>
          </a:p>
          <a:p>
            <a:pPr lvl="1"/>
            <a:r>
              <a:rPr lang="en-GB" sz="1800" dirty="0" smtClean="0"/>
              <a:t>Massive transient and global shear failure</a:t>
            </a:r>
          </a:p>
          <a:p>
            <a:pPr lvl="1"/>
            <a:r>
              <a:rPr lang="en-GB" sz="1800" dirty="0" smtClean="0"/>
              <a:t>Sand quantification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449313" y="3167448"/>
            <a:ext cx="6012332" cy="1767138"/>
            <a:chOff x="1449313" y="3413343"/>
            <a:chExt cx="6012332" cy="1767138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9313" y="3413343"/>
              <a:ext cx="6012332" cy="1767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Oval 7"/>
            <p:cNvSpPr/>
            <p:nvPr/>
          </p:nvSpPr>
          <p:spPr>
            <a:xfrm>
              <a:off x="5783948" y="4272984"/>
              <a:ext cx="1301836" cy="539648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19592" y="4051017"/>
              <a:ext cx="577285" cy="6958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177800" indent="-177800">
                <a:lnSpc>
                  <a:spcPct val="113000"/>
                </a:lnSpc>
                <a:spcAft>
                  <a:spcPts val="60"/>
                </a:spcAft>
              </a:pPr>
              <a:r>
                <a:rPr lang="en-GB" sz="1600" b="1" dirty="0" smtClean="0">
                  <a:solidFill>
                    <a:srgbClr val="C00000"/>
                  </a:solidFill>
                </a:rPr>
                <a:t>Failure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193469" y="3679157"/>
              <a:ext cx="1301836" cy="539648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99717" y="3513794"/>
              <a:ext cx="577285" cy="6958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177800" indent="-177800">
                <a:lnSpc>
                  <a:spcPct val="113000"/>
                </a:lnSpc>
                <a:spcAft>
                  <a:spcPts val="60"/>
                </a:spcAft>
              </a:pPr>
              <a:r>
                <a:rPr lang="en-GB" sz="1600" b="1" dirty="0" smtClean="0">
                  <a:solidFill>
                    <a:srgbClr val="C00000"/>
                  </a:solidFill>
                </a:rPr>
                <a:t>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090286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Parameters for uncertainty analysis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397042" y="914401"/>
            <a:ext cx="8301789" cy="5468938"/>
          </a:xfrm>
        </p:spPr>
        <p:txBody>
          <a:bodyPr/>
          <a:lstStyle/>
          <a:p>
            <a:pPr lvl="1"/>
            <a:r>
              <a:rPr lang="en-GB" sz="1800" dirty="0" smtClean="0"/>
              <a:t>Per component (producing interval)</a:t>
            </a:r>
            <a:endParaRPr lang="en-GB" sz="1800" dirty="0"/>
          </a:p>
          <a:p>
            <a:pPr lvl="2"/>
            <a:r>
              <a:rPr lang="en-GB" sz="1800" dirty="0"/>
              <a:t>Material: Porosity, </a:t>
            </a:r>
            <a:r>
              <a:rPr lang="en-GB" sz="1800" dirty="0" err="1" smtClean="0"/>
              <a:t>TWCError</a:t>
            </a:r>
            <a:r>
              <a:rPr lang="en-GB" sz="1800" dirty="0" smtClean="0"/>
              <a:t>, </a:t>
            </a:r>
            <a:r>
              <a:rPr lang="en-GB" sz="1800" dirty="0" err="1"/>
              <a:t>SizeEffectFactor</a:t>
            </a:r>
            <a:endParaRPr lang="en-GB" sz="1800" dirty="0"/>
          </a:p>
          <a:p>
            <a:pPr lvl="2"/>
            <a:r>
              <a:rPr lang="en-GB" sz="1800" dirty="0"/>
              <a:t>Geometrical: </a:t>
            </a:r>
            <a:r>
              <a:rPr lang="en-GB" sz="1800" dirty="0" err="1"/>
              <a:t>WellInclination</a:t>
            </a:r>
            <a:r>
              <a:rPr lang="en-GB" sz="1800" dirty="0"/>
              <a:t>, </a:t>
            </a:r>
            <a:r>
              <a:rPr lang="en-GB" sz="1800" dirty="0" err="1" smtClean="0"/>
              <a:t>WellAzimuth</a:t>
            </a:r>
            <a:r>
              <a:rPr lang="en-GB" sz="1800" dirty="0" smtClean="0"/>
              <a:t>, </a:t>
            </a:r>
            <a:r>
              <a:rPr lang="en-GB" sz="1800" dirty="0" err="1" smtClean="0"/>
              <a:t>PerfSizeEffectFactor</a:t>
            </a:r>
            <a:r>
              <a:rPr lang="en-GB" sz="1800" dirty="0" smtClean="0"/>
              <a:t>, </a:t>
            </a:r>
            <a:r>
              <a:rPr lang="en-GB" sz="1800" dirty="0" err="1" smtClean="0"/>
              <a:t>SizeEffectFactor</a:t>
            </a:r>
            <a:endParaRPr lang="en-GB" sz="1800" dirty="0"/>
          </a:p>
          <a:p>
            <a:pPr lvl="2"/>
            <a:r>
              <a:rPr lang="en-GB" sz="1800" dirty="0"/>
              <a:t>In Situ Stress: </a:t>
            </a:r>
            <a:r>
              <a:rPr lang="en-GB" sz="1800" dirty="0" err="1"/>
              <a:t>MinHorizontalStress</a:t>
            </a:r>
            <a:r>
              <a:rPr lang="en-GB" sz="1800" dirty="0"/>
              <a:t>, </a:t>
            </a:r>
            <a:r>
              <a:rPr lang="en-GB" sz="1800" dirty="0" err="1"/>
              <a:t>MaxHorizontalStress</a:t>
            </a:r>
            <a:r>
              <a:rPr lang="en-GB" sz="1800" dirty="0"/>
              <a:t>, </a:t>
            </a:r>
            <a:r>
              <a:rPr lang="en-GB" sz="1800" dirty="0" err="1" smtClean="0"/>
              <a:t>AzimuthOfMaxHorizontalStress</a:t>
            </a:r>
            <a:endParaRPr lang="en-GB" sz="1800" dirty="0" smtClean="0"/>
          </a:p>
          <a:p>
            <a:pPr lvl="2"/>
            <a:endParaRPr lang="en-GB" sz="1800" dirty="0"/>
          </a:p>
          <a:p>
            <a:pPr lvl="1"/>
            <a:r>
              <a:rPr lang="en-GB" sz="1800" dirty="0" smtClean="0"/>
              <a:t>Per </a:t>
            </a:r>
            <a:r>
              <a:rPr lang="en-GB" sz="1800" dirty="0"/>
              <a:t>reservoir layer</a:t>
            </a:r>
          </a:p>
          <a:p>
            <a:pPr lvl="2"/>
            <a:r>
              <a:rPr lang="en-GB" sz="1800" dirty="0"/>
              <a:t>Loading: </a:t>
            </a:r>
            <a:r>
              <a:rPr lang="en-GB" sz="1800" dirty="0" err="1"/>
              <a:t>ReservoirPressure</a:t>
            </a:r>
            <a:endParaRPr lang="en-GB" sz="1800" dirty="0"/>
          </a:p>
          <a:p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8252" y="2875547"/>
            <a:ext cx="5468228" cy="3549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7"/>
          <p:cNvSpPr/>
          <p:nvPr/>
        </p:nvSpPr>
        <p:spPr>
          <a:xfrm>
            <a:off x="6709410" y="3184477"/>
            <a:ext cx="1301836" cy="53964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8011244" y="3028262"/>
            <a:ext cx="577285" cy="69586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7800" indent="-177800">
              <a:lnSpc>
                <a:spcPct val="113000"/>
              </a:lnSpc>
              <a:spcAft>
                <a:spcPts val="60"/>
              </a:spcAft>
            </a:pPr>
            <a:r>
              <a:rPr lang="en-GB" sz="1600" b="1" dirty="0" smtClean="0">
                <a:solidFill>
                  <a:srgbClr val="C00000"/>
                </a:solidFill>
              </a:rPr>
              <a:t>PDFs</a:t>
            </a:r>
          </a:p>
        </p:txBody>
      </p:sp>
    </p:spTree>
    <p:extLst>
      <p:ext uri="{BB962C8B-B14F-4D97-AF65-F5344CB8AC3E}">
        <p14:creationId xmlns:p14="http://schemas.microsoft.com/office/powerpoint/2010/main" val="401413322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TWC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1"/>
          </p:nvPr>
        </p:nvSpPr>
        <p:spPr>
          <a:xfrm>
            <a:off x="397042" y="914401"/>
            <a:ext cx="8301789" cy="5468938"/>
          </a:xfrm>
        </p:spPr>
        <p:txBody>
          <a:bodyPr/>
          <a:lstStyle/>
          <a:p>
            <a:pPr lvl="1"/>
            <a:r>
              <a:rPr lang="en-GB" sz="1800" dirty="0" smtClean="0"/>
              <a:t>TWC error bounds are determined within FIST </a:t>
            </a:r>
          </a:p>
          <a:p>
            <a:pPr lvl="2"/>
            <a:r>
              <a:rPr lang="en-GB" sz="1800" dirty="0" smtClean="0"/>
              <a:t>Source: Core data regression / choice of default correlation / manually entered regression parameters </a:t>
            </a:r>
          </a:p>
          <a:p>
            <a:pPr lvl="2"/>
            <a:r>
              <a:rPr lang="en-GB" sz="1800" dirty="0"/>
              <a:t>Variation in TWC is always assumed to be normally distributed </a:t>
            </a:r>
          </a:p>
          <a:p>
            <a:pPr lvl="2"/>
            <a:r>
              <a:rPr lang="en-GB" sz="1800" dirty="0" smtClean="0"/>
              <a:t>The error bounds for the active TWC relationship in the FIST model are ‘ported’ to CORA</a:t>
            </a:r>
          </a:p>
          <a:p>
            <a:pPr lvl="2"/>
            <a:r>
              <a:rPr lang="en-GB" sz="1800" dirty="0" smtClean="0"/>
              <a:t>Note that FIST will not run if no relationship between TWC and a log variable (e.g. porosity, DTC, DTS etc.) is specified in FIST </a:t>
            </a:r>
          </a:p>
          <a:p>
            <a:pPr lvl="1"/>
            <a:r>
              <a:rPr lang="en-GB" sz="1800" dirty="0" smtClean="0"/>
              <a:t>For testing single value TWC</a:t>
            </a:r>
          </a:p>
          <a:p>
            <a:pPr lvl="2"/>
            <a:r>
              <a:rPr lang="en-GB" sz="1800" dirty="0" smtClean="0"/>
              <a:t>Enter in FIST a simple log with several data points with the same value </a:t>
            </a:r>
          </a:p>
          <a:p>
            <a:pPr lvl="2"/>
            <a:r>
              <a:rPr lang="en-GB" sz="1800" dirty="0" smtClean="0"/>
              <a:t>2 usually suffice for a simple case with 1 Producing Interval – one at the top of the Producing Interval, one at the bottom</a:t>
            </a:r>
          </a:p>
          <a:p>
            <a:pPr lvl="2"/>
            <a:r>
              <a:rPr lang="en-GB" sz="1800" dirty="0" smtClean="0"/>
              <a:t>Log value entered should produce the mean TWC to be tested</a:t>
            </a:r>
          </a:p>
          <a:p>
            <a:pPr lvl="2"/>
            <a:endParaRPr lang="en-GB" sz="1400" dirty="0" smtClean="0"/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85425296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FIST workflow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500539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Define failure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563527" y="1084521"/>
            <a:ext cx="8113748" cy="5298817"/>
          </a:xfrm>
        </p:spPr>
        <p:txBody>
          <a:bodyPr/>
          <a:lstStyle/>
          <a:p>
            <a:r>
              <a:rPr lang="en-GB" sz="1800" dirty="0" smtClean="0"/>
              <a:t>The model including objects of failure and failure mechanism are defined here.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1</a:t>
            </a:r>
            <a:r>
              <a:rPr lang="en-GB" sz="1800" dirty="0" smtClean="0"/>
              <a:t>: Choose your engine: FIST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2</a:t>
            </a:r>
            <a:r>
              <a:rPr lang="en-GB" sz="1800" dirty="0" smtClean="0"/>
              <a:t>: Browse to the FIST file, which has to be built beforehand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3</a:t>
            </a:r>
            <a:r>
              <a:rPr lang="en-GB" sz="1800" dirty="0" smtClean="0"/>
              <a:t>: Select the object of failure and appropriate failure mechanisms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4</a:t>
            </a:r>
            <a:r>
              <a:rPr lang="en-GB" sz="1800" dirty="0" smtClean="0"/>
              <a:t>: Press &lt;Add&gt; </a:t>
            </a:r>
          </a:p>
          <a:p>
            <a:r>
              <a:rPr lang="en-GB" sz="1800" dirty="0" smtClean="0"/>
              <a:t>Repeat until &lt;Done&gt; </a:t>
            </a:r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7508" y="2782520"/>
            <a:ext cx="3227220" cy="3518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89974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Define uncertainties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356261" y="902525"/>
            <a:ext cx="8321014" cy="5480813"/>
          </a:xfrm>
        </p:spPr>
        <p:txBody>
          <a:bodyPr/>
          <a:lstStyle/>
          <a:p>
            <a:r>
              <a:rPr lang="en-GB" sz="1800" dirty="0" smtClean="0"/>
              <a:t>Only uncertainties need to be inputted.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1</a:t>
            </a:r>
            <a:r>
              <a:rPr lang="en-GB" sz="1800" dirty="0" smtClean="0"/>
              <a:t>: Go to sheet &lt;FIST&gt;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2</a:t>
            </a:r>
            <a:r>
              <a:rPr lang="en-GB" sz="1800" dirty="0" smtClean="0"/>
              <a:t>: Fill in calculation path and number of parallel threads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3</a:t>
            </a:r>
            <a:r>
              <a:rPr lang="en-GB" sz="1800" dirty="0" smtClean="0"/>
              <a:t>: Select the failure mechanisms and define date of interest 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4</a:t>
            </a:r>
            <a:r>
              <a:rPr lang="en-GB" sz="1800" dirty="0" smtClean="0"/>
              <a:t>: Define the uncertainty distributions and correlations </a:t>
            </a:r>
          </a:p>
          <a:p>
            <a:r>
              <a:rPr lang="en-GB" sz="1800" dirty="0" smtClean="0"/>
              <a:t>	(Button &lt;Correlation matrix&gt;)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6</a:t>
            </a:r>
            <a:r>
              <a:rPr lang="en-GB" sz="1800" dirty="0" smtClean="0"/>
              <a:t>: Define min, max and step size </a:t>
            </a:r>
          </a:p>
          <a:p>
            <a:r>
              <a:rPr lang="en-GB" sz="1800" dirty="0" smtClean="0"/>
              <a:t>	for the control parameters (reliability analysis) 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7</a:t>
            </a:r>
            <a:r>
              <a:rPr lang="en-GB" sz="1800" dirty="0" smtClean="0"/>
              <a:t>: When satisfied press </a:t>
            </a:r>
          </a:p>
          <a:p>
            <a:r>
              <a:rPr lang="en-GB" sz="1800" dirty="0"/>
              <a:t>	</a:t>
            </a:r>
            <a:r>
              <a:rPr lang="en-GB" sz="1800" dirty="0" smtClean="0"/>
              <a:t>&lt;Validate and continue&gt;</a:t>
            </a:r>
          </a:p>
          <a:p>
            <a:endParaRPr lang="en-GB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grpSp>
        <p:nvGrpSpPr>
          <p:cNvPr id="7" name="Group 6"/>
          <p:cNvGrpSpPr/>
          <p:nvPr/>
        </p:nvGrpSpPr>
        <p:grpSpPr>
          <a:xfrm>
            <a:off x="5014156" y="2957449"/>
            <a:ext cx="4018761" cy="3030933"/>
            <a:chOff x="3540042" y="3163524"/>
            <a:chExt cx="4855203" cy="3428756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0042" y="3163524"/>
              <a:ext cx="4855203" cy="3428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/>
            <p:cNvGrpSpPr/>
            <p:nvPr/>
          </p:nvGrpSpPr>
          <p:grpSpPr>
            <a:xfrm>
              <a:off x="4376484" y="4317818"/>
              <a:ext cx="3598437" cy="1944773"/>
              <a:chOff x="1392908" y="1658118"/>
              <a:chExt cx="3341982" cy="1666044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1392908" y="2205895"/>
                <a:ext cx="3341982" cy="1118267"/>
                <a:chOff x="1378780" y="2600969"/>
                <a:chExt cx="3341982" cy="1118267"/>
              </a:xfrm>
            </p:grpSpPr>
            <p:sp>
              <p:nvSpPr>
                <p:cNvPr id="17" name="Oval 16"/>
                <p:cNvSpPr/>
                <p:nvPr/>
              </p:nvSpPr>
              <p:spPr>
                <a:xfrm>
                  <a:off x="1914923" y="2667882"/>
                  <a:ext cx="1209056" cy="462304"/>
                </a:xfrm>
                <a:prstGeom prst="ellipse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8" name="Oval 17"/>
                <p:cNvSpPr/>
                <p:nvPr/>
              </p:nvSpPr>
              <p:spPr>
                <a:xfrm>
                  <a:off x="2975563" y="3123106"/>
                  <a:ext cx="1209056" cy="462304"/>
                </a:xfrm>
                <a:prstGeom prst="ellipse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1378780" y="2600969"/>
                  <a:ext cx="536143" cy="5961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marL="177800" indent="-177800">
                    <a:lnSpc>
                      <a:spcPct val="113000"/>
                    </a:lnSpc>
                    <a:spcAft>
                      <a:spcPts val="60"/>
                    </a:spcAft>
                  </a:pPr>
                  <a:r>
                    <a:rPr lang="en-GB" sz="1600" b="1" dirty="0" smtClean="0">
                      <a:solidFill>
                        <a:srgbClr val="C00000"/>
                      </a:solidFill>
                    </a:rPr>
                    <a:t>LSFs</a:t>
                  </a:r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4184619" y="3123106"/>
                  <a:ext cx="536143" cy="5961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marL="177800" indent="-177800">
                    <a:lnSpc>
                      <a:spcPct val="113000"/>
                    </a:lnSpc>
                    <a:spcAft>
                      <a:spcPts val="60"/>
                    </a:spcAft>
                  </a:pPr>
                  <a:r>
                    <a:rPr lang="en-GB" sz="1600" b="1" dirty="0" smtClean="0">
                      <a:solidFill>
                        <a:srgbClr val="C00000"/>
                      </a:solidFill>
                    </a:rPr>
                    <a:t>PDFs</a:t>
                  </a:r>
                </a:p>
              </p:txBody>
            </p:sp>
          </p:grpSp>
          <p:pic>
            <p:nvPicPr>
              <p:cNvPr id="15" name="Picture 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19589" y="1658118"/>
                <a:ext cx="612922" cy="1156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25235879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Further analysis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906511" y="1312201"/>
            <a:ext cx="6926047" cy="5071137"/>
          </a:xfrm>
        </p:spPr>
        <p:txBody>
          <a:bodyPr/>
          <a:lstStyle/>
          <a:p>
            <a:r>
              <a:rPr lang="en-GB" sz="1800" dirty="0"/>
              <a:t>The rest of the workflow is the same as for the other engines</a:t>
            </a:r>
            <a:r>
              <a:rPr lang="en-GB" sz="1800" dirty="0" smtClean="0"/>
              <a:t>.</a:t>
            </a:r>
          </a:p>
          <a:p>
            <a:r>
              <a:rPr lang="en-GB" sz="1800" dirty="0" smtClean="0"/>
              <a:t>Quick screening:</a:t>
            </a:r>
          </a:p>
          <a:p>
            <a:pPr lvl="1"/>
            <a:r>
              <a:rPr lang="en-GB" sz="1800" dirty="0" smtClean="0"/>
              <a:t>In the quick screening, all failure mechanisms will be calculated. The relation between the parameters and the responses can be analysed by examining the different proxies.</a:t>
            </a:r>
          </a:p>
          <a:p>
            <a:pPr marL="0" lvl="1" indent="0">
              <a:buNone/>
            </a:pPr>
            <a:endParaRPr lang="en-GB" sz="1800" dirty="0" smtClean="0"/>
          </a:p>
          <a:p>
            <a:pPr marL="0" lvl="1" indent="0">
              <a:buNone/>
            </a:pPr>
            <a:endParaRPr lang="en-GB" sz="1800" dirty="0" smtClean="0"/>
          </a:p>
          <a:p>
            <a:pPr marL="0" lvl="1" indent="0">
              <a:buNone/>
            </a:pPr>
            <a:endParaRPr lang="en-GB" sz="1800" dirty="0" smtClean="0"/>
          </a:p>
          <a:p>
            <a:pPr marL="0" lvl="1" indent="0">
              <a:buNone/>
            </a:pPr>
            <a:r>
              <a:rPr lang="en-GB" sz="1800" dirty="0" smtClean="0"/>
              <a:t>Reliability analysis</a:t>
            </a:r>
            <a:endParaRPr lang="en-GB" sz="1800" dirty="0"/>
          </a:p>
          <a:p>
            <a:pPr lvl="1"/>
            <a:r>
              <a:rPr lang="en-GB" sz="1800" dirty="0" smtClean="0"/>
              <a:t>The limit function of choice can be selected or all</a:t>
            </a:r>
          </a:p>
          <a:p>
            <a:pPr lvl="1"/>
            <a:r>
              <a:rPr lang="en-GB" sz="1800" dirty="0" smtClean="0"/>
              <a:t>The limit of failure should be given (e.g. Resistance)</a:t>
            </a:r>
          </a:p>
          <a:p>
            <a:endParaRPr lang="en-GB" sz="1800" dirty="0"/>
          </a:p>
          <a:p>
            <a:r>
              <a:rPr lang="en-GB" dirty="0"/>
              <a:t> </a:t>
            </a:r>
          </a:p>
          <a:p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295" y="2827419"/>
            <a:ext cx="2687962" cy="1961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889367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hell layouts with footer">
  <a:themeElements>
    <a:clrScheme name="Shell - Colours">
      <a:dk1>
        <a:srgbClr val="595959"/>
      </a:dk1>
      <a:lt1>
        <a:srgbClr val="FFFFFF"/>
      </a:lt1>
      <a:dk2>
        <a:srgbClr val="999999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5464</TotalTime>
  <Words>717</Words>
  <Application>Microsoft Office PowerPoint</Application>
  <PresentationFormat>On-screen Show (4:3)</PresentationFormat>
  <Paragraphs>129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Wingdings</vt:lpstr>
      <vt:lpstr>Futura Light</vt:lpstr>
      <vt:lpstr>Futura Medium</vt:lpstr>
      <vt:lpstr>Shell layouts with footer</vt:lpstr>
      <vt:lpstr>CORA engine FIST</vt:lpstr>
      <vt:lpstr>Uncertainty analysis in FIST and CORA</vt:lpstr>
      <vt:lpstr>Constraints and best practices</vt:lpstr>
      <vt:lpstr>Supported features</vt:lpstr>
      <vt:lpstr>Parameters for uncertainty analysis</vt:lpstr>
      <vt:lpstr>TWC</vt:lpstr>
      <vt:lpstr>PowerPoint Presentation</vt:lpstr>
      <vt:lpstr>Define failure model</vt:lpstr>
      <vt:lpstr>Define uncertainties</vt:lpstr>
      <vt:lpstr>Further analysis</vt:lpstr>
      <vt:lpstr>PowerPoint Presentation</vt:lpstr>
    </vt:vector>
  </TitlesOfParts>
  <Company>Shell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Shell</dc:creator>
  <cp:lastModifiedBy>Kraaijeveld, Famke GSNL-PTI/RC</cp:lastModifiedBy>
  <cp:revision>511</cp:revision>
  <cp:lastPrinted>2016-02-09T15:14:48Z</cp:lastPrinted>
  <dcterms:created xsi:type="dcterms:W3CDTF">2009-11-25T14:32:06Z</dcterms:created>
  <dcterms:modified xsi:type="dcterms:W3CDTF">2016-02-28T19:00:17Z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Onscreen</vt:lpwstr>
  </property>
  <property fmtid="{D5CDD505-2E9C-101B-9397-08002B2CF9AE}" pid="3" name="WizKit Template Version">
    <vt:i4>4</vt:i4>
  </property>
</Properties>
</file>